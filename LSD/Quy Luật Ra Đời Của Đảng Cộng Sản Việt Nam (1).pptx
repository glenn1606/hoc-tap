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Be Vietnam Pro"/>
      <ns0:italic ns1:id="rIdFont23"/>
      <ns0:bold ns1:id="rIdFont24"/>
      <ns0:regular ns1:id="rIdFont25"/>
    </ns0:embeddedFont>
    <ns0:embeddedFont>
      <ns0:font typeface="Playfair Display"/>
      <ns0:bold ns1:id="rIdFont2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816f9487-552b-4104-95fb-bc6bdd6f90f9.fntdata" /><ns0:Relationship Id="rIdFont24" Type="http://schemas.openxmlformats.org/officeDocument/2006/relationships/font" Target="fonts/72310b60-e960-40a9-b73b-acb84f5cee5f.fntdata" /><ns0:Relationship Id="rIdFont25" Type="http://schemas.openxmlformats.org/officeDocument/2006/relationships/font" Target="fonts/f19d56be-e78d-49ce-809c-93572146905d.fntdata" /><ns0:Relationship Id="rIdFont26" Type="http://schemas.openxmlformats.org/officeDocument/2006/relationships/font" Target="fonts/60c42bb2-c9e3-4603-83bd-a0907ddcc44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3975645"/>
            <a:ext cx="6435030" cy="7239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3975645"/>
            <a:ext cx="28575" cy="72390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765" y="1100137"/>
            <a:ext cx="3238500" cy="438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925" y="6276975"/>
            <a:ext cx="2012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Đại học Quốc gia Việt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96525" y="6276975"/>
            <a:ext cx="1690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Năm học 2024 - 2025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1882229"/>
            <a:ext cx="80437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FA843"/>
                </a:solidFill>
                <a:latin typeface="Be Vietnam Pro"/>
              </a:rPr>
              <a:t>HỌC PHẦN: LỊCH SỬ ĐẢNG CỘNG SẢN VIỆT 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2215604"/>
            <a:ext cx="6856794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Playfair Display"/>
              </a:rPr>
              <a:t>QUY LUẬT RA ĐỜI CỦA ĐẢNG CỘNG SẢN VIỆT NAM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3366045"/>
            <a:ext cx="804378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F3C669"/>
                </a:solidFill>
                <a:latin typeface="Be Vietnam Pro"/>
              </a:rPr>
              <a:t>Và Sự Đối Chiếu Với Châu Âu, Châu Á – Thái Bình Dương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128045"/>
            <a:ext cx="75318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FA843"/>
                </a:solidFill>
                <a:latin typeface="Be Vietnam Pro"/>
              </a:rPr>
              <a:t>Giảng viên hướng dẫn:</a:t>
            </a:r>
            <a:r>
              <a:rPr b="0" sz="1125" i="0" u="none">
                <a:solidFill>
                  <a:srgbClr val="E2E8F0"/>
                </a:solidFill>
                <a:latin typeface="Be Vietnam Pro"/>
              </a:rPr>
              <a:t> ThS. Nguyễn Thị Nguyệt Ánh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366170"/>
            <a:ext cx="75318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FA843"/>
                </a:solidFill>
                <a:latin typeface="Be Vietnam Pro"/>
              </a:rPr>
              <a:t>Đơn vị thực hiện:</a:t>
            </a:r>
            <a:r>
              <a:rPr b="0" sz="1125" i="0" u="none">
                <a:solidFill>
                  <a:srgbClr val="E2E8F0"/>
                </a:solidFill>
                <a:latin typeface="Be Vietnam Pro"/>
              </a:rPr>
              <a:t> Nhóm 1 – Lớp Lịch sử Đảng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82225" y="676275"/>
            <a:ext cx="1466850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5457825" cy="2565052"/>
          </a:xfrm>
          <a:prstGeom prst="roundRect">
            <a:avLst>
              <a:gd name="adj" fmla="val 2970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1304925"/>
            <a:ext cx="5457825" cy="2565052"/>
          </a:xfrm>
          <a:prstGeom prst="roundRect">
            <a:avLst>
              <a:gd name="adj" fmla="val 2970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2925" y="4060477"/>
            <a:ext cx="5457825" cy="2092672"/>
          </a:xfrm>
          <a:prstGeom prst="roundRect">
            <a:avLst>
              <a:gd name="adj" fmla="val 3641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4060477"/>
            <a:ext cx="5457825" cy="2092672"/>
          </a:xfrm>
          <a:prstGeom prst="roundRect">
            <a:avLst>
              <a:gd name="adj" fmla="val 3641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15575" y="733425"/>
            <a:ext cx="1295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04 PHẦN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34725" y="6276975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428625"/>
            <a:ext cx="3845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CẤU TRÚC BÀI THUYẾT TRÌNH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638175"/>
            <a:ext cx="384571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MỤC LỤC TỔNG QUAN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1504950"/>
            <a:ext cx="50768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DFA843"/>
                </a:solidFill>
                <a:latin typeface="Playfair Display"/>
              </a:rPr>
              <a:t>01</a:t>
            </a:r>
            <a:r>
              <a:rPr b="1" sz="1500" i="0" u="none">
                <a:solidFill>
                  <a:srgbClr val="F3C669"/>
                </a:solidFill>
                <a:latin typeface="Playfair Display"/>
              </a:rPr>
              <a:t> BỐI CẢNH LỊCH SỬ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1885950"/>
            <a:ext cx="5076825" cy="118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Chuyển biến của chủ nghĩa tư bản &amp; phong trào giải phóng dân tộc.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Tác động của Cách mạng Tháng Mười Nga &amp; Quốc tế Cộng sản.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Tình hình xã hội Việt Nam &amp; sự bế tắc của các phong trào yêu nước.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1504950"/>
            <a:ext cx="50768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DFA843"/>
                </a:solidFill>
                <a:latin typeface="Playfair Display"/>
              </a:rPr>
              <a:t>02</a:t>
            </a:r>
            <a:r>
              <a:rPr b="1" sz="1500" i="0" u="none">
                <a:solidFill>
                  <a:srgbClr val="F3C669"/>
                </a:solidFill>
                <a:latin typeface="Playfair Display"/>
              </a:rPr>
              <a:t> QUY LUẬT RA ĐỜI ĐCS VIỆT NAM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1885950"/>
            <a:ext cx="5076825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Quá trình chuẩn bị của Nguyễn Ái Quốc (1911 - 1930).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Sự kết hợp 3 yếu tố: CN Mác-Lênin + Phong trào công nhân + Phong trào yêu nước.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Ý nghĩa lịch sử &amp; Giải mã "Độ trễ 10 năm" (1920 - 1930).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4260502"/>
            <a:ext cx="50768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DFA843"/>
                </a:solidFill>
                <a:latin typeface="Playfair Display"/>
              </a:rPr>
              <a:t>03</a:t>
            </a:r>
            <a:r>
              <a:rPr b="1" sz="1500" i="0" u="none">
                <a:solidFill>
                  <a:srgbClr val="F3C669"/>
                </a:solidFill>
                <a:latin typeface="Playfair Display"/>
              </a:rPr>
              <a:t> ĐỐI CHIẾU VỚI CÁC KHU VỰC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641502"/>
            <a:ext cx="507682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Khái quát sự hình thành ĐCS ở Châu Âu (Đức, Pháp, Anh, Mỹ).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Khái quát sự hình thành ĐCS ở Châu Á - Thái Bình Dương.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So sánh đối chiếu về bối cảnh, lực lượng và quy luật thành lập.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260502"/>
            <a:ext cx="50768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DFA843"/>
                </a:solidFill>
                <a:latin typeface="Playfair Display"/>
              </a:rPr>
              <a:t>04</a:t>
            </a:r>
            <a:r>
              <a:rPr b="1" sz="1500" i="0" u="none">
                <a:solidFill>
                  <a:srgbClr val="F3C669"/>
                </a:solidFill>
                <a:latin typeface="Playfair Display"/>
              </a:rPr>
              <a:t> ĐẶC THÙ &amp; KẾT LUẬN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4641502"/>
            <a:ext cx="50768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Sự sáng tạo độc đáo của Lý luận Hồ Chí Minh về Đảng Cộng sản.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Bài học lịch sử về xây dựng Đảng &amp; liên minh giai cấp.</a:t>
            </a:r>
            <a: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254055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06000" y="676275"/>
            <a:ext cx="174307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304925"/>
            <a:ext cx="11106150" cy="2224980"/>
          </a:xfrm>
          <a:prstGeom prst="rect">
            <a:avLst/>
          </a:prstGeom>
          <a:solidFill>
            <a:srgbClr val="25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6254055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925" y="1304925"/>
            <a:ext cx="38100" cy="222498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00362" y="3758505"/>
            <a:ext cx="6391275" cy="742950"/>
          </a:xfrm>
          <a:prstGeom prst="roundRect">
            <a:avLst>
              <a:gd name="adj" fmla="val 10256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0362" y="4634805"/>
            <a:ext cx="6391275" cy="742950"/>
          </a:xfrm>
          <a:prstGeom prst="roundRect">
            <a:avLst>
              <a:gd name="adj" fmla="val 10256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0362" y="5511105"/>
            <a:ext cx="6391275" cy="742950"/>
          </a:xfrm>
          <a:prstGeom prst="roundRect">
            <a:avLst>
              <a:gd name="adj" fmla="val 10256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571625"/>
            <a:ext cx="1053465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387" y="393948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387" y="5692080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39350" y="733425"/>
            <a:ext cx="1571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THẮC MẮC LỊCH SỬ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6377880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5200" y="6377880"/>
            <a:ext cx="809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428625"/>
            <a:ext cx="742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ĐẶT VẤN ĐỀ NGHIÊN CỨU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638175"/>
            <a:ext cx="7429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CÂU HỎI KHỞI ĐỘNG &amp; BẢN CHẤT VẤN ĐỀ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066925"/>
            <a:ext cx="1116139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FFFFFF"/>
                </a:solidFill>
                <a:latin typeface="Playfair Display"/>
              </a:rPr>
              <a:t>"Tại sao năm 1920, Nguyễn Ái Quốc đã tham gia sáng lập Đảng Cộng sản Pháp tại Châu Âu, nhưng phải mất thêm </a:t>
            </a:r>
            <a:r>
              <a:rPr b="1" sz="1650" i="0" u="none">
                <a:solidFill>
                  <a:srgbClr val="F3C669"/>
                </a:solidFill>
                <a:latin typeface="Playfair Display"/>
              </a:rPr>
              <a:t>10 năm chuẩn bị</a:t>
            </a:r>
            <a:r>
              <a:rPr b="1" sz="1650" i="0" u="none">
                <a:solidFill>
                  <a:srgbClr val="FFFFFF"/>
                </a:solidFill>
                <a:latin typeface="Playfair Display"/>
              </a:rPr>
              <a:t> mới thành lập Đảng Cộng sản Việt Nam (1930)?"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806005"/>
            <a:ext cx="10629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Be Vietnam Pro"/>
              </a:rPr>
              <a:t>Đây không phải là một sự chậm trễ ngẫu nhiên, mà phản ánh </a:t>
            </a:r>
            <a:r>
              <a:rPr b="1" sz="1125" i="0" u="none">
                <a:solidFill>
                  <a:srgbClr val="FEF08A"/>
                </a:solidFill>
                <a:latin typeface="Be Vietnam Pro"/>
              </a:rPr>
              <a:t>quy luật vận động khách quan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 của cách mạng thuộc địa và sự đòi hỏi chín muồi của cả 3 yếu tố cấu thành Đảng.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0387" y="3920430"/>
            <a:ext cx="7863482" cy="19050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C669"/>
                </a:solidFill>
                <a:latin typeface="Be Vietnam Pro"/>
              </a:rPr>
              <a:t>Về lý luận &amp; Tư tưởng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387" y="4168080"/>
            <a:ext cx="7489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Be Vietnam Pro"/>
              </a:rPr>
              <a:t>Cần thời gian truyền bá chủ nghĩa Mác-Lênin vào phong trào quần chúng trong nước.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0387" y="4796730"/>
            <a:ext cx="786348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C669"/>
                </a:solidFill>
                <a:latin typeface="Be Vietnam Pro"/>
              </a:rPr>
              <a:t>Về Phong trào Công nhân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0387" y="5044380"/>
            <a:ext cx="7489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Be Vietnam Pro"/>
              </a:rPr>
              <a:t>Giai cấp công nhân Việt Nam cần chuyển từ đấu tranh "tự phát" sang "tự giác".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0387" y="5673030"/>
            <a:ext cx="7863482" cy="19050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C669"/>
                </a:solidFill>
                <a:latin typeface="Be Vietnam Pro"/>
              </a:rPr>
              <a:t>Về Phong trào Yêu nước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0387" y="5920680"/>
            <a:ext cx="7489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Be Vietnam Pro"/>
              </a:rPr>
              <a:t>Các khuynh hướng cũ thất bại, tạo tiền đề để phong trào yêu nước tiếp nhận ánh sáng vô sản.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29800" y="676275"/>
            <a:ext cx="181927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2025" y="1304925"/>
            <a:ext cx="3587799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127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5382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150" y="1538287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400" y="1538287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63150" y="733425"/>
            <a:ext cx="1647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TÁC ĐỘNG QUỐC TẾ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276975"/>
            <a:ext cx="809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428625"/>
            <a:ext cx="1047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1: BỐI CẢNH LỊCH SỬ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638175"/>
            <a:ext cx="10477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BỐI CẢNH CHUNG CỦA THẾ GIỚI (CUỐI TK XIX – ĐẦU TK XX)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1504950"/>
            <a:ext cx="36035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CNTB Độc Quyền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838325"/>
            <a:ext cx="3206650" cy="1653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CNTB chuyển sang giai đoạn đế quốc chủ nghĩa, đẩy mạnh xâm chiếm thuộc địa ở Á, Phi, Mỹ-Latinh.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Nảy sinh mâu thuẫn gay gắt giữa các dân tộc thuộc địa với chủ nghĩa đế quốc.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Bùng nổ phong trào giải phóng dân tộc mạnh mẽ trên toàn thế giới.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8275" y="1504950"/>
            <a:ext cx="3651312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CM Tháng Mười Nga (1917)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0150" y="1838325"/>
            <a:ext cx="3206799" cy="1417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Đêm 7/11/1917, chính quyền Xô-viết do V.I.Lênin đứng đầu được thành lập.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Mở ra thời đại mới: thời đại quá độ từ CNTB lên CNXH trên phạm vi toàn cầu.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Thức tỉnh các dân tộc thuộc địa đi theo con đường cách mạng vô sản.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6100" y="1504950"/>
            <a:ext cx="36225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Quốc Tế Cộng Sản (1919)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9400" y="1838325"/>
            <a:ext cx="3206650" cy="1417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Tháng 3/1919, Quốc tế III ra đời làm bộ tham mưu chiến đấu cho vô sản thế giới.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Đại hội II (1920) thông qua </a:t>
            </a:r>
            <a:r>
              <a:rPr b="1" sz="1200" i="0" u="none">
                <a:solidFill>
                  <a:srgbClr val="F3C669"/>
                </a:solidFill>
                <a:latin typeface="Be Vietnam Pro"/>
              </a:rPr>
              <a:t>Luận cương của Lênin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về vấn đề dân tộc &amp; thuộc địa.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Trực tiếp thúc đẩy sự ra đời các Đảng Cộng sản ở các nước thuộc địa.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4975" y="676275"/>
            <a:ext cx="2324100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2025" y="1304925"/>
            <a:ext cx="3587799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127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58325" y="733425"/>
            <a:ext cx="2152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KHỦNG HOẢNG ĐƯỜNG LỐI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5200" y="6276975"/>
            <a:ext cx="809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428625"/>
            <a:ext cx="759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1: BỐI CẢNH LỊCH SỬ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38175"/>
            <a:ext cx="759618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TÌNH HÌNH VIỆT NAM TRƯỚC KHI CÓ ĐẢNG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1504950"/>
            <a:ext cx="3889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Chính Sách Cai Trị Của Pháp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1838325"/>
            <a:ext cx="3206650" cy="1653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Chính trị: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Chế độ chuyên chế tàn bạo, áp dụng chính sách "chia để trị" (chia 3 kỳ).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Kinh tế: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2 cuộc khai thác thuộc địa vơ vét tài nguyên, bóc lột nhân công rẻ mạt.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Văn hóa: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Chính sách "ngu dân", lập nhiều nhà tù hơn trường học.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1504950"/>
            <a:ext cx="3889437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Phân Hóa Mâu Thuẫn Xã Hội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0150" y="1838325"/>
            <a:ext cx="3206799" cy="1417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Xã hội biến đổi thành </a:t>
            </a:r>
            <a:r>
              <a:rPr b="1" sz="1200" i="0" u="none">
                <a:solidFill>
                  <a:srgbClr val="F3C669"/>
                </a:solidFill>
                <a:latin typeface="Be Vietnam Pro"/>
              </a:rPr>
              <a:t>thuộc địa nửa phong kiến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với 5 giai tầng.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Công nhân ra đời sớm, chịu 3 tầng áp bức (đế quốc, phong kiến, tư sản).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Mâu thuẫn chủ yếu: Toàn thể dân tộc Việt Nam vs Thực dân Pháp xâm lược.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9400" y="1504950"/>
            <a:ext cx="3889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Bế Tắc Phong Trào Yêu Nước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400" y="1838325"/>
            <a:ext cx="3206650" cy="1889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Phong kiến: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Phong trào Cần Vương, Yên Thế thất bại do ngọn cờ phong kiến lỗi thời.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Dân chủ tư sản: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Đông Du, Duy Tân, Việt Nam Quốc dân đảng (Yên Bái 1930) đều tan rã.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Cách mạng rơi vào </a:t>
            </a:r>
            <a:r>
              <a:rPr b="1" sz="1200" i="0" u="none">
                <a:solidFill>
                  <a:srgbClr val="FEF08A"/>
                </a:solidFill>
                <a:latin typeface="Be Vietnam Pro"/>
              </a:rPr>
              <a:t>khủng hoảng sâu sắc về đường lối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48875" y="676275"/>
            <a:ext cx="1600200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2005012"/>
            <a:ext cx="11106150" cy="1000125"/>
          </a:xfrm>
          <a:prstGeom prst="rect">
            <a:avLst/>
          </a:prstGeom>
          <a:solidFill>
            <a:srgbClr val="25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3138487"/>
            <a:ext cx="11106150" cy="1181100"/>
          </a:xfrm>
          <a:prstGeom prst="rect">
            <a:avLst/>
          </a:prstGeom>
          <a:solidFill>
            <a:srgbClr val="25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925" y="4452937"/>
            <a:ext cx="11106150" cy="1000125"/>
          </a:xfrm>
          <a:prstGeom prst="rect">
            <a:avLst/>
          </a:prstGeom>
          <a:solidFill>
            <a:srgbClr val="25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2925" y="2005012"/>
            <a:ext cx="38100" cy="1000125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3138487"/>
            <a:ext cx="38100" cy="118110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2925" y="4452937"/>
            <a:ext cx="38100" cy="1000125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2225" y="733425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VAI TRÒ LÃNH TỤ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276975"/>
            <a:ext cx="809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428625"/>
            <a:ext cx="981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2: QUY LUẬT RA ĐỜI CỦA ĐẢNG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638175"/>
            <a:ext cx="98107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QUÁ TRÌNH CHUẨN BỊ CỦA NGUYỄN ÁI QUỐC (1911 – 1930)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195512"/>
            <a:ext cx="11382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3C669"/>
                </a:solidFill>
                <a:latin typeface="Be Vietnam Pro"/>
              </a:rPr>
              <a:t>1. Tìm Đường Cứu Nước (1911 – 1920)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452687"/>
            <a:ext cx="10706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Be Vietnam Pro"/>
              </a:rPr>
              <a:t>• 1911: Ra đi tìm đường cứu nước → 7/1920: Đọc Luận cương Lênin trên báo L'Humanité → 12/1920: Tham gia sáng lập Đảng Cộng sản Pháp tại Đại hội Tours, chọn con đường cách mạng vô sản.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328987"/>
            <a:ext cx="11382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3C669"/>
                </a:solidFill>
                <a:latin typeface="Be Vietnam Pro"/>
              </a:rPr>
              <a:t>2. Chuẩn Bị Tư Tưởng, Chính Trị &amp; Tổ Chức (1921 – 1929)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586162"/>
            <a:ext cx="10706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Be Vietnam Pro"/>
              </a:rPr>
              <a:t>• </a:t>
            </a:r>
            <a:r>
              <a:rPr b="1" sz="1125" i="0" u="none">
                <a:solidFill>
                  <a:srgbClr val="CBD5E1"/>
                </a:solidFill>
                <a:latin typeface="Be Vietnam Pro"/>
              </a:rPr>
              <a:t>Tư tưởng: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 Ra báo </a:t>
            </a:r>
            <a:r>
              <a:rPr b="0" sz="1125" i="1" u="none">
                <a:solidFill>
                  <a:srgbClr val="CBD5E1"/>
                </a:solidFill>
                <a:latin typeface="Be Vietnam Pro"/>
              </a:rPr>
              <a:t>Le Paria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, truyền bá CN Mác-Lênin vào thuộc địa.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125" i="0" u="none">
                <a:solidFill>
                  <a:srgbClr val="CBD5E1"/>
                </a:solidFill>
                <a:latin typeface="Be Vietnam Pro"/>
              </a:rPr>
              <a:t>Chính trị: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 Xuất bản </a:t>
            </a:r>
            <a:r>
              <a:rPr b="0" sz="1125" i="1" u="none">
                <a:solidFill>
                  <a:srgbClr val="CBD5E1"/>
                </a:solidFill>
                <a:latin typeface="Be Vietnam Pro"/>
              </a:rPr>
              <a:t>Đường Kách mệnh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 (1927) – xác định "Đảng muốn vững phải có chủ nghĩa làm cốt".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125" i="0" u="none">
                <a:solidFill>
                  <a:srgbClr val="CBD5E1"/>
                </a:solidFill>
                <a:latin typeface="Be Vietnam Pro"/>
              </a:rPr>
              <a:t>Tổ chức: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 Thành lập Hội Việt Nam Cách mạng Thanh niên (6/1925), phát động phong trào "Vô sản hóa" (1928).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643437"/>
            <a:ext cx="11382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3C669"/>
                </a:solidFill>
                <a:latin typeface="Be Vietnam Pro"/>
              </a:rPr>
              <a:t>3. Triệu Tập Hội Nghị Thành Lập Đảng (Đầu năm 1930)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900612"/>
            <a:ext cx="10706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Be Vietnam Pro"/>
              </a:rPr>
              <a:t>• Từ 6/1 đến 7/2/1930 tại Cửu Long (Hồng Kông), Nguyễn Ái Quốc chủ trì hợp nhất 3 tổ chức cộng sản thành </a:t>
            </a:r>
            <a:r>
              <a:rPr b="1" sz="1125" i="0" u="none">
                <a:solidFill>
                  <a:srgbClr val="FEF08A"/>
                </a:solidFill>
                <a:latin typeface="Be Vietnam Pro"/>
              </a:rPr>
              <a:t>Đảng Cộng sản Việt Nam</a:t>
            </a:r>
            <a:r>
              <a:rPr b="0" sz="1125" i="0" u="none">
                <a:solidFill>
                  <a:srgbClr val="CBD5E1"/>
                </a:solidFill>
                <a:latin typeface="Be Vietnam Pro"/>
              </a:rPr>
              <a:t>, thông qua Cương lĩnh chính trị đầu tiên.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86925" y="676275"/>
            <a:ext cx="1962150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53480" y="4262437"/>
            <a:ext cx="8884890" cy="1066800"/>
          </a:xfrm>
          <a:prstGeom prst="rect">
            <a:avLst/>
          </a:prstGeom>
          <a:solidFill>
            <a:srgbClr val="25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2925" y="2128837"/>
            <a:ext cx="3282999" cy="1466850"/>
          </a:xfrm>
          <a:prstGeom prst="roundRect">
            <a:avLst>
              <a:gd name="adj" fmla="val 5194"/>
            </a:avLst>
          </a:prstGeom>
          <a:solidFill>
            <a:srgbClr val="222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54574" y="2128837"/>
            <a:ext cx="3282999" cy="1466850"/>
          </a:xfrm>
          <a:prstGeom prst="roundRect">
            <a:avLst>
              <a:gd name="adj" fmla="val 5194"/>
            </a:avLst>
          </a:prstGeom>
          <a:solidFill>
            <a:srgbClr val="222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224" y="2128837"/>
            <a:ext cx="3282999" cy="1466850"/>
          </a:xfrm>
          <a:prstGeom prst="roundRect">
            <a:avLst>
              <a:gd name="adj" fmla="val 5194"/>
            </a:avLst>
          </a:prstGeom>
          <a:solidFill>
            <a:srgbClr val="222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53480" y="4262437"/>
            <a:ext cx="38100" cy="106680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2925" y="3586162"/>
            <a:ext cx="3282999" cy="9525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2925" y="2128837"/>
            <a:ext cx="3282999" cy="3810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2925" y="2128837"/>
            <a:ext cx="9525" cy="14668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6399" y="2128837"/>
            <a:ext cx="9525" cy="14668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4574" y="3586162"/>
            <a:ext cx="3282999" cy="9525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4574" y="2128837"/>
            <a:ext cx="3282999" cy="3810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4574" y="2128837"/>
            <a:ext cx="9525" cy="14668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8049" y="2128837"/>
            <a:ext cx="9525" cy="14668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224" y="3586162"/>
            <a:ext cx="3282999" cy="9525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224" y="2128837"/>
            <a:ext cx="3282999" cy="3810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224" y="2128837"/>
            <a:ext cx="9525" cy="14668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39698" y="2128837"/>
            <a:ext cx="9525" cy="14668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14762"/>
            <a:ext cx="1714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950" y="2357437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2357437"/>
            <a:ext cx="3429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149" y="2357437"/>
            <a:ext cx="38100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20275" y="733425"/>
            <a:ext cx="1790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LUẬN ĐIỂM SÁNG TẠO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4725" y="6276975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" y="428625"/>
            <a:ext cx="7798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2: QUY LUẬT RA ĐỜI CỦA ĐẢNG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925" y="638175"/>
            <a:ext cx="779859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QUY LUẬT BA YẾU TỐ HỘI TỤ (HỒ CHÍ MINH)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4524" y="2128837"/>
            <a:ext cx="266700" cy="1466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DFA843"/>
                </a:solidFill>
                <a:latin typeface="Be Vietnam Pro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6174" y="2128837"/>
            <a:ext cx="266700" cy="1466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DFA843"/>
                </a:solidFill>
                <a:latin typeface="Be Vietnam Pro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313" y="4433887"/>
            <a:ext cx="1091132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layfair Display"/>
              </a:rPr>
              <a:t>ĐẢNG CỘNG SẢN VIỆT NAM RA ĐỜI (3/2/1930)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106" y="4795837"/>
            <a:ext cx="103917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EF08A"/>
                </a:solidFill>
                <a:latin typeface="Be Vietnam Pro"/>
              </a:rPr>
              <a:t>"Chủ nghĩa Mác-Lênin kết hợp với phong trào công nhân và phong trào yêu nước đã dẫn tới việc thành lập Đảng" (Hồ Chí Minh)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495" y="2757487"/>
            <a:ext cx="36838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3C669"/>
                </a:solidFill>
                <a:latin typeface="Be Vietnam Pro"/>
              </a:rPr>
              <a:t>CHỦ NGHĨA MÁC – LÊNIN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206" y="3052762"/>
            <a:ext cx="35084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Be Vietnam Pro"/>
              </a:rPr>
              <a:t>Nền tảng lý luận, tư tưởng soi đường, là "trí khôn" và "bàn chỉ nam" cho cách mạng.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4144" y="2757487"/>
            <a:ext cx="36838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3C669"/>
                </a:solidFill>
                <a:latin typeface="Be Vietnam Pro"/>
              </a:rPr>
              <a:t>PHONG TRÀO CÔNG NHÂN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1855" y="3052762"/>
            <a:ext cx="35084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Be Vietnam Pro"/>
              </a:rPr>
              <a:t>Giai cấp lãnh đạo tiên phong, lực lượng vật chất nòng cốt của cách mạng vô sản.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794" y="2757487"/>
            <a:ext cx="36838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3C669"/>
                </a:solidFill>
                <a:latin typeface="Be Vietnam Pro"/>
              </a:rPr>
              <a:t>PHONG TRÀO YÊU NƯỚC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3505" y="3052762"/>
            <a:ext cx="350843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Be Vietnam Pro"/>
              </a:rPr>
              <a:t>Cơ sở xã hội rộng lớn, nguồn sức mạnh dân tộc kết hợp với sức mạnh giai cấp.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850" y="676275"/>
            <a:ext cx="180022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5457825" cy="4848225"/>
          </a:xfrm>
          <a:prstGeom prst="roundRect">
            <a:avLst>
              <a:gd name="adj" fmla="val 1571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1304925"/>
            <a:ext cx="5457825" cy="4848225"/>
          </a:xfrm>
          <a:prstGeom prst="roundRect">
            <a:avLst>
              <a:gd name="adj" fmla="val 1571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538287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538287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82200" y="733425"/>
            <a:ext cx="16287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LÝ LUẬN &amp; GIAI CẤP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34725" y="6276975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428625"/>
            <a:ext cx="7477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2: QUY LUẬT RA ĐỜI CỦA ĐẢNG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638175"/>
            <a:ext cx="74771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PHÂN TÍCH YẾU TỐ 1 &amp; 2 TRONG QUY LUẬT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504950"/>
            <a:ext cx="5960268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1. Chủ Nghĩa Mác – Lênin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1838325"/>
            <a:ext cx="5076825" cy="2125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Năm 1927, Nguyễn Ái Quốc khẳng định: </a:t>
            </a:r>
            <a:r>
              <a:rPr b="0" sz="1200" i="1" u="none">
                <a:solidFill>
                  <a:srgbClr val="CBD5E1"/>
                </a:solidFill>
                <a:latin typeface="Be Vietnam Pro"/>
              </a:rPr>
              <a:t>"Đảng muốn vững phải có chủ nghĩa làm cốt... Đảng mà không có chủ nghĩa cũng giống như người không có trí khôn, tàu không có bàn chỉ nam"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Đóng vai trò là nền tảng tư tưởng, soi sáng con đường giải phóng dân tộc gắn liền với giải phóng giai cấp.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Được vận dụng sáng tạo qua </a:t>
            </a:r>
            <a:r>
              <a:rPr b="1" sz="1200" i="0" u="none">
                <a:solidFill>
                  <a:srgbClr val="F3C669"/>
                </a:solidFill>
                <a:latin typeface="Be Vietnam Pro"/>
              </a:rPr>
              <a:t>Cương lĩnh chính trị đầu tiên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: đặt nhiệm vụ chống đế quốc, giành độc lập dân tộc lên hàng đầu.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1504950"/>
            <a:ext cx="5429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2. Phong Trào Công Nhân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1838325"/>
            <a:ext cx="5076825" cy="1889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Số lượng: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Năm 1913 có khoảng 10 vạn người; đến cuối 1929 đạt hơn 22 vạn người.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Đặc điểm: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Chịu 3 tầng áp bức, ra đời trước tư sản dân tộc Việt Nam, có quan hệ gắn bó tự nhiên với nông dân.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Chuyển biến: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Nhờ phong trào "Vô sản hóa" (1928), phong trào công nhân phát triển nhanh chóng từ </a:t>
            </a:r>
            <a:r>
              <a:rPr b="1" sz="1200" i="0" u="none">
                <a:solidFill>
                  <a:srgbClr val="FEF08A"/>
                </a:solidFill>
                <a:latin typeface="Be Vietnam Pro"/>
              </a:rPr>
              <a:t>"tự phát" sang "tự giác"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82150" y="676275"/>
            <a:ext cx="206692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2025" y="1304925"/>
            <a:ext cx="3587799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127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0" y="733425"/>
            <a:ext cx="18954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NÉT ĐẶC THÙ VIỆT NAM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5200" y="6276975"/>
            <a:ext cx="809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428625"/>
            <a:ext cx="10751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2: QUY LUẬT RA ĐỜI CỦA ĐẢNG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38175"/>
            <a:ext cx="1075134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PHÂN TÍCH YẾU TỐ THỨ 3: PHONG TRÀO YÊU NƯỚC VIỆT NAM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1504950"/>
            <a:ext cx="3889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Vai Trò Của Nông Dân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1838325"/>
            <a:ext cx="3206650" cy="1653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Nông dân chiếm hơn 90% dân số, là lực lượng đông đảo nhất bị thực dân phong kiến bóc lột.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Tinh thần cách mạng gắn liền với ruộng đất và lòng yêu nước nồng nàn.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Là "gốc của cách mệnh", quân chủ lực của khối liên minh công nông.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1504950"/>
            <a:ext cx="3889437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Tầng Lớp Trí Thức &amp; Tiểu Tư Sản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0150" y="1838325"/>
            <a:ext cx="3206799" cy="1653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Nhạy bén với thời cuộc, thiết tha với độc lập dân tộc.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Là ngòi nổ tiếp nhận chủ nghĩa Mác-Lênin đầu tiên và tích cực truyền bá vào quần chúng.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Là cầu nối quan trọng giữa lý luận cách mạng với phong trào công nông.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9400" y="1504950"/>
            <a:ext cx="3889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Sự Chuyển Hóa Khuynh Hướng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400" y="1838325"/>
            <a:ext cx="3206650" cy="1653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Phong trào yêu nước có truyền thống lâu đời hàng ngàn năm đấu tranh giữ nước.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Khi các khuynh hướng cũ thất bại, phong trào yêu nước tự nguyện chuyển sang khuynh hướng vô sản.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Tạo nên </a:t>
            </a:r>
            <a:r>
              <a:rPr b="1" sz="1200" i="0" u="none">
                <a:solidFill>
                  <a:srgbClr val="FEF08A"/>
                </a:solidFill>
                <a:latin typeface="Be Vietnam Pro"/>
              </a:rPr>
              <a:t>khối đại đoàn kết toàn dân tộc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dưới sự lãnh đạo của Đảng.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34550" y="676275"/>
            <a:ext cx="191452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5457825" cy="4848225"/>
          </a:xfrm>
          <a:prstGeom prst="roundRect">
            <a:avLst>
              <a:gd name="adj" fmla="val 1571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0" y="1304925"/>
            <a:ext cx="5457825" cy="4848225"/>
          </a:xfrm>
          <a:prstGeom prst="rect">
            <a:avLst/>
          </a:prstGeom>
          <a:solidFill>
            <a:srgbClr val="25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1304925"/>
            <a:ext cx="38100" cy="4848225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538287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1528762"/>
            <a:ext cx="1428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67900" y="733425"/>
            <a:ext cx="1743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TỔNG KẾT GIAI ĐOẠN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3300" y="6276975"/>
            <a:ext cx="771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428625"/>
            <a:ext cx="8905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2: QUY LUẬT RA ĐỜI CỦA ĐẢNG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638175"/>
            <a:ext cx="89058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Ý NGHĨA LỊCH SỬ &amp; LỜI GIẢI CHO "ĐỘ TRỄ 10 NĂM"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1504950"/>
            <a:ext cx="5912643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Ý Nghĩa Lịch Sử Sự Ra Đời Của Đảng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1838325"/>
            <a:ext cx="5076825" cy="2598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</a:t>
            </a:r>
            <a:r>
              <a:rPr b="1" sz="1200" i="0" u="none">
                <a:solidFill>
                  <a:srgbClr val="F3C669"/>
                </a:solidFill>
                <a:latin typeface="Be Vietnam Pro"/>
              </a:rPr>
              <a:t>Chấm dứt hoàn toàn khủng hoảng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về đường lối cứu nước và giai cấp lãnh đạo.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Khẳng định sự lựa chọn đúng đắn: Cách mạng giải phóng dân tộc đi theo con đường cách mạng vô sản.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Cách mạng Việt Nam trở thành một bộ phận khăng khít của cách mạng vô sản thế giới.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Đảng trở thành nhân tố hàng đầu quyết định mọi thắng lợi của cách mạng Việt Nam.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1495425"/>
            <a:ext cx="5495925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Giải Mã Khoảng Thời Gian 10 Năm (1920–1930)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1828800"/>
            <a:ext cx="5057775" cy="2598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1920: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Nguyễn Ái Quốc mới giải quyết xong vấn đề con đường (tư tưởng cá nhân).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1920–1929: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Cần thời gian đào tạo cán bộ, truyền bá lý luận, xây dựng tổ chức tiền thân (Hội Thanh niên 1925).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</a:t>
            </a:r>
            <a:r>
              <a:rPr b="1" sz="1200" i="0" u="none">
                <a:solidFill>
                  <a:srgbClr val="CBD5E1"/>
                </a:solidFill>
                <a:latin typeface="Be Vietnam Pro"/>
              </a:rPr>
              <a:t>1929–1930: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Sự xuất hiện của 3 tổ chức cộng sản đòi hỏi sự hợp nhất tất yếu.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Kết luận: 10 năm là </a:t>
            </a:r>
            <a:r>
              <a:rPr b="1" sz="1200" i="0" u="none">
                <a:solidFill>
                  <a:srgbClr val="FEF08A"/>
                </a:solidFill>
                <a:latin typeface="Be Vietnam Pro"/>
              </a:rPr>
              <a:t>thời gian khách quan chín muồi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cho 3 yếu tố hội tụ, không phải độ trễ thụ động.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6450" y="676275"/>
            <a:ext cx="195262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2309812"/>
            <a:ext cx="11106150" cy="990600"/>
          </a:xfrm>
          <a:prstGeom prst="roundRect">
            <a:avLst>
              <a:gd name="adj" fmla="val 7692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4710112"/>
            <a:ext cx="11106150" cy="438150"/>
          </a:xfrm>
          <a:prstGeom prst="rect">
            <a:avLst/>
          </a:prstGeom>
          <a:solidFill>
            <a:srgbClr val="25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925" y="3452812"/>
            <a:ext cx="3600450" cy="1104900"/>
          </a:xfrm>
          <a:prstGeom prst="roundRect">
            <a:avLst>
              <a:gd name="adj" fmla="val 6896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5775" y="3452812"/>
            <a:ext cx="3600450" cy="1104900"/>
          </a:xfrm>
          <a:prstGeom prst="roundRect">
            <a:avLst>
              <a:gd name="adj" fmla="val 6896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8625" y="3452812"/>
            <a:ext cx="3600450" cy="1104900"/>
          </a:xfrm>
          <a:prstGeom prst="roundRect">
            <a:avLst>
              <a:gd name="adj" fmla="val 6896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2925" y="4710112"/>
            <a:ext cx="38100" cy="4381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733425"/>
            <a:ext cx="1781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MÔ HÌNH CHÍNH QUỐC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276975"/>
            <a:ext cx="733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428625"/>
            <a:ext cx="8929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3: ĐỐI CHIẾU QUỐC TẾ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638175"/>
            <a:ext cx="892968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KHÁI QUÁT SỰ RA ĐỜI ĐẢNG CỘNG SẢN Ở CHÂU ÂU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471737"/>
            <a:ext cx="114490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3C669"/>
                </a:solidFill>
                <a:latin typeface="Be Vietnam Pro"/>
              </a:rPr>
              <a:t>Bối Cảnh Kinh Tế – Xã Hội Châu Âu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738437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Be Vietnam Pro"/>
              </a:rPr>
              <a:t>• Các nước Châu Âu tiến hành công nghiệp hóa, phát triển TBCN mạnh mẽ → Giai cấp công nhân đông đảo.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Mâu thuẫn cơ bản nhất là mâu thuẫn giai cấp: </a:t>
            </a:r>
            <a:r>
              <a:rPr b="1" sz="1050" i="0" u="none">
                <a:solidFill>
                  <a:srgbClr val="F3C669"/>
                </a:solidFill>
                <a:latin typeface="Be Vietnam Pro"/>
              </a:rPr>
              <a:t>Tư sản vs Vô sản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tại chính quốc.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843462"/>
            <a:ext cx="11420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EF08A"/>
                </a:solidFill>
                <a:latin typeface="Be Vietnam Pro"/>
              </a:rPr>
              <a:t>Quy luật chung Châu Âu (V.I.Lênin): </a:t>
            </a:r>
            <a:r>
              <a:rPr b="1" sz="1050" i="0" u="none">
                <a:solidFill>
                  <a:srgbClr val="FEF08A"/>
                </a:solidFill>
                <a:latin typeface="Be Vietnam Pro"/>
              </a:rPr>
              <a:t>Chủ nghĩa xã hội khoa học + Phong trào công nhân = Đảng Cộng sản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3652837"/>
            <a:ext cx="41005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C669"/>
                </a:solidFill>
                <a:latin typeface="Be Vietnam Pro"/>
              </a:rPr>
              <a:t>Đảng Cộng Sản Pháp (12/1920)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3900487"/>
            <a:ext cx="3219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Be Vietnam Pro"/>
              </a:rPr>
              <a:t>• Phân liệt từ Đảng Xã hội Pháp tại Đại hội Tours.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 • Tiếp nhận 21 điều kiện của Quốc tế III.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 • Nguyễn Ái Quốc là thành viên sáng lập.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3900" y="3652837"/>
            <a:ext cx="41005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C669"/>
                </a:solidFill>
                <a:latin typeface="Be Vietnam Pro"/>
              </a:rPr>
              <a:t>Đảng Cộng Sản Đức (12/1918)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3900" y="3900487"/>
            <a:ext cx="3219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Be Vietnam Pro"/>
              </a:rPr>
              <a:t>• Sáng lập từ Liên đoàn Spartacus do Rosa Luxemburg &amp; Karl Liebknecht đứng đầu.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 • Ra đời trong bối cảnh CM Tháng 11/1918 ở Đức.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0" y="3652837"/>
            <a:ext cx="3905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C669"/>
                </a:solidFill>
                <a:latin typeface="Be Vietnam Pro"/>
              </a:rPr>
              <a:t>Đảng CS Anh &amp; Mỹ (1919–1920)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0" y="3900487"/>
            <a:ext cx="3219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Be Vietnam Pro"/>
              </a:rPr>
              <a:t>• Mỹ (1919), Anh (1920).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 • Hình thành từ sự hợp nhất các tổ chức công nhân xô-viết và cánh tả Đảng Xã hội.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01250" y="676275"/>
            <a:ext cx="164782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5467350" cy="2338387"/>
          </a:xfrm>
          <a:prstGeom prst="roundRect">
            <a:avLst>
              <a:gd name="adj" fmla="val 3258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1725" y="1304925"/>
            <a:ext cx="5467350" cy="2338387"/>
          </a:xfrm>
          <a:prstGeom prst="roundRect">
            <a:avLst>
              <a:gd name="adj" fmla="val 3258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2925" y="3814762"/>
            <a:ext cx="5467350" cy="2338387"/>
          </a:xfrm>
          <a:prstGeom prst="roundRect">
            <a:avLst>
              <a:gd name="adj" fmla="val 3258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81725" y="3814762"/>
            <a:ext cx="5467350" cy="2338387"/>
          </a:xfrm>
          <a:prstGeom prst="roundRect">
            <a:avLst>
              <a:gd name="adj" fmla="val 3258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524000"/>
            <a:ext cx="20002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524000"/>
            <a:ext cx="1428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4033837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4033837"/>
            <a:ext cx="16192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34600" y="733425"/>
            <a:ext cx="1476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MÔ HÌNH KHU VỰC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2825" y="6276975"/>
            <a:ext cx="762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428625"/>
            <a:ext cx="8429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3: ĐỐI CHIẾU QUỐC TẾ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638175"/>
            <a:ext cx="8429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ĐẢNG CỘNG SẢN Ở CHÂU Á – THÁI BÌNH DƯƠNG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1504950"/>
            <a:ext cx="6550818" cy="2095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3C669"/>
                </a:solidFill>
                <a:latin typeface="Be Vietnam Pro"/>
              </a:rPr>
              <a:t>Trung Quốc (7/1921)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1790700"/>
            <a:ext cx="5086350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CBD5E1"/>
                </a:solidFill>
                <a:latin typeface="Be Vietnam Pro"/>
              </a:rPr>
              <a:t>• Bối cảnh: Nước bán thuộc địa bán phong kiến.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Xuất phát: Nhóm trí thức cấp tiến sau Phong trào Ngũ Tứ (1919) như Trần Độc Tú, Lý Đại Chiêu.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Đặc điểm: Công nhân còn non trẻ, trí thức giữ vai trò nòng cốt ban đầu.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1504950"/>
            <a:ext cx="5772150" cy="209550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3C669"/>
                </a:solidFill>
                <a:latin typeface="Be Vietnam Pro"/>
              </a:rPr>
              <a:t>Indônêxia (5/1920)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1790700"/>
            <a:ext cx="5086350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CBD5E1"/>
                </a:solidFill>
                <a:latin typeface="Be Vietnam Pro"/>
              </a:rPr>
              <a:t>• Bối cảnh: Thuộc địa của Hà Lan.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Xuất phát: Nhóm ISDV (Hội Dân chủ Xã hội Ấn Độ thuộc Hà Lan) đổi tên thành Đảng Cộng sản Ấn Độ thuộc Hà Lan (PKI).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Đảng CS đầu tiên ra đời tại Châu Á.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4014787"/>
            <a:ext cx="6550818" cy="20955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3C669"/>
                </a:solidFill>
                <a:latin typeface="Be Vietnam Pro"/>
              </a:rPr>
              <a:t>Nhật Bản (7/1922)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" y="4300537"/>
            <a:ext cx="5086350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CBD5E1"/>
                </a:solidFill>
                <a:latin typeface="Be Vietnam Pro"/>
              </a:rPr>
              <a:t>• Bối cảnh: Nước tư bản đế quốc phát triển.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Xuất phát: Thành lập bí mật từ các nhóm xã hội chủ nghĩa và công đoàn lao động.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Quy luật gần tương đồng với các nước tư bản Châu Âu.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4014787"/>
            <a:ext cx="5772150" cy="20955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3C669"/>
                </a:solidFill>
                <a:latin typeface="Be Vietnam Pro"/>
              </a:rPr>
              <a:t>Úc (10/1920)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850" y="4300537"/>
            <a:ext cx="508635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CBD5E1"/>
                </a:solidFill>
                <a:latin typeface="Be Vietnam Pro"/>
              </a:rPr>
              <a:t>• Bối cảnh: Tự trị thuộc Anh, kinh tế tư bản phát triển.</a:t>
            </a:r>
            <a:r>
              <a:t>
</a:t>
            </a:r>
            <a:r>
              <a:rPr b="0" sz="1050" i="0" u="none">
                <a:solidFill>
                  <a:srgbClr val="CBD5E1"/>
                </a:solidFill>
                <a:latin typeface="Be Vietnam Pro"/>
              </a:rPr>
              <a:t> • Xuất phát: Thành lập tại Sydney từ các thành viên Đảng Lao động Cánh tả và các nhóm xã hội chủ nghĩa.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1725" y="676275"/>
            <a:ext cx="1657350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2837259"/>
            <a:ext cx="1999059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41984" y="2837259"/>
            <a:ext cx="3109614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51599" y="2837259"/>
            <a:ext cx="2998589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0188" y="2837259"/>
            <a:ext cx="2998886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3504009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1984" y="3504009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1599" y="3504009"/>
            <a:ext cx="29985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50188" y="3504009"/>
            <a:ext cx="29988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4156471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1984" y="4156471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51599" y="4156471"/>
            <a:ext cx="29985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0188" y="4156471"/>
            <a:ext cx="29988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5016103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41984" y="5016103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1599" y="5016103"/>
            <a:ext cx="29985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50188" y="5016103"/>
            <a:ext cx="29988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2925" y="2427684"/>
            <a:ext cx="11106150" cy="2602706"/>
          </a:xfrm>
          <a:prstGeom prst="roundRect">
            <a:avLst>
              <a:gd name="adj" fmla="val 0"/>
            </a:avLst>
          </a:prstGeom>
          <a:solidFill>
            <a:srgbClr val="1C20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2925" y="2427684"/>
          <a:ext cx="11106148" cy="2602706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99059"/>
                <a:gridCol w="3109614"/>
                <a:gridCol w="2998589"/>
                <a:gridCol w="2998886"/>
              </a:tblGrid>
              <a:tr h="65067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Tiêu chí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Việt Nam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Pháp, Đức (Châu Âu)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Trung Quốc, Indônêxia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</a:tr>
              <a:tr h="65067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Be Vietnam Pro"/>
                        </a:rPr>
                        <a:t>Bối cảnh lịch sử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Thuộc địa nửa phong kiến. Mâu thuẫn chủ yếu: Dân tộc VN vs Thực dân Pháp.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Chính quốc tư bản phát triển. Mâu thuẫn chủ yếu: Vô sản vs Tư sản.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Thuộc địa / Bán thuộc địa. Mâu thuẫn dân tộc &amp; phong kiến gay gắt.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</a:tr>
              <a:tr h="65067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Be Vietnam Pro"/>
                        </a:rPr>
                        <a:t>Tổ chức tiền thân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Hội VN Cách mạng Thanh niên (1925) → 3 tổ chức cộng sản (1929).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Phân liệt từ các Đảng Xã hội tả ngạn (Đại hội Tours, Liên đoàn Spartacus).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Các nhóm trí thức sau Ngũ Tứ (TQ); Nhóm ISDV trong Sarekat Islam (Indo).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</a:tr>
              <a:tr h="65067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Be Vietnam Pro"/>
                        </a:rPr>
                        <a:t>Con đường hình thành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Chuẩn bị công phu 10 năm về tư tưởng, chính trị, tổ chức qua phong trào thực tiễn.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Chuyển biến trực tiếp từ phong trào công nhân &amp; Đảng Xã hội có sẵn.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Khởi xướng từ nhóm trí thức cấp tiến truyền bá vào công nhân.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125075" y="733425"/>
            <a:ext cx="1485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BẢNG ĐỐI CHIẾU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3300" y="6276975"/>
            <a:ext cx="771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428625"/>
            <a:ext cx="7560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3: ĐỐI CHIẾU QUỐC TẾ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925" y="638175"/>
            <a:ext cx="756046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SO SÁNH BỐI CẢNH &amp; TỔ CHỨC TIỀN THÂN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3150" y="676275"/>
            <a:ext cx="168592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2940843"/>
            <a:ext cx="1999059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41984" y="2940843"/>
            <a:ext cx="3109614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51599" y="2940843"/>
            <a:ext cx="2998589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0188" y="2940843"/>
            <a:ext cx="2998886" cy="19050"/>
          </a:xfrm>
          <a:prstGeom prst="rect">
            <a:avLst/>
          </a:prstGeom>
          <a:solidFill>
            <a:srgbClr val="DF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3607593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1984" y="3607593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51599" y="3607593"/>
            <a:ext cx="29985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50188" y="3607593"/>
            <a:ext cx="29988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4260056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1984" y="4260056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51599" y="4260056"/>
            <a:ext cx="29985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0188" y="4260056"/>
            <a:ext cx="29988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4912518"/>
            <a:ext cx="19990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41984" y="4912518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1599" y="4912518"/>
            <a:ext cx="29985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50188" y="4912518"/>
            <a:ext cx="29988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2925" y="2531268"/>
            <a:ext cx="11106150" cy="2395537"/>
          </a:xfrm>
          <a:prstGeom prst="roundRect">
            <a:avLst>
              <a:gd name="adj" fmla="val 0"/>
            </a:avLst>
          </a:prstGeom>
          <a:solidFill>
            <a:srgbClr val="1C20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2925" y="2531268"/>
          <a:ext cx="11106148" cy="2395537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99059"/>
                <a:gridCol w="3109614"/>
                <a:gridCol w="2998589"/>
                <a:gridCol w="2998886"/>
              </a:tblGrid>
              <a:tr h="59888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Tiêu chí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Việt Nam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Châu Âu (Pháp, Đức)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Playfair Display"/>
                        </a:rPr>
                        <a:t>Châu Á (TQ, Indo)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B2D"/>
                    </a:solidFill>
                  </a:tcPr>
                </a:tc>
              </a:tr>
              <a:tr h="59888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Be Vietnam Pro"/>
                        </a:rPr>
                        <a:t>Cơ sở xã hội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Công nhân + Nông dân (&gt;90%) + Trí thức, Tiểu tư sản &amp; Tư sản dân tộc.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Chủ yếu là Giai cấp Công nhân công nghiệp &amp; Công đoàn lao động.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Công nhân, Nông dân và tầng lớp Trí thức tiến bộ.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</a:tr>
              <a:tr h="59888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Be Vietnam Pro"/>
                        </a:rPr>
                        <a:t>Nhiệm vụ chiến lược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Chống đế quốc giải phóng dân tộc là </a:t>
                      </a:r>
                      <a:r>
                        <a:rPr b="1" sz="1125" i="0" u="none">
                          <a:solidFill>
                            <a:srgbClr val="FEF08A"/>
                          </a:solidFill>
                          <a:latin typeface="Be Vietnam Pro"/>
                        </a:rPr>
                        <a:t>hàng đầu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, sau đó tiến lên CNXH.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Đấu tranh giai cấp, lật đổ tư sản, thiết lập chuyên chính vô sản.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Giải phóng dân tộc gắn với chống phong kiến (Cách mạng dân chủ mới).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42C"/>
                    </a:solidFill>
                  </a:tcPr>
                </a:tc>
              </a:tr>
              <a:tr h="59888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3C669"/>
                          </a:solidFill>
                          <a:latin typeface="Be Vietnam Pro"/>
                        </a:rPr>
                        <a:t>Gắn với phong trào yêu nước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Kết hợp hữu cơ. Phong trào yêu nước là yếu tố cấu thành sự ra đời của Đảng.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Không đặt ra nhiệm vụ giải phóng dân tộc khỏi ách thuộc địa.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Be Vietnam Pro"/>
                        </a:rPr>
                        <a:t>Có sự gắn kết chặt chẽ với phong trào chống đế quốc xâm lược.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2028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096500" y="733425"/>
            <a:ext cx="15144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BẢNG ĐỐI CHIẾU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3300" y="6276975"/>
            <a:ext cx="771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428625"/>
            <a:ext cx="8322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3: ĐỐI CHIẾU QUỐC TẾ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925" y="638175"/>
            <a:ext cx="832246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SO SÁNH CƠ SỞ XÃ HỘI &amp; NHIỆM VỤ CẮT CÁNH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0" y="676275"/>
            <a:ext cx="1933575" cy="304800"/>
          </a:xfrm>
          <a:prstGeom prst="roundRect">
            <a:avLst>
              <a:gd name="adj" fmla="val 12500"/>
            </a:avLst>
          </a:prstGeom>
          <a:solidFill>
            <a:srgbClr val="36332F"/>
          </a:solidFill>
          <a:ln w="9525">
            <a:solidFill>
              <a:srgbClr val="6C5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92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2025" y="1304925"/>
            <a:ext cx="3587799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1275" y="1304925"/>
            <a:ext cx="3587650" cy="4848225"/>
          </a:xfrm>
          <a:prstGeom prst="roundRect">
            <a:avLst>
              <a:gd name="adj" fmla="val 2123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48850" y="733425"/>
            <a:ext cx="1762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C669"/>
                </a:solidFill>
                <a:latin typeface="Be Vietnam Pro"/>
              </a:rPr>
              <a:t>ĐÓNG GÓP TƯ TƯỞNG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276975"/>
            <a:ext cx="244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Lịch sử Đảng Cộng sản Việt 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3300" y="6276975"/>
            <a:ext cx="771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428625"/>
            <a:ext cx="8989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FA843"/>
                </a:solidFill>
                <a:latin typeface="Be Vietnam Pro"/>
              </a:rPr>
              <a:t>PHẦN 4: ĐẶC THÙ &amp; KẾT LUẬN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38175"/>
            <a:ext cx="898921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8FAFC"/>
                </a:solidFill>
                <a:latin typeface="Playfair Display"/>
              </a:rPr>
              <a:t>SỰ SÁNG TẠO ĐỘC ĐÁO CỦA LÝ LUẬN HỒ CHÍ MINH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1504950"/>
            <a:ext cx="3889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Bổ Sung Yếu Tố Thứ 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1838325"/>
            <a:ext cx="3206650" cy="118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V.I.Lênin đưa ra quy luật cho Châu Âu: </a:t>
            </a:r>
            <a:r>
              <a:rPr b="0" sz="1200" i="1" u="none">
                <a:solidFill>
                  <a:srgbClr val="CBD5E1"/>
                </a:solidFill>
                <a:latin typeface="Be Vietnam Pro"/>
              </a:rPr>
              <a:t>CNXH khoa học + Phong trào công nhân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Hồ Chí Minh bổ sung sáng tạo </a:t>
            </a:r>
            <a:r>
              <a:rPr b="1" sz="1200" i="0" u="none">
                <a:solidFill>
                  <a:srgbClr val="F3C669"/>
                </a:solidFill>
                <a:latin typeface="Be Vietnam Pro"/>
              </a:rPr>
              <a:t>Phong trào yêu nước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vào quy luật ra đời của Đảng ở nước thuộc địa.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1504950"/>
            <a:ext cx="3889437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Đại Đoàn Kết Dân Tộc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0150" y="1838325"/>
            <a:ext cx="3206799" cy="1417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Nhận diện nông dân là quân chủ lực, trí thức là bầu bạn, thu phục tư sản dân tộc &amp; địa chủ yêu nước.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Đảng không chỉ đại diện cho giai cấp công nhân mà còn là </a:t>
            </a:r>
            <a:r>
              <a:rPr b="1" sz="1200" i="0" u="none">
                <a:solidFill>
                  <a:srgbClr val="FEF08A"/>
                </a:solidFill>
                <a:latin typeface="Be Vietnam Pro"/>
              </a:rPr>
              <a:t>đội tiên phong của dân tộc Việt Nam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9400" y="1504950"/>
            <a:ext cx="3889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3C669"/>
                </a:solidFill>
                <a:latin typeface="Playfair Display"/>
              </a:rPr>
              <a:t>Giá Trị Thực Tiễn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400" y="1838325"/>
            <a:ext cx="3206650" cy="118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CBD5E1"/>
                </a:solidFill>
                <a:latin typeface="Be Vietnam Pro"/>
              </a:rPr>
              <a:t>• Là kim chỉ nam giúp Đảng ta lãnh đạo thành công Cách mạng Tháng Tám 1945 và 2 cuộc kháng chiến chống Pháp, Mỹ.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Be Vietnam Pro"/>
              </a:rPr>
              <a:t> • Mở ra con đường phát triển độc lập dân tộc gắn liền với Chủ nghĩa xã hội.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6153150"/>
            <a:ext cx="1110615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5880" y="3441352"/>
            <a:ext cx="8580090" cy="1261020"/>
          </a:xfrm>
          <a:prstGeom prst="roundRect">
            <a:avLst>
              <a:gd name="adj" fmla="val 6042"/>
            </a:avLst>
          </a:prstGeom>
          <a:solidFill>
            <a:srgbClr val="222732"/>
          </a:solidFill>
          <a:ln w="9525">
            <a:solidFill>
              <a:srgbClr val="4F4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6153150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105" y="3660427"/>
            <a:ext cx="1714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20765" y="1879252"/>
            <a:ext cx="3750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DFA843"/>
                </a:solidFill>
                <a:latin typeface="Be Vietnam Pro"/>
              </a:rPr>
              <a:t>BÀI THUYẾT TRÌNH KẾT THÚC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879" y="2184052"/>
            <a:ext cx="992624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FFFFF"/>
                </a:solidFill>
                <a:latin typeface="Playfair Display"/>
              </a:rPr>
              <a:t>CẢM ƠN CÔ VÀ CÁC BẠN ĐÃ LẮNG NGHE!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1218" y="2879377"/>
            <a:ext cx="79295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3C669"/>
                </a:solidFill>
                <a:latin typeface="Be Vietnam Pro"/>
              </a:rPr>
              <a:t>"Đảng ta là đạo đức, là văn minh, là thống nhất, độc lập, là hòa bình, ấm no"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276975"/>
            <a:ext cx="3155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Nhóm 1 - Lịch sử Đảng Cộng sản Việt 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3300" y="6276975"/>
            <a:ext cx="771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Be Vietnam Pro"/>
              </a:rPr>
              <a:t>Trang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2105" y="3641377"/>
            <a:ext cx="10109894" cy="1905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FA843"/>
                </a:solidFill>
                <a:latin typeface="Be Vietnam Pro"/>
              </a:rPr>
              <a:t>TÀI LIỆU THAM KHẢO CHÍNH: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2105" y="3908077"/>
            <a:ext cx="8122890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Be Vietnam Pro"/>
              </a:rPr>
              <a:t>1. Bộ Giáo dục và Đào tạo, </a:t>
            </a:r>
            <a:r>
              <a:rPr b="0" sz="975" i="1" u="none">
                <a:solidFill>
                  <a:srgbClr val="CBD5E1"/>
                </a:solidFill>
                <a:latin typeface="Be Vietnam Pro"/>
              </a:rPr>
              <a:t>Giáo trình Lịch sử Đảng Cộng sản Việt Nam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, NXB Politica Quốc gia Sự thật.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 2. </a:t>
            </a:r>
            <a:r>
              <a:rPr b="0" sz="975" i="1" u="none">
                <a:solidFill>
                  <a:srgbClr val="CBD5E1"/>
                </a:solidFill>
                <a:latin typeface="Be Vietnam Pro"/>
              </a:rPr>
              <a:t>Hồ Chí Minh Toàn tập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, Tập 2, Tập 12, NXB Politica Quốc gia Sự thật.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Be Vietnam Pro"/>
              </a:rPr>
              <a:t> 3. Văn kiện Đảng Toàn tập, Tập 1, Tập 2, NXB Politica Quốc gia.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
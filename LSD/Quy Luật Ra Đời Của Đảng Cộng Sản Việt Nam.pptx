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Lst>
  <ns0:sldSz cx="12192000" cy="6858000" type="screen4x3"/>
  <ns0:notesSz cx="6858000" cy="9144000"/>
  <ns0:embeddedFontLst>
    <ns0:embeddedFont>
      <ns0:font typeface="Inter"/>
      <ns0:italic ns1:id="rIdFont24"/>
      <ns0:bold ns1:id="rIdFont25"/>
      <ns0:regular ns1:id="rIdFont26"/>
    </ns0:embeddedFont>
    <ns0:embeddedFont>
      <ns0:font typeface="Merriweather"/>
      <ns0:bold ns1:id="rIdFont27"/>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Font24" Type="http://schemas.openxmlformats.org/officeDocument/2006/relationships/font" Target="fonts/a5083b1a-f885-41dd-890a-961210201153.fntdata" /><ns0:Relationship Id="rIdFont25" Type="http://schemas.openxmlformats.org/officeDocument/2006/relationships/font" Target="fonts/bf58c1bc-9bac-4548-8933-125185706292.fntdata" /><ns0:Relationship Id="rIdFont26" Type="http://schemas.openxmlformats.org/officeDocument/2006/relationships/font" Target="fonts/8fb02811-2726-4f3f-9494-6ecdef31bad2.fntdata" /><ns0:Relationship Id="rIdFont27" Type="http://schemas.openxmlformats.org/officeDocument/2006/relationships/font" Target="fonts/39c6800c-1558-42c5-8f0b-fe5922e1ca22.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917"/>
        </a:solidFill>
        <a:effectLst/>
      </p:bgPr>
    </p:bg>
    <p:spTree>
      <p:nvGrpSpPr>
        <p:cNvPr id="1" name=""/>
        <p:cNvGrpSpPr/>
        <p:nvPr/>
      </p:nvGrpSpPr>
      <p:grpSpPr/>
      <p:sp>
        <p:nvSpPr>
          <p:cNvPr id="2" name="Rectangle 1"/>
          <p:cNvSpPr/>
          <p:nvPr/>
        </p:nvSpPr>
        <p:spPr>
          <a:xfrm>
            <a:off x="609600" y="3665636"/>
            <a:ext cx="6286500" cy="1338262"/>
          </a:xfrm>
          <a:prstGeom prst="rect">
            <a:avLst/>
          </a:prstGeom>
          <a:solidFill>
            <a:srgbClr val="2A24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3665636"/>
            <a:ext cx="38100" cy="133826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7353300" y="1047750"/>
            <a:ext cx="4229100" cy="4762500"/>
          </a:xfrm>
          <a:prstGeom prst="rect">
            <a:avLst/>
          </a:prstGeom>
        </p:spPr>
      </p:pic>
      <p:pic>
        <p:nvPicPr>
          <p:cNvPr id="5" name="Picture 4" descr="image.png"/>
          <p:cNvPicPr>
            <a:picLocks noChangeAspect="1"/>
          </p:cNvPicPr>
          <p:nvPr/>
        </p:nvPicPr>
        <p:blipFill>
          <a:blip r:embed="rId3"/>
          <a:stretch>
            <a:fillRect/>
          </a:stretch>
        </p:blipFill>
        <p:spPr>
          <a:xfrm>
            <a:off x="7372350" y="1066800"/>
            <a:ext cx="4191000" cy="4724400"/>
          </a:xfrm>
          <a:prstGeom prst="rect">
            <a:avLst/>
          </a:prstGeom>
        </p:spPr>
      </p:pic>
      <p:pic>
        <p:nvPicPr>
          <p:cNvPr id="6" name="Picture 5" descr="image.png"/>
          <p:cNvPicPr>
            <a:picLocks noChangeAspect="1"/>
          </p:cNvPicPr>
          <p:nvPr/>
        </p:nvPicPr>
        <p:blipFill>
          <a:blip r:embed="rId4"/>
          <a:stretch>
            <a:fillRect/>
          </a:stretch>
        </p:blipFill>
        <p:spPr>
          <a:xfrm>
            <a:off x="838200" y="3884711"/>
            <a:ext cx="142875" cy="142875"/>
          </a:xfrm>
          <a:prstGeom prst="rect">
            <a:avLst/>
          </a:prstGeom>
        </p:spPr>
      </p:pic>
      <p:sp>
        <p:nvSpPr>
          <p:cNvPr id="7" name="TextBox 6"/>
          <p:cNvSpPr txBox="1"/>
          <p:nvPr/>
        </p:nvSpPr>
        <p:spPr>
          <a:xfrm>
            <a:off x="609600" y="1854100"/>
            <a:ext cx="7858125" cy="161925"/>
          </a:xfrm>
          <a:prstGeom prst="rect">
            <a:avLst/>
          </a:prstGeom>
          <a:noFill/>
        </p:spPr>
        <p:txBody>
          <a:bodyPr wrap="none" lIns="0" rIns="0" tIns="0" bIns="0" anchor="t">
            <a:spAutoFit/>
          </a:bodyPr>
          <a:lstStyle/>
          <a:p>
            <a:pPr algn="l"/>
            <a:r>
              <a:rPr b="1" sz="1050" i="0" u="none">
                <a:solidFill>
                  <a:srgbClr val="F59E0B"/>
                </a:solidFill>
                <a:latin typeface="Inter"/>
              </a:rPr>
              <a:t>BÀI THUYẾT TRÌNH LỊCH SỬ ĐẢNG</a:t>
            </a:r>
          </a:p>
        </p:txBody>
      </p:sp>
      <p:sp>
        <p:nvSpPr>
          <p:cNvPr id="8" name="TextBox 7"/>
          <p:cNvSpPr txBox="1"/>
          <p:nvPr/>
        </p:nvSpPr>
        <p:spPr>
          <a:xfrm>
            <a:off x="609600" y="2092225"/>
            <a:ext cx="6700837" cy="868560"/>
          </a:xfrm>
          <a:prstGeom prst="rect">
            <a:avLst/>
          </a:prstGeom>
          <a:noFill/>
        </p:spPr>
        <p:txBody>
          <a:bodyPr wrap="square" lIns="0" rIns="0" tIns="0" bIns="0" anchor="t">
            <a:spAutoFit/>
          </a:bodyPr>
          <a:lstStyle/>
          <a:p>
            <a:pPr algn="l">
              <a:lnSpc>
                <a:spcPts val="3420"/>
              </a:lnSpc>
            </a:pPr>
            <a:r>
              <a:rPr b="1" sz="2850" i="0" u="none">
                <a:solidFill>
                  <a:srgbClr val="FFFFFF"/>
                </a:solidFill>
                <a:latin typeface="Merriweather"/>
              </a:rPr>
              <a:t>QUY LUẬT RA ĐỜI CỦA ĐẢNG CỘNG SẢN VIỆT NAM</a:t>
            </a:r>
          </a:p>
        </p:txBody>
      </p:sp>
      <p:sp>
        <p:nvSpPr>
          <p:cNvPr id="9" name="TextBox 8"/>
          <p:cNvSpPr txBox="1"/>
          <p:nvPr/>
        </p:nvSpPr>
        <p:spPr>
          <a:xfrm>
            <a:off x="609600" y="3113186"/>
            <a:ext cx="7858125" cy="285750"/>
          </a:xfrm>
          <a:prstGeom prst="rect">
            <a:avLst/>
          </a:prstGeom>
          <a:noFill/>
        </p:spPr>
        <p:txBody>
          <a:bodyPr wrap="none" lIns="0" rIns="0" tIns="0" bIns="0" anchor="t">
            <a:spAutoFit/>
          </a:bodyPr>
          <a:lstStyle/>
          <a:p>
            <a:pPr algn="l">
              <a:lnSpc>
                <a:spcPts val="2250"/>
              </a:lnSpc>
            </a:pPr>
            <a:r>
              <a:rPr b="0" sz="1500" i="0" u="none">
                <a:solidFill>
                  <a:srgbClr val="D6D3D1"/>
                </a:solidFill>
                <a:latin typeface="Inter"/>
              </a:rPr>
              <a:t>Đối chiếu &amp; So sánh với Châu Âu và Châu Á - Thái Bình Dương</a:t>
            </a:r>
          </a:p>
        </p:txBody>
      </p:sp>
      <p:sp>
        <p:nvSpPr>
          <p:cNvPr id="10" name="TextBox 9"/>
          <p:cNvSpPr txBox="1"/>
          <p:nvPr/>
        </p:nvSpPr>
        <p:spPr>
          <a:xfrm>
            <a:off x="838200" y="3856136"/>
            <a:ext cx="7334250" cy="214312"/>
          </a:xfrm>
          <a:prstGeom prst="rect">
            <a:avLst/>
          </a:prstGeom>
          <a:noFill/>
        </p:spPr>
        <p:txBody>
          <a:bodyPr wrap="none" lIns="219075" rIns="0" tIns="0" bIns="0" anchor="t">
            <a:spAutoFit/>
          </a:bodyPr>
          <a:lstStyle/>
          <a:p>
            <a:pPr algn="l">
              <a:lnSpc>
                <a:spcPts val="1687"/>
              </a:lnSpc>
            </a:pPr>
            <a:r>
              <a:rPr b="1" sz="1125" i="0" u="none">
                <a:solidFill>
                  <a:srgbClr val="F59E0B"/>
                </a:solidFill>
                <a:latin typeface="Inter"/>
              </a:rPr>
              <a:t>CÂU HỎI ĐẶT RA:</a:t>
            </a:r>
          </a:p>
        </p:txBody>
      </p:sp>
      <p:sp>
        <p:nvSpPr>
          <p:cNvPr id="11" name="TextBox 10"/>
          <p:cNvSpPr txBox="1"/>
          <p:nvPr/>
        </p:nvSpPr>
        <p:spPr>
          <a:xfrm>
            <a:off x="838200" y="4127599"/>
            <a:ext cx="5962650" cy="685800"/>
          </a:xfrm>
          <a:prstGeom prst="rect">
            <a:avLst/>
          </a:prstGeom>
          <a:noFill/>
        </p:spPr>
        <p:txBody>
          <a:bodyPr wrap="square" lIns="0" rIns="0" tIns="0" bIns="0" anchor="t">
            <a:spAutoFit/>
          </a:bodyPr>
          <a:lstStyle/>
          <a:p>
            <a:pPr algn="l">
              <a:lnSpc>
                <a:spcPts val="1800"/>
              </a:lnSpc>
            </a:pPr>
            <a:r>
              <a:rPr b="0" sz="1200" i="0" u="none">
                <a:solidFill>
                  <a:srgbClr val="E7E5E4"/>
                </a:solidFill>
                <a:latin typeface="Inter"/>
              </a:rPr>
              <a:t>"Tại sao năm 1920 Nguyễn Ái Quốc tham gia sáng lập Đảng Cộng sản Pháp, nhưng phải mất thêm 10 năm chuẩn bị mới thành lập Đảng Cộng sản Việt Nam (1930)?"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2450306"/>
            <a:ext cx="10972800" cy="981075"/>
          </a:xfrm>
          <a:prstGeom prst="roundRect">
            <a:avLst>
              <a:gd name="adj" fmla="val 7766"/>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831431"/>
            <a:ext cx="4749700" cy="1514475"/>
          </a:xfrm>
          <a:prstGeom prst="roundRect">
            <a:avLst>
              <a:gd name="adj" fmla="val 5031"/>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87900" y="3659981"/>
            <a:ext cx="5994499" cy="1857375"/>
          </a:xfrm>
          <a:prstGeom prst="roundRect">
            <a:avLst>
              <a:gd name="adj" fmla="val 4102"/>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5336381"/>
            <a:ext cx="474970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831431"/>
            <a:ext cx="474970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3831431"/>
            <a:ext cx="38100" cy="151447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49775" y="3831431"/>
            <a:ext cx="9525" cy="151447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876300" y="4098131"/>
            <a:ext cx="190500" cy="190500"/>
          </a:xfrm>
          <a:prstGeom prst="rect">
            <a:avLst/>
          </a:prstGeom>
        </p:spPr>
      </p:pic>
      <p:pic>
        <p:nvPicPr>
          <p:cNvPr id="10" name="Picture 9" descr="image.png"/>
          <p:cNvPicPr>
            <a:picLocks noChangeAspect="1"/>
          </p:cNvPicPr>
          <p:nvPr/>
        </p:nvPicPr>
        <p:blipFill>
          <a:blip r:embed="rId3"/>
          <a:stretch>
            <a:fillRect/>
          </a:stretch>
        </p:blipFill>
        <p:spPr>
          <a:xfrm>
            <a:off x="5826025" y="3926681"/>
            <a:ext cx="190500" cy="190500"/>
          </a:xfrm>
          <a:prstGeom prst="rect">
            <a:avLst/>
          </a:prstGeom>
        </p:spPr>
      </p:pic>
      <p:sp>
        <p:nvSpPr>
          <p:cNvPr id="11" name="TextBox 10"/>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PHẦN 1: LÝ LUẬN CƠ BẢN</a:t>
            </a:r>
          </a:p>
        </p:txBody>
      </p:sp>
      <p:sp>
        <p:nvSpPr>
          <p:cNvPr id="12" name="TextBox 11"/>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Khung Lý Luận &amp; Tiêu Chí Phân Tích</a:t>
            </a:r>
          </a:p>
        </p:txBody>
      </p:sp>
      <p:sp>
        <p:nvSpPr>
          <p:cNvPr id="13" name="TextBox 12"/>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Nền tảng tư tưởng và bộ tiêu chí so sánh đối chiếu quốc tế</a:t>
            </a:r>
          </a:p>
        </p:txBody>
      </p:sp>
      <p:sp>
        <p:nvSpPr>
          <p:cNvPr id="14" name="TextBox 13"/>
          <p:cNvSpPr txBox="1"/>
          <p:nvPr/>
        </p:nvSpPr>
        <p:spPr>
          <a:xfrm>
            <a:off x="-261937" y="2640806"/>
            <a:ext cx="12715875" cy="200025"/>
          </a:xfrm>
          <a:prstGeom prst="rect">
            <a:avLst/>
          </a:prstGeom>
          <a:noFill/>
        </p:spPr>
        <p:txBody>
          <a:bodyPr wrap="none" lIns="0" rIns="0" tIns="0" bIns="0" anchor="t">
            <a:spAutoFit/>
          </a:bodyPr>
          <a:lstStyle/>
          <a:p>
            <a:pPr algn="ctr">
              <a:lnSpc>
                <a:spcPts val="1575"/>
              </a:lnSpc>
            </a:pPr>
            <a:r>
              <a:rPr b="1" sz="1050" i="0" u="none">
                <a:solidFill>
                  <a:srgbClr val="FECDD3"/>
                </a:solidFill>
                <a:latin typeface="Inter"/>
              </a:rPr>
              <a:t>QUY LUẬT RA ĐỜI CỦA ĐẢNG CỘNG SẢN VIỆT NAM</a:t>
            </a:r>
          </a:p>
        </p:txBody>
      </p:sp>
      <p:sp>
        <p:nvSpPr>
          <p:cNvPr id="15" name="TextBox 14"/>
          <p:cNvSpPr txBox="1"/>
          <p:nvPr/>
        </p:nvSpPr>
        <p:spPr>
          <a:xfrm>
            <a:off x="-261937" y="2897981"/>
            <a:ext cx="12715875" cy="342900"/>
          </a:xfrm>
          <a:prstGeom prst="rect">
            <a:avLst/>
          </a:prstGeom>
          <a:noFill/>
        </p:spPr>
        <p:txBody>
          <a:bodyPr wrap="none" lIns="0" rIns="0" tIns="0" bIns="0" anchor="t">
            <a:spAutoFit/>
          </a:bodyPr>
          <a:lstStyle/>
          <a:p>
            <a:pPr algn="ctr">
              <a:lnSpc>
                <a:spcPts val="2700"/>
              </a:lnSpc>
            </a:pPr>
            <a:r>
              <a:rPr b="1" sz="1800" i="0" u="none">
                <a:solidFill>
                  <a:srgbClr val="FFFFFF"/>
                </a:solidFill>
                <a:latin typeface="Merriweather"/>
              </a:rPr>
              <a:t>ĐCS Việt Nam = CN Mác - Lênin + Phong trào Công nhân + Phong trào Yêu nước</a:t>
            </a:r>
          </a:p>
        </p:txBody>
      </p:sp>
      <p:sp>
        <p:nvSpPr>
          <p:cNvPr id="16" name="TextBox 15"/>
          <p:cNvSpPr txBox="1"/>
          <p:nvPr/>
        </p:nvSpPr>
        <p:spPr>
          <a:xfrm>
            <a:off x="876300" y="4069556"/>
            <a:ext cx="5571399" cy="238125"/>
          </a:xfrm>
          <a:prstGeom prst="rect">
            <a:avLst/>
          </a:prstGeom>
          <a:noFill/>
        </p:spPr>
        <p:txBody>
          <a:bodyPr wrap="none" lIns="266700" rIns="0" tIns="0" bIns="0" anchor="t">
            <a:spAutoFit/>
          </a:bodyPr>
          <a:lstStyle/>
          <a:p>
            <a:pPr algn="l"/>
            <a:r>
              <a:rPr b="1" sz="1500" i="0" u="none">
                <a:solidFill>
                  <a:srgbClr val="B45309"/>
                </a:solidFill>
                <a:latin typeface="Merriweather"/>
              </a:rPr>
              <a:t>Nền Tảng Tư Tưởng</a:t>
            </a:r>
          </a:p>
        </p:txBody>
      </p:sp>
      <p:sp>
        <p:nvSpPr>
          <p:cNvPr id="17" name="TextBox 16"/>
          <p:cNvSpPr txBox="1"/>
          <p:nvPr/>
        </p:nvSpPr>
        <p:spPr>
          <a:xfrm>
            <a:off x="876300" y="4421981"/>
            <a:ext cx="4340125" cy="685800"/>
          </a:xfrm>
          <a:prstGeom prst="rect">
            <a:avLst/>
          </a:prstGeom>
          <a:noFill/>
        </p:spPr>
        <p:txBody>
          <a:bodyPr wrap="square" lIns="0" rIns="0" tIns="0" bIns="0" anchor="t">
            <a:spAutoFit/>
          </a:bodyPr>
          <a:lstStyle/>
          <a:p>
            <a:pPr algn="l">
              <a:lnSpc>
                <a:spcPts val="1800"/>
              </a:lnSpc>
            </a:pPr>
            <a:r>
              <a:rPr b="0" sz="1200" i="0" u="none">
                <a:solidFill>
                  <a:srgbClr val="44403C"/>
                </a:solidFill>
                <a:latin typeface="Inter"/>
              </a:rPr>
              <a:t>Đảng lấy </a:t>
            </a:r>
            <a:r>
              <a:rPr b="1" sz="1200" i="0" u="none">
                <a:solidFill>
                  <a:srgbClr val="44403C"/>
                </a:solidFill>
                <a:latin typeface="Inter"/>
              </a:rPr>
              <a:t>Chủ nghĩa Mác - Lênin</a:t>
            </a:r>
            <a:r>
              <a:rPr b="0" sz="1200" i="0" u="none">
                <a:solidFill>
                  <a:srgbClr val="44403C"/>
                </a:solidFill>
                <a:latin typeface="Inter"/>
              </a:rPr>
              <a:t> và </a:t>
            </a:r>
            <a:r>
              <a:rPr b="1" sz="1200" i="0" u="none">
                <a:solidFill>
                  <a:srgbClr val="44403C"/>
                </a:solidFill>
                <a:latin typeface="Inter"/>
              </a:rPr>
              <a:t>Tư tưởng Hồ Chí Minh</a:t>
            </a:r>
            <a:r>
              <a:rPr b="0" sz="1200" i="0" u="none">
                <a:solidFill>
                  <a:srgbClr val="44403C"/>
                </a:solidFill>
                <a:latin typeface="Inter"/>
              </a:rPr>
              <a:t> làm nền tảng tư tưởng, kim chỉ nam cho mọi hành động cách mạng.</a:t>
            </a:r>
          </a:p>
        </p:txBody>
      </p:sp>
      <p:sp>
        <p:nvSpPr>
          <p:cNvPr id="18" name="TextBox 17"/>
          <p:cNvSpPr txBox="1"/>
          <p:nvPr/>
        </p:nvSpPr>
        <p:spPr>
          <a:xfrm>
            <a:off x="5826025" y="3898106"/>
            <a:ext cx="6365974" cy="238125"/>
          </a:xfrm>
          <a:prstGeom prst="rect">
            <a:avLst/>
          </a:prstGeom>
          <a:noFill/>
        </p:spPr>
        <p:txBody>
          <a:bodyPr wrap="none" lIns="266700" rIns="0" tIns="0" bIns="0" anchor="t">
            <a:spAutoFit/>
          </a:bodyPr>
          <a:lstStyle/>
          <a:p>
            <a:pPr algn="l"/>
            <a:r>
              <a:rPr b="1" sz="1500" i="0" u="none">
                <a:solidFill>
                  <a:srgbClr val="1C1917"/>
                </a:solidFill>
                <a:latin typeface="Merriweather"/>
              </a:rPr>
              <a:t>4 Tiêu Chí So Sánh Quốc Tế</a:t>
            </a:r>
          </a:p>
        </p:txBody>
      </p:sp>
      <p:sp>
        <p:nvSpPr>
          <p:cNvPr id="19" name="TextBox 18"/>
          <p:cNvSpPr txBox="1"/>
          <p:nvPr/>
        </p:nvSpPr>
        <p:spPr>
          <a:xfrm>
            <a:off x="5940325" y="4248150"/>
            <a:ext cx="76200" cy="219075"/>
          </a:xfrm>
          <a:prstGeom prst="rect">
            <a:avLst/>
          </a:prstGeom>
          <a:noFill/>
        </p:spPr>
        <p:txBody>
          <a:bodyPr wrap="none" lIns="0" rIns="0" tIns="0" bIns="0" anchor="t">
            <a:spAutoFit/>
          </a:bodyPr>
          <a:lstStyle/>
          <a:p>
            <a:pPr algn="l"/>
            <a:r>
              <a:rPr b="0" sz="1125" i="0" u="none">
                <a:solidFill>
                  <a:srgbClr val="292524"/>
                </a:solidFill>
                <a:latin typeface="Inter"/>
              </a:rPr>
              <a:t>•</a:t>
            </a:r>
          </a:p>
        </p:txBody>
      </p:sp>
      <p:sp>
        <p:nvSpPr>
          <p:cNvPr id="20" name="TextBox 19"/>
          <p:cNvSpPr txBox="1"/>
          <p:nvPr/>
        </p:nvSpPr>
        <p:spPr>
          <a:xfrm>
            <a:off x="6016525" y="4250531"/>
            <a:ext cx="6175474" cy="214312"/>
          </a:xfrm>
          <a:prstGeom prst="rect">
            <a:avLst/>
          </a:prstGeom>
          <a:noFill/>
        </p:spPr>
        <p:txBody>
          <a:bodyPr wrap="none" lIns="76200" rIns="0" tIns="0" bIns="0" anchor="t">
            <a:spAutoFit/>
          </a:bodyPr>
          <a:lstStyle/>
          <a:p>
            <a:pPr algn="l">
              <a:lnSpc>
                <a:spcPts val="1687"/>
              </a:lnSpc>
            </a:pPr>
            <a:r>
              <a:rPr b="1" sz="1125" i="0" u="none">
                <a:solidFill>
                  <a:srgbClr val="292524"/>
                </a:solidFill>
                <a:latin typeface="Inter"/>
              </a:rPr>
              <a:t>Bối cảnh lịch sử:</a:t>
            </a:r>
            <a:r>
              <a:rPr b="0" sz="1125" i="0" u="none">
                <a:solidFill>
                  <a:srgbClr val="292524"/>
                </a:solidFill>
                <a:latin typeface="Inter"/>
              </a:rPr>
              <a:t> Điều kiện KT-XH &amp; mâu thuẫn chủ yếu.</a:t>
            </a:r>
          </a:p>
        </p:txBody>
      </p:sp>
      <p:sp>
        <p:nvSpPr>
          <p:cNvPr id="21" name="TextBox 20"/>
          <p:cNvSpPr txBox="1"/>
          <p:nvPr/>
        </p:nvSpPr>
        <p:spPr>
          <a:xfrm>
            <a:off x="5940325" y="4519612"/>
            <a:ext cx="76200" cy="219075"/>
          </a:xfrm>
          <a:prstGeom prst="rect">
            <a:avLst/>
          </a:prstGeom>
          <a:noFill/>
        </p:spPr>
        <p:txBody>
          <a:bodyPr wrap="none" lIns="0" rIns="0" tIns="0" bIns="0" anchor="t">
            <a:spAutoFit/>
          </a:bodyPr>
          <a:lstStyle/>
          <a:p>
            <a:pPr algn="l"/>
            <a:r>
              <a:rPr b="0" sz="1125" i="0" u="none">
                <a:solidFill>
                  <a:srgbClr val="292524"/>
                </a:solidFill>
                <a:latin typeface="Inter"/>
              </a:rPr>
              <a:t>•</a:t>
            </a:r>
          </a:p>
        </p:txBody>
      </p:sp>
      <p:sp>
        <p:nvSpPr>
          <p:cNvPr id="22" name="TextBox 21"/>
          <p:cNvSpPr txBox="1"/>
          <p:nvPr/>
        </p:nvSpPr>
        <p:spPr>
          <a:xfrm>
            <a:off x="6016525" y="4521993"/>
            <a:ext cx="6175474" cy="214312"/>
          </a:xfrm>
          <a:prstGeom prst="rect">
            <a:avLst/>
          </a:prstGeom>
          <a:noFill/>
        </p:spPr>
        <p:txBody>
          <a:bodyPr wrap="none" lIns="76200" rIns="0" tIns="0" bIns="0" anchor="t">
            <a:spAutoFit/>
          </a:bodyPr>
          <a:lstStyle/>
          <a:p>
            <a:pPr algn="l">
              <a:lnSpc>
                <a:spcPts val="1687"/>
              </a:lnSpc>
            </a:pPr>
            <a:r>
              <a:rPr b="1" sz="1125" i="0" u="none">
                <a:solidFill>
                  <a:srgbClr val="292524"/>
                </a:solidFill>
                <a:latin typeface="Inter"/>
              </a:rPr>
              <a:t>Tổ chức tiền thân:</a:t>
            </a:r>
            <a:r>
              <a:rPr b="0" sz="1125" i="0" u="none">
                <a:solidFill>
                  <a:srgbClr val="292524"/>
                </a:solidFill>
                <a:latin typeface="Inter"/>
              </a:rPr>
              <a:t> Quá trình chuẩn bị &amp; hình thành.</a:t>
            </a:r>
          </a:p>
        </p:txBody>
      </p:sp>
      <p:sp>
        <p:nvSpPr>
          <p:cNvPr id="23" name="TextBox 22"/>
          <p:cNvSpPr txBox="1"/>
          <p:nvPr/>
        </p:nvSpPr>
        <p:spPr>
          <a:xfrm>
            <a:off x="5940325" y="4791075"/>
            <a:ext cx="76200" cy="219075"/>
          </a:xfrm>
          <a:prstGeom prst="rect">
            <a:avLst/>
          </a:prstGeom>
          <a:noFill/>
        </p:spPr>
        <p:txBody>
          <a:bodyPr wrap="none" lIns="0" rIns="0" tIns="0" bIns="0" anchor="t">
            <a:spAutoFit/>
          </a:bodyPr>
          <a:lstStyle/>
          <a:p>
            <a:pPr algn="l"/>
            <a:r>
              <a:rPr b="0" sz="1125" i="0" u="none">
                <a:solidFill>
                  <a:srgbClr val="292524"/>
                </a:solidFill>
                <a:latin typeface="Inter"/>
              </a:rPr>
              <a:t>•</a:t>
            </a:r>
          </a:p>
        </p:txBody>
      </p:sp>
      <p:sp>
        <p:nvSpPr>
          <p:cNvPr id="24" name="TextBox 23"/>
          <p:cNvSpPr txBox="1"/>
          <p:nvPr/>
        </p:nvSpPr>
        <p:spPr>
          <a:xfrm>
            <a:off x="6016525" y="4793456"/>
            <a:ext cx="6175474" cy="214312"/>
          </a:xfrm>
          <a:prstGeom prst="rect">
            <a:avLst/>
          </a:prstGeom>
          <a:noFill/>
        </p:spPr>
        <p:txBody>
          <a:bodyPr wrap="none" lIns="76200" rIns="0" tIns="0" bIns="0" anchor="t">
            <a:spAutoFit/>
          </a:bodyPr>
          <a:lstStyle/>
          <a:p>
            <a:pPr algn="l">
              <a:lnSpc>
                <a:spcPts val="1687"/>
              </a:lnSpc>
            </a:pPr>
            <a:r>
              <a:rPr b="1" sz="1125" i="0" u="none">
                <a:solidFill>
                  <a:srgbClr val="292524"/>
                </a:solidFill>
                <a:latin typeface="Inter"/>
              </a:rPr>
              <a:t>Cơ sở xã hội:</a:t>
            </a:r>
            <a:r>
              <a:rPr b="0" sz="1125" i="0" u="none">
                <a:solidFill>
                  <a:srgbClr val="292524"/>
                </a:solidFill>
                <a:latin typeface="Inter"/>
              </a:rPr>
              <a:t> Lực lượng cách mạng nòng cốt.</a:t>
            </a:r>
          </a:p>
        </p:txBody>
      </p:sp>
      <p:sp>
        <p:nvSpPr>
          <p:cNvPr id="25" name="TextBox 24"/>
          <p:cNvSpPr txBox="1"/>
          <p:nvPr/>
        </p:nvSpPr>
        <p:spPr>
          <a:xfrm>
            <a:off x="5940325" y="5062537"/>
            <a:ext cx="76200" cy="219075"/>
          </a:xfrm>
          <a:prstGeom prst="rect">
            <a:avLst/>
          </a:prstGeom>
          <a:noFill/>
        </p:spPr>
        <p:txBody>
          <a:bodyPr wrap="none" lIns="0" rIns="0" tIns="0" bIns="0" anchor="t">
            <a:spAutoFit/>
          </a:bodyPr>
          <a:lstStyle/>
          <a:p>
            <a:pPr algn="l"/>
            <a:r>
              <a:rPr b="0" sz="1125" i="0" u="none">
                <a:solidFill>
                  <a:srgbClr val="292524"/>
                </a:solidFill>
                <a:latin typeface="Inter"/>
              </a:rPr>
              <a:t>•</a:t>
            </a:r>
          </a:p>
        </p:txBody>
      </p:sp>
      <p:sp>
        <p:nvSpPr>
          <p:cNvPr id="26" name="TextBox 25"/>
          <p:cNvSpPr txBox="1"/>
          <p:nvPr/>
        </p:nvSpPr>
        <p:spPr>
          <a:xfrm>
            <a:off x="6016525" y="5064918"/>
            <a:ext cx="6175474" cy="214312"/>
          </a:xfrm>
          <a:prstGeom prst="rect">
            <a:avLst/>
          </a:prstGeom>
          <a:noFill/>
        </p:spPr>
        <p:txBody>
          <a:bodyPr wrap="none" lIns="76200" rIns="0" tIns="0" bIns="0" anchor="t">
            <a:spAutoFit/>
          </a:bodyPr>
          <a:lstStyle/>
          <a:p>
            <a:pPr algn="l">
              <a:lnSpc>
                <a:spcPts val="1687"/>
              </a:lnSpc>
            </a:pPr>
            <a:r>
              <a:rPr b="1" sz="1125" i="0" u="none">
                <a:solidFill>
                  <a:srgbClr val="292524"/>
                </a:solidFill>
                <a:latin typeface="Inter"/>
              </a:rPr>
              <a:t>Nhiệm vụ chiến lược:</a:t>
            </a:r>
            <a:r>
              <a:rPr b="0" sz="1125" i="0" u="none">
                <a:solidFill>
                  <a:srgbClr val="292524"/>
                </a:solidFill>
                <a:latin typeface="Inter"/>
              </a:rPr>
              <a:t> Mục tiêu hàng đầu khi thành lập.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1947862" y="1566862"/>
            <a:ext cx="8296275" cy="966787"/>
          </a:xfrm>
          <a:prstGeom prst="roundRect">
            <a:avLst>
              <a:gd name="adj" fmla="val 7881"/>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947862" y="2686050"/>
            <a:ext cx="8296275" cy="966787"/>
          </a:xfrm>
          <a:prstGeom prst="roundRect">
            <a:avLst>
              <a:gd name="adj" fmla="val 7881"/>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947862" y="3805237"/>
            <a:ext cx="8296275" cy="966787"/>
          </a:xfrm>
          <a:prstGeom prst="roundRect">
            <a:avLst>
              <a:gd name="adj" fmla="val 7881"/>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47862" y="3643312"/>
            <a:ext cx="829627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47862" y="2686050"/>
            <a:ext cx="829627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47862" y="2686050"/>
            <a:ext cx="38100" cy="966787"/>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34612" y="2686050"/>
            <a:ext cx="9525" cy="966787"/>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47862" y="4762500"/>
            <a:ext cx="829627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47862" y="3805237"/>
            <a:ext cx="829627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47862" y="3805237"/>
            <a:ext cx="38100" cy="96678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34612" y="3805237"/>
            <a:ext cx="9525" cy="966787"/>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3797498" y="6189315"/>
            <a:ext cx="4596854" cy="2897534"/>
          </a:xfrm>
          <a:prstGeom prst="rect">
            <a:avLst/>
          </a:prstGeom>
        </p:spPr>
      </p:pic>
      <p:pic>
        <p:nvPicPr>
          <p:cNvPr id="14" name="Picture 13" descr="image.png"/>
          <p:cNvPicPr>
            <a:picLocks noChangeAspect="1"/>
          </p:cNvPicPr>
          <p:nvPr/>
        </p:nvPicPr>
        <p:blipFill>
          <a:blip r:embed="rId3"/>
          <a:stretch>
            <a:fillRect/>
          </a:stretch>
        </p:blipFill>
        <p:spPr>
          <a:xfrm>
            <a:off x="3807023" y="6198840"/>
            <a:ext cx="4577804" cy="2878484"/>
          </a:xfrm>
          <a:prstGeom prst="rect">
            <a:avLst/>
          </a:prstGeom>
        </p:spPr>
      </p:pic>
      <p:sp>
        <p:nvSpPr>
          <p:cNvPr id="15" name="TextBox 14"/>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BỐI CẢNH LỊCH SỬ</a:t>
            </a:r>
          </a:p>
        </p:txBody>
      </p:sp>
      <p:sp>
        <p:nvSpPr>
          <p:cNvPr id="16" name="TextBox 15"/>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Bối Cảnh Thế Giới Cuối TK XIX - Đầu TK XX</a:t>
            </a:r>
          </a:p>
        </p:txBody>
      </p:sp>
      <p:sp>
        <p:nvSpPr>
          <p:cNvPr id="17" name="TextBox 16"/>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Những chuyển biến lớn của thời đại thúc đẩy sự ra đời của các Đảng Cộng sản</a:t>
            </a:r>
          </a:p>
        </p:txBody>
      </p:sp>
      <p:sp>
        <p:nvSpPr>
          <p:cNvPr id="18" name="TextBox 17"/>
          <p:cNvSpPr txBox="1"/>
          <p:nvPr/>
        </p:nvSpPr>
        <p:spPr>
          <a:xfrm>
            <a:off x="2185987" y="1804987"/>
            <a:ext cx="10006012" cy="219075"/>
          </a:xfrm>
          <a:prstGeom prst="rect">
            <a:avLst/>
          </a:prstGeom>
          <a:noFill/>
        </p:spPr>
        <p:txBody>
          <a:bodyPr wrap="none" lIns="0" rIns="0" tIns="0" bIns="0" anchor="t">
            <a:spAutoFit/>
          </a:bodyPr>
          <a:lstStyle/>
          <a:p>
            <a:pPr algn="l"/>
            <a:r>
              <a:rPr b="1" sz="1350" i="0" u="none">
                <a:solidFill>
                  <a:srgbClr val="8B1523"/>
                </a:solidFill>
                <a:latin typeface="Merriweather"/>
              </a:rPr>
              <a:t>1. Chủ Nghĩa Tư Bản Chuyển Sang Đế Quốc</a:t>
            </a:r>
          </a:p>
        </p:txBody>
      </p:sp>
      <p:sp>
        <p:nvSpPr>
          <p:cNvPr id="19" name="TextBox 18"/>
          <p:cNvSpPr txBox="1"/>
          <p:nvPr/>
        </p:nvSpPr>
        <p:spPr>
          <a:xfrm>
            <a:off x="2185987" y="2081212"/>
            <a:ext cx="9775031" cy="214312"/>
          </a:xfrm>
          <a:prstGeom prst="rect">
            <a:avLst/>
          </a:prstGeom>
          <a:noFill/>
        </p:spPr>
        <p:txBody>
          <a:bodyPr wrap="none" lIns="0" rIns="0" tIns="0" bIns="0" anchor="t">
            <a:spAutoFit/>
          </a:bodyPr>
          <a:lstStyle/>
          <a:p>
            <a:pPr algn="l">
              <a:lnSpc>
                <a:spcPts val="1687"/>
              </a:lnSpc>
            </a:pPr>
            <a:r>
              <a:rPr b="0" sz="1125" i="0" u="none">
                <a:solidFill>
                  <a:srgbClr val="292524"/>
                </a:solidFill>
                <a:latin typeface="Inter"/>
              </a:rPr>
              <a:t>Đẩy mạnh xâm chiếm thuộc địa Á, Phi, Mỹ-Latinh. Mâu thuẫn giữa các dân tộc thuộc địa với đế quốc trở nên gay gắt.</a:t>
            </a:r>
          </a:p>
        </p:txBody>
      </p:sp>
      <p:sp>
        <p:nvSpPr>
          <p:cNvPr id="20" name="TextBox 19"/>
          <p:cNvSpPr txBox="1"/>
          <p:nvPr/>
        </p:nvSpPr>
        <p:spPr>
          <a:xfrm>
            <a:off x="2214562" y="2924175"/>
            <a:ext cx="9977437" cy="219075"/>
          </a:xfrm>
          <a:prstGeom prst="rect">
            <a:avLst/>
          </a:prstGeom>
          <a:noFill/>
        </p:spPr>
        <p:txBody>
          <a:bodyPr wrap="none" lIns="0" rIns="0" tIns="0" bIns="0" anchor="t">
            <a:spAutoFit/>
          </a:bodyPr>
          <a:lstStyle/>
          <a:p>
            <a:pPr algn="l"/>
            <a:r>
              <a:rPr b="1" sz="1350" i="0" u="none">
                <a:solidFill>
                  <a:srgbClr val="8B1523"/>
                </a:solidFill>
                <a:latin typeface="Merriweather"/>
              </a:rPr>
              <a:t>2. Thắng Lợi Cách Mạng Tháng Mười Nga (1917)</a:t>
            </a:r>
          </a:p>
        </p:txBody>
      </p:sp>
      <p:sp>
        <p:nvSpPr>
          <p:cNvPr id="21" name="TextBox 20"/>
          <p:cNvSpPr txBox="1"/>
          <p:nvPr/>
        </p:nvSpPr>
        <p:spPr>
          <a:xfrm>
            <a:off x="2214562" y="3200400"/>
            <a:ext cx="9739312" cy="214312"/>
          </a:xfrm>
          <a:prstGeom prst="rect">
            <a:avLst/>
          </a:prstGeom>
          <a:noFill/>
        </p:spPr>
        <p:txBody>
          <a:bodyPr wrap="none" lIns="0" rIns="0" tIns="0" bIns="0" anchor="t">
            <a:spAutoFit/>
          </a:bodyPr>
          <a:lstStyle/>
          <a:p>
            <a:pPr algn="l">
              <a:lnSpc>
                <a:spcPts val="1687"/>
              </a:lnSpc>
            </a:pPr>
            <a:r>
              <a:rPr b="0" sz="1125" i="0" u="none">
                <a:solidFill>
                  <a:srgbClr val="292524"/>
                </a:solidFill>
                <a:latin typeface="Inter"/>
              </a:rPr>
              <a:t>Mở ra thời đại mới, thức tỉnh phong trào giải phóng dân tộc thuộc địa đi theo con đường cách mạng vô sản.</a:t>
            </a:r>
          </a:p>
        </p:txBody>
      </p:sp>
      <p:sp>
        <p:nvSpPr>
          <p:cNvPr id="22" name="TextBox 21"/>
          <p:cNvSpPr txBox="1"/>
          <p:nvPr/>
        </p:nvSpPr>
        <p:spPr>
          <a:xfrm>
            <a:off x="2214562" y="4043362"/>
            <a:ext cx="9977437" cy="219075"/>
          </a:xfrm>
          <a:prstGeom prst="rect">
            <a:avLst/>
          </a:prstGeom>
          <a:noFill/>
        </p:spPr>
        <p:txBody>
          <a:bodyPr wrap="none" lIns="0" rIns="0" tIns="0" bIns="0" anchor="t">
            <a:spAutoFit/>
          </a:bodyPr>
          <a:lstStyle/>
          <a:p>
            <a:pPr algn="l"/>
            <a:r>
              <a:rPr b="1" sz="1350" i="0" u="none">
                <a:solidFill>
                  <a:srgbClr val="B45309"/>
                </a:solidFill>
                <a:latin typeface="Merriweather"/>
              </a:rPr>
              <a:t>3. Quốc Tế Cộng Sản III &amp; Luận Cương Lênin (1920)</a:t>
            </a:r>
          </a:p>
        </p:txBody>
      </p:sp>
      <p:sp>
        <p:nvSpPr>
          <p:cNvPr id="23" name="TextBox 22"/>
          <p:cNvSpPr txBox="1"/>
          <p:nvPr/>
        </p:nvSpPr>
        <p:spPr>
          <a:xfrm>
            <a:off x="2214562" y="4319587"/>
            <a:ext cx="9739312" cy="214312"/>
          </a:xfrm>
          <a:prstGeom prst="rect">
            <a:avLst/>
          </a:prstGeom>
          <a:noFill/>
        </p:spPr>
        <p:txBody>
          <a:bodyPr wrap="none" lIns="0" rIns="0" tIns="0" bIns="0" anchor="t">
            <a:spAutoFit/>
          </a:bodyPr>
          <a:lstStyle/>
          <a:p>
            <a:pPr algn="l">
              <a:lnSpc>
                <a:spcPts val="1687"/>
              </a:lnSpc>
            </a:pPr>
            <a:r>
              <a:rPr b="0" sz="1125" i="0" u="none">
                <a:solidFill>
                  <a:srgbClr val="292524"/>
                </a:solidFill>
                <a:latin typeface="Inter"/>
              </a:rPr>
              <a:t>Vạch đường hướng chiến lược cho vấn đề dân tộc &amp; thuộc địa, trực tiếp thúc đẩy thành lập các ĐCS trên toàn cầu.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2650331"/>
            <a:ext cx="3511599" cy="2667000"/>
          </a:xfrm>
          <a:prstGeom prst="roundRect">
            <a:avLst>
              <a:gd name="adj" fmla="val 2857"/>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11699" y="3083718"/>
            <a:ext cx="3540174" cy="1800225"/>
          </a:xfrm>
          <a:prstGeom prst="roundRect">
            <a:avLst>
              <a:gd name="adj" fmla="val 4232"/>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2374" y="2778918"/>
            <a:ext cx="3540174" cy="2409825"/>
          </a:xfrm>
          <a:prstGeom prst="roundRect">
            <a:avLst>
              <a:gd name="adj" fmla="val 3162"/>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47725" y="2888456"/>
            <a:ext cx="1314450" cy="238125"/>
          </a:xfrm>
          <a:prstGeom prst="roundRect">
            <a:avLst>
              <a:gd name="adj" fmla="val 16000"/>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8399" y="3321843"/>
            <a:ext cx="1314450" cy="238125"/>
          </a:xfrm>
          <a:prstGeom prst="roundRect">
            <a:avLst>
              <a:gd name="adj" fmla="val 16000"/>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11699" y="4874418"/>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1699" y="3083718"/>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1699" y="3083718"/>
            <a:ext cx="38100" cy="1800225"/>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42349" y="3083718"/>
            <a:ext cx="9525" cy="18002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09074" y="3017043"/>
            <a:ext cx="1609725" cy="238125"/>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2374" y="5179218"/>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2374" y="2778918"/>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374" y="2778918"/>
            <a:ext cx="38100" cy="24098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73023" y="2778918"/>
            <a:ext cx="9525" cy="24098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BỐI CẢNH LỊCH SỬ</a:t>
            </a:r>
          </a:p>
        </p:txBody>
      </p:sp>
      <p:sp>
        <p:nvSpPr>
          <p:cNvPr id="17" name="TextBox 16"/>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Bối Cảnh Lịch Sử Việt Nam Trước Khi Có Đảng</a:t>
            </a:r>
          </a:p>
        </p:txBody>
      </p:sp>
      <p:sp>
        <p:nvSpPr>
          <p:cNvPr id="18" name="TextBox 17"/>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Sự khủng hoảng sâu sắc về đường lối cứu nước và giai cấp lãnh đạo</a:t>
            </a:r>
          </a:p>
        </p:txBody>
      </p:sp>
      <p:sp>
        <p:nvSpPr>
          <p:cNvPr id="19" name="TextBox 18"/>
          <p:cNvSpPr txBox="1"/>
          <p:nvPr/>
        </p:nvSpPr>
        <p:spPr>
          <a:xfrm>
            <a:off x="962025" y="2926556"/>
            <a:ext cx="1181100" cy="161925"/>
          </a:xfrm>
          <a:prstGeom prst="rect">
            <a:avLst/>
          </a:prstGeom>
          <a:noFill/>
        </p:spPr>
        <p:txBody>
          <a:bodyPr wrap="square" lIns="0" rIns="0" tIns="0" bIns="0" anchor="t">
            <a:spAutoFit/>
          </a:bodyPr>
          <a:lstStyle/>
          <a:p>
            <a:pPr algn="l"/>
            <a:r>
              <a:rPr b="1" sz="1050" i="0" u="none">
                <a:solidFill>
                  <a:srgbClr val="FFFFFF"/>
                </a:solidFill>
                <a:latin typeface="Inter"/>
              </a:rPr>
              <a:t>Cai Trị Thực Dân</a:t>
            </a:r>
          </a:p>
        </p:txBody>
      </p:sp>
      <p:sp>
        <p:nvSpPr>
          <p:cNvPr id="20" name="TextBox 19"/>
          <p:cNvSpPr txBox="1"/>
          <p:nvPr/>
        </p:nvSpPr>
        <p:spPr>
          <a:xfrm>
            <a:off x="847725" y="3240881"/>
            <a:ext cx="3983896" cy="219075"/>
          </a:xfrm>
          <a:prstGeom prst="rect">
            <a:avLst/>
          </a:prstGeom>
          <a:noFill/>
        </p:spPr>
        <p:txBody>
          <a:bodyPr wrap="none" lIns="0" rIns="0" tIns="0" bIns="0" anchor="t">
            <a:spAutoFit/>
          </a:bodyPr>
          <a:lstStyle/>
          <a:p>
            <a:pPr algn="l"/>
            <a:r>
              <a:rPr b="1" sz="1350" i="0" u="none">
                <a:solidFill>
                  <a:srgbClr val="1C1917"/>
                </a:solidFill>
                <a:latin typeface="Merriweather"/>
              </a:rPr>
              <a:t>Chính Sách Của Pháp</a:t>
            </a:r>
          </a:p>
        </p:txBody>
      </p:sp>
      <p:sp>
        <p:nvSpPr>
          <p:cNvPr id="21" name="TextBox 20"/>
          <p:cNvSpPr txBox="1"/>
          <p:nvPr/>
        </p:nvSpPr>
        <p:spPr>
          <a:xfrm>
            <a:off x="4692699" y="3359943"/>
            <a:ext cx="1181100" cy="161925"/>
          </a:xfrm>
          <a:prstGeom prst="rect">
            <a:avLst/>
          </a:prstGeom>
          <a:noFill/>
        </p:spPr>
        <p:txBody>
          <a:bodyPr wrap="square" lIns="0" rIns="0" tIns="0" bIns="0" anchor="t">
            <a:spAutoFit/>
          </a:bodyPr>
          <a:lstStyle/>
          <a:p>
            <a:pPr algn="l"/>
            <a:r>
              <a:rPr b="1" sz="1050" i="0" u="none">
                <a:solidFill>
                  <a:srgbClr val="FFFFFF"/>
                </a:solidFill>
                <a:latin typeface="Inter"/>
              </a:rPr>
              <a:t>Phân Hóa Xã Hội</a:t>
            </a:r>
          </a:p>
        </p:txBody>
      </p:sp>
      <p:sp>
        <p:nvSpPr>
          <p:cNvPr id="22" name="TextBox 21"/>
          <p:cNvSpPr txBox="1"/>
          <p:nvPr/>
        </p:nvSpPr>
        <p:spPr>
          <a:xfrm>
            <a:off x="4578399" y="3674268"/>
            <a:ext cx="3983896" cy="219075"/>
          </a:xfrm>
          <a:prstGeom prst="rect">
            <a:avLst/>
          </a:prstGeom>
          <a:noFill/>
        </p:spPr>
        <p:txBody>
          <a:bodyPr wrap="none" lIns="0" rIns="0" tIns="0" bIns="0" anchor="t">
            <a:spAutoFit/>
          </a:bodyPr>
          <a:lstStyle/>
          <a:p>
            <a:pPr algn="l"/>
            <a:r>
              <a:rPr b="1" sz="1350" i="0" u="none">
                <a:solidFill>
                  <a:srgbClr val="1C1917"/>
                </a:solidFill>
                <a:latin typeface="Merriweather"/>
              </a:rPr>
              <a:t>Mâu Thuẫn Cơ Bản</a:t>
            </a:r>
          </a:p>
        </p:txBody>
      </p:sp>
      <p:sp>
        <p:nvSpPr>
          <p:cNvPr id="23" name="TextBox 22"/>
          <p:cNvSpPr txBox="1"/>
          <p:nvPr/>
        </p:nvSpPr>
        <p:spPr>
          <a:xfrm>
            <a:off x="4578399" y="3969543"/>
            <a:ext cx="3794187" cy="200025"/>
          </a:xfrm>
          <a:prstGeom prst="rect">
            <a:avLst/>
          </a:prstGeom>
          <a:noFill/>
        </p:spPr>
        <p:txBody>
          <a:bodyPr wrap="none" lIns="0" rIns="0" tIns="0" bIns="0" anchor="t">
            <a:spAutoFit/>
          </a:bodyPr>
          <a:lstStyle/>
          <a:p>
            <a:pPr algn="l">
              <a:lnSpc>
                <a:spcPts val="1575"/>
              </a:lnSpc>
            </a:pPr>
            <a:r>
              <a:rPr b="0" sz="1050" i="0" u="none">
                <a:solidFill>
                  <a:srgbClr val="292524"/>
                </a:solidFill>
                <a:latin typeface="Inter"/>
              </a:rPr>
              <a:t>Xã hội thuộc địa nửa phong kiến với 5 giai tầng.</a:t>
            </a:r>
          </a:p>
        </p:txBody>
      </p:sp>
      <p:sp>
        <p:nvSpPr>
          <p:cNvPr id="24" name="TextBox 23"/>
          <p:cNvSpPr txBox="1"/>
          <p:nvPr/>
        </p:nvSpPr>
        <p:spPr>
          <a:xfrm>
            <a:off x="4578399" y="4245768"/>
            <a:ext cx="3130599" cy="400050"/>
          </a:xfrm>
          <a:prstGeom prst="rect">
            <a:avLst/>
          </a:prstGeom>
          <a:noFill/>
        </p:spPr>
        <p:txBody>
          <a:bodyPr wrap="square" lIns="0" rIns="0" tIns="0" bIns="0" anchor="t">
            <a:spAutoFit/>
          </a:bodyPr>
          <a:lstStyle/>
          <a:p>
            <a:pPr algn="l">
              <a:lnSpc>
                <a:spcPts val="1575"/>
              </a:lnSpc>
            </a:pPr>
            <a:r>
              <a:rPr b="1" sz="1050" i="0" u="none">
                <a:solidFill>
                  <a:srgbClr val="8B1523"/>
                </a:solidFill>
                <a:latin typeface="Inter"/>
              </a:rPr>
              <a:t>Mâu thuẫn chủ yếu: Toàn thể dân tộc Việt Nam &gt;&lt; Thực dân Pháp &amp; phong kiến phản động.</a:t>
            </a:r>
          </a:p>
        </p:txBody>
      </p:sp>
      <p:sp>
        <p:nvSpPr>
          <p:cNvPr id="25" name="TextBox 24"/>
          <p:cNvSpPr txBox="1"/>
          <p:nvPr/>
        </p:nvSpPr>
        <p:spPr>
          <a:xfrm>
            <a:off x="8423374" y="3055143"/>
            <a:ext cx="1476375" cy="161925"/>
          </a:xfrm>
          <a:prstGeom prst="rect">
            <a:avLst/>
          </a:prstGeom>
          <a:noFill/>
        </p:spPr>
        <p:txBody>
          <a:bodyPr wrap="square" lIns="0" rIns="0" tIns="0" bIns="0" anchor="t">
            <a:spAutoFit/>
          </a:bodyPr>
          <a:lstStyle/>
          <a:p>
            <a:pPr algn="l"/>
            <a:r>
              <a:rPr b="1" sz="1050" i="0" u="none">
                <a:solidFill>
                  <a:srgbClr val="FFFFFF"/>
                </a:solidFill>
                <a:latin typeface="Inter"/>
              </a:rPr>
              <a:t>Khủng Hoảng Bế Tắc</a:t>
            </a:r>
          </a:p>
        </p:txBody>
      </p:sp>
      <p:sp>
        <p:nvSpPr>
          <p:cNvPr id="26" name="TextBox 25"/>
          <p:cNvSpPr txBox="1"/>
          <p:nvPr/>
        </p:nvSpPr>
        <p:spPr>
          <a:xfrm>
            <a:off x="8309074" y="3369468"/>
            <a:ext cx="3882925" cy="219075"/>
          </a:xfrm>
          <a:prstGeom prst="rect">
            <a:avLst/>
          </a:prstGeom>
          <a:noFill/>
        </p:spPr>
        <p:txBody>
          <a:bodyPr wrap="none" lIns="0" rIns="0" tIns="0" bIns="0" anchor="t">
            <a:spAutoFit/>
          </a:bodyPr>
          <a:lstStyle/>
          <a:p>
            <a:pPr algn="l"/>
            <a:r>
              <a:rPr b="1" sz="1350" i="0" u="none">
                <a:solidFill>
                  <a:srgbClr val="1C1917"/>
                </a:solidFill>
                <a:latin typeface="Merriweather"/>
              </a:rPr>
              <a:t>Thất Bại Tiền Bối</a:t>
            </a:r>
          </a:p>
        </p:txBody>
      </p:sp>
      <p:sp>
        <p:nvSpPr>
          <p:cNvPr id="27" name="TextBox 26"/>
          <p:cNvSpPr txBox="1"/>
          <p:nvPr/>
        </p:nvSpPr>
        <p:spPr>
          <a:xfrm>
            <a:off x="923925" y="3536156"/>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28" name="TextBox 27"/>
          <p:cNvSpPr txBox="1"/>
          <p:nvPr/>
        </p:nvSpPr>
        <p:spPr>
          <a:xfrm>
            <a:off x="1019175" y="3536156"/>
            <a:ext cx="2959149" cy="514350"/>
          </a:xfrm>
          <a:prstGeom prst="rect">
            <a:avLst/>
          </a:prstGeom>
          <a:noFill/>
        </p:spPr>
        <p:txBody>
          <a:bodyPr wrap="square" lIns="95250" rIns="0" tIns="0" bIns="0" anchor="t">
            <a:spAutoFit/>
          </a:bodyPr>
          <a:lstStyle/>
          <a:p>
            <a:pPr algn="l">
              <a:lnSpc>
                <a:spcPts val="2025"/>
              </a:lnSpc>
            </a:pPr>
            <a:r>
              <a:rPr b="1" sz="1350" i="0" u="none">
                <a:solidFill>
                  <a:srgbClr val="292524"/>
                </a:solidFill>
                <a:latin typeface="Inter"/>
              </a:rPr>
              <a:t>Chính trị:</a:t>
            </a:r>
            <a:r>
              <a:rPr b="0" sz="1350" i="0" u="none">
                <a:solidFill>
                  <a:srgbClr val="292524"/>
                </a:solidFill>
                <a:latin typeface="Inter"/>
              </a:rPr>
              <a:t> Chuyên chế tàn bạo, chia để trị.</a:t>
            </a:r>
          </a:p>
        </p:txBody>
      </p:sp>
      <p:sp>
        <p:nvSpPr>
          <p:cNvPr id="29" name="TextBox 28"/>
          <p:cNvSpPr txBox="1"/>
          <p:nvPr/>
        </p:nvSpPr>
        <p:spPr>
          <a:xfrm>
            <a:off x="923925" y="4050506"/>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30" name="TextBox 29"/>
          <p:cNvSpPr txBox="1"/>
          <p:nvPr/>
        </p:nvSpPr>
        <p:spPr>
          <a:xfrm>
            <a:off x="1019175" y="4050506"/>
            <a:ext cx="2959149" cy="514350"/>
          </a:xfrm>
          <a:prstGeom prst="rect">
            <a:avLst/>
          </a:prstGeom>
          <a:noFill/>
        </p:spPr>
        <p:txBody>
          <a:bodyPr wrap="square" lIns="95250" rIns="0" tIns="0" bIns="0" anchor="t">
            <a:spAutoFit/>
          </a:bodyPr>
          <a:lstStyle/>
          <a:p>
            <a:pPr algn="l">
              <a:lnSpc>
                <a:spcPts val="2025"/>
              </a:lnSpc>
            </a:pPr>
            <a:r>
              <a:rPr b="1" sz="1350" i="0" u="none">
                <a:solidFill>
                  <a:srgbClr val="292524"/>
                </a:solidFill>
                <a:latin typeface="Inter"/>
              </a:rPr>
              <a:t>Kinh tế:</a:t>
            </a:r>
            <a:r>
              <a:rPr b="0" sz="1350" i="0" u="none">
                <a:solidFill>
                  <a:srgbClr val="292524"/>
                </a:solidFill>
                <a:latin typeface="Inter"/>
              </a:rPr>
              <a:t> Khai thác thuộc địa, bóc lột.</a:t>
            </a:r>
          </a:p>
        </p:txBody>
      </p:sp>
      <p:sp>
        <p:nvSpPr>
          <p:cNvPr id="31" name="TextBox 30"/>
          <p:cNvSpPr txBox="1"/>
          <p:nvPr/>
        </p:nvSpPr>
        <p:spPr>
          <a:xfrm>
            <a:off x="923925" y="4564856"/>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32" name="TextBox 31"/>
          <p:cNvSpPr txBox="1"/>
          <p:nvPr/>
        </p:nvSpPr>
        <p:spPr>
          <a:xfrm>
            <a:off x="1019175" y="4564856"/>
            <a:ext cx="2959149" cy="514350"/>
          </a:xfrm>
          <a:prstGeom prst="rect">
            <a:avLst/>
          </a:prstGeom>
          <a:noFill/>
        </p:spPr>
        <p:txBody>
          <a:bodyPr wrap="square" lIns="95250" rIns="0" tIns="0" bIns="0" anchor="t">
            <a:spAutoFit/>
          </a:bodyPr>
          <a:lstStyle/>
          <a:p>
            <a:pPr algn="l">
              <a:lnSpc>
                <a:spcPts val="2025"/>
              </a:lnSpc>
            </a:pPr>
            <a:r>
              <a:rPr b="1" sz="1350" i="0" u="none">
                <a:solidFill>
                  <a:srgbClr val="292524"/>
                </a:solidFill>
                <a:latin typeface="Inter"/>
              </a:rPr>
              <a:t>Văn hóa:</a:t>
            </a:r>
            <a:r>
              <a:rPr b="0" sz="1350" i="0" u="none">
                <a:solidFill>
                  <a:srgbClr val="292524"/>
                </a:solidFill>
                <a:latin typeface="Inter"/>
              </a:rPr>
              <a:t> Ngu dân, đầu độc rượu cồn.</a:t>
            </a:r>
          </a:p>
        </p:txBody>
      </p:sp>
      <p:sp>
        <p:nvSpPr>
          <p:cNvPr id="33" name="TextBox 32"/>
          <p:cNvSpPr txBox="1"/>
          <p:nvPr/>
        </p:nvSpPr>
        <p:spPr>
          <a:xfrm>
            <a:off x="8385274" y="3664743"/>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34" name="TextBox 33"/>
          <p:cNvSpPr txBox="1"/>
          <p:nvPr/>
        </p:nvSpPr>
        <p:spPr>
          <a:xfrm>
            <a:off x="8480524" y="3664743"/>
            <a:ext cx="2959149" cy="514350"/>
          </a:xfrm>
          <a:prstGeom prst="rect">
            <a:avLst/>
          </a:prstGeom>
          <a:noFill/>
        </p:spPr>
        <p:txBody>
          <a:bodyPr wrap="square" lIns="95250" rIns="0" tIns="0" bIns="0" anchor="t">
            <a:spAutoFit/>
          </a:bodyPr>
          <a:lstStyle/>
          <a:p>
            <a:pPr algn="l">
              <a:lnSpc>
                <a:spcPts val="2025"/>
              </a:lnSpc>
            </a:pPr>
            <a:r>
              <a:rPr b="1" sz="1350" i="0" u="none">
                <a:solidFill>
                  <a:srgbClr val="292524"/>
                </a:solidFill>
                <a:latin typeface="Inter"/>
              </a:rPr>
              <a:t>Phong kiến:</a:t>
            </a:r>
            <a:r>
              <a:rPr b="0" sz="1350" i="0" u="none">
                <a:solidFill>
                  <a:srgbClr val="292524"/>
                </a:solidFill>
                <a:latin typeface="Inter"/>
              </a:rPr>
              <a:t> Cần Vương, Yên Thế thất bại.</a:t>
            </a:r>
          </a:p>
        </p:txBody>
      </p:sp>
      <p:sp>
        <p:nvSpPr>
          <p:cNvPr id="35" name="TextBox 34"/>
          <p:cNvSpPr txBox="1"/>
          <p:nvPr/>
        </p:nvSpPr>
        <p:spPr>
          <a:xfrm>
            <a:off x="8385274" y="4179093"/>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36" name="TextBox 35"/>
          <p:cNvSpPr txBox="1"/>
          <p:nvPr/>
        </p:nvSpPr>
        <p:spPr>
          <a:xfrm>
            <a:off x="8480524" y="4179093"/>
            <a:ext cx="2959149" cy="771525"/>
          </a:xfrm>
          <a:prstGeom prst="rect">
            <a:avLst/>
          </a:prstGeom>
          <a:noFill/>
        </p:spPr>
        <p:txBody>
          <a:bodyPr wrap="square" lIns="95250" rIns="0" tIns="0" bIns="0" anchor="t">
            <a:spAutoFit/>
          </a:bodyPr>
          <a:lstStyle/>
          <a:p>
            <a:pPr algn="l">
              <a:lnSpc>
                <a:spcPts val="2025"/>
              </a:lnSpc>
            </a:pPr>
            <a:r>
              <a:rPr b="1" sz="1350" i="0" u="none">
                <a:solidFill>
                  <a:srgbClr val="292524"/>
                </a:solidFill>
                <a:latin typeface="Inter"/>
              </a:rPr>
              <a:t>Dân chủ tư sản:</a:t>
            </a:r>
            <a:r>
              <a:rPr b="0" sz="1350" i="0" u="none">
                <a:solidFill>
                  <a:srgbClr val="292524"/>
                </a:solidFill>
                <a:latin typeface="Inter"/>
              </a:rPr>
              <a:t> Phan Bội Châu, Phan Châu Trinh, VN Quốc dân đảng bế tắc.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1862137" y="1566862"/>
            <a:ext cx="8467725" cy="923925"/>
          </a:xfrm>
          <a:prstGeom prst="roundRect">
            <a:avLst>
              <a:gd name="adj" fmla="val 8247"/>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62137" y="2624137"/>
            <a:ext cx="8467725" cy="923925"/>
          </a:xfrm>
          <a:prstGeom prst="roundRect">
            <a:avLst>
              <a:gd name="adj" fmla="val 8247"/>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62137" y="3681412"/>
            <a:ext cx="8467725" cy="923925"/>
          </a:xfrm>
          <a:prstGeom prst="roundRect">
            <a:avLst>
              <a:gd name="adj" fmla="val 8247"/>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62137" y="3538537"/>
            <a:ext cx="846772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62137" y="2624137"/>
            <a:ext cx="846772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62137" y="2624137"/>
            <a:ext cx="38100" cy="9239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20337" y="2624137"/>
            <a:ext cx="9525" cy="9239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2137" y="4595812"/>
            <a:ext cx="846772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62137" y="3681412"/>
            <a:ext cx="846772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62137" y="3681412"/>
            <a:ext cx="38100" cy="923925"/>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320337" y="3681412"/>
            <a:ext cx="9525" cy="9239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5082926" y="7419082"/>
            <a:ext cx="2025997" cy="3006030"/>
          </a:xfrm>
          <a:prstGeom prst="rect">
            <a:avLst/>
          </a:prstGeom>
        </p:spPr>
      </p:pic>
      <p:pic>
        <p:nvPicPr>
          <p:cNvPr id="14" name="Picture 13" descr="image.png"/>
          <p:cNvPicPr>
            <a:picLocks noChangeAspect="1"/>
          </p:cNvPicPr>
          <p:nvPr/>
        </p:nvPicPr>
        <p:blipFill>
          <a:blip r:embed="rId3"/>
          <a:stretch>
            <a:fillRect/>
          </a:stretch>
        </p:blipFill>
        <p:spPr>
          <a:xfrm>
            <a:off x="5092451" y="7428607"/>
            <a:ext cx="2006947" cy="2986980"/>
          </a:xfrm>
          <a:prstGeom prst="rect">
            <a:avLst/>
          </a:prstGeom>
        </p:spPr>
      </p:pic>
      <p:sp>
        <p:nvSpPr>
          <p:cNvPr id="15" name="TextBox 14"/>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CHUẨN BỊ LỰC LƯỢNG</a:t>
            </a:r>
          </a:p>
        </p:txBody>
      </p:sp>
      <p:sp>
        <p:nvSpPr>
          <p:cNvPr id="16" name="TextBox 15"/>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Quá Trình Chuẩn Bị Của Nguyễn Ái Quốc (1911 - 1930)</a:t>
            </a:r>
          </a:p>
        </p:txBody>
      </p:sp>
      <p:sp>
        <p:nvSpPr>
          <p:cNvPr id="17" name="TextBox 16"/>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Chuẩn bị toàn diện về tư tưởng, chính trị và tổ chức</a:t>
            </a:r>
          </a:p>
        </p:txBody>
      </p:sp>
      <p:sp>
        <p:nvSpPr>
          <p:cNvPr id="18" name="TextBox 17"/>
          <p:cNvSpPr txBox="1"/>
          <p:nvPr/>
        </p:nvSpPr>
        <p:spPr>
          <a:xfrm>
            <a:off x="2100262" y="1804987"/>
            <a:ext cx="10091737" cy="209550"/>
          </a:xfrm>
          <a:prstGeom prst="rect">
            <a:avLst/>
          </a:prstGeom>
          <a:noFill/>
        </p:spPr>
        <p:txBody>
          <a:bodyPr wrap="none" lIns="0" rIns="0" tIns="0" bIns="0" anchor="t">
            <a:spAutoFit/>
          </a:bodyPr>
          <a:lstStyle/>
          <a:p>
            <a:pPr algn="l"/>
            <a:r>
              <a:rPr b="1" sz="1275" i="0" u="none">
                <a:solidFill>
                  <a:srgbClr val="8B1523"/>
                </a:solidFill>
                <a:latin typeface="Merriweather"/>
              </a:rPr>
              <a:t>1. Tư Tưởng (1921 - 1924)</a:t>
            </a:r>
          </a:p>
        </p:txBody>
      </p:sp>
      <p:sp>
        <p:nvSpPr>
          <p:cNvPr id="19" name="TextBox 18"/>
          <p:cNvSpPr txBox="1"/>
          <p:nvPr/>
        </p:nvSpPr>
        <p:spPr>
          <a:xfrm>
            <a:off x="2100262" y="2052637"/>
            <a:ext cx="9989343" cy="200025"/>
          </a:xfrm>
          <a:prstGeom prst="rect">
            <a:avLst/>
          </a:prstGeom>
          <a:noFill/>
        </p:spPr>
        <p:txBody>
          <a:bodyPr wrap="none" lIns="0" rIns="0" tIns="0" bIns="0" anchor="t">
            <a:spAutoFit/>
          </a:bodyPr>
          <a:lstStyle/>
          <a:p>
            <a:pPr algn="l">
              <a:lnSpc>
                <a:spcPts val="1575"/>
              </a:lnSpc>
            </a:pPr>
            <a:r>
              <a:rPr b="0" sz="1050" i="0" u="none">
                <a:solidFill>
                  <a:srgbClr val="292524"/>
                </a:solidFill>
                <a:latin typeface="Inter"/>
              </a:rPr>
              <a:t>Thành lập Hội Liên hiệp thuộc địa, ra báo </a:t>
            </a:r>
            <a:r>
              <a:rPr b="0" sz="1050" i="1" u="none">
                <a:solidFill>
                  <a:srgbClr val="292524"/>
                </a:solidFill>
                <a:latin typeface="Inter"/>
              </a:rPr>
              <a:t>Le Paria</a:t>
            </a:r>
            <a:r>
              <a:rPr b="0" sz="1050" i="0" u="none">
                <a:solidFill>
                  <a:srgbClr val="292524"/>
                </a:solidFill>
                <a:latin typeface="Inter"/>
              </a:rPr>
              <a:t>, viết bài truyền bá chủ nghĩa Mác - Lênin vào thuộc địa.</a:t>
            </a:r>
          </a:p>
        </p:txBody>
      </p:sp>
      <p:sp>
        <p:nvSpPr>
          <p:cNvPr id="20" name="TextBox 19"/>
          <p:cNvSpPr txBox="1"/>
          <p:nvPr/>
        </p:nvSpPr>
        <p:spPr>
          <a:xfrm>
            <a:off x="2128837" y="2862262"/>
            <a:ext cx="10063162" cy="209550"/>
          </a:xfrm>
          <a:prstGeom prst="rect">
            <a:avLst/>
          </a:prstGeom>
          <a:noFill/>
        </p:spPr>
        <p:txBody>
          <a:bodyPr wrap="none" lIns="0" rIns="0" tIns="0" bIns="0" anchor="t">
            <a:spAutoFit/>
          </a:bodyPr>
          <a:lstStyle/>
          <a:p>
            <a:pPr algn="l"/>
            <a:r>
              <a:rPr b="1" sz="1275" i="0" u="none">
                <a:solidFill>
                  <a:srgbClr val="B45309"/>
                </a:solidFill>
                <a:latin typeface="Merriweather"/>
              </a:rPr>
              <a:t>2. Chính Trị (1925 - 1927)</a:t>
            </a:r>
          </a:p>
        </p:txBody>
      </p:sp>
      <p:sp>
        <p:nvSpPr>
          <p:cNvPr id="21" name="TextBox 20"/>
          <p:cNvSpPr txBox="1"/>
          <p:nvPr/>
        </p:nvSpPr>
        <p:spPr>
          <a:xfrm>
            <a:off x="2128837" y="3109912"/>
            <a:ext cx="9953625" cy="200025"/>
          </a:xfrm>
          <a:prstGeom prst="rect">
            <a:avLst/>
          </a:prstGeom>
          <a:noFill/>
        </p:spPr>
        <p:txBody>
          <a:bodyPr wrap="none" lIns="0" rIns="0" tIns="0" bIns="0" anchor="t">
            <a:spAutoFit/>
          </a:bodyPr>
          <a:lstStyle/>
          <a:p>
            <a:pPr algn="l">
              <a:lnSpc>
                <a:spcPts val="1575"/>
              </a:lnSpc>
            </a:pPr>
            <a:r>
              <a:rPr b="0" sz="1050" i="0" u="none">
                <a:solidFill>
                  <a:srgbClr val="292524"/>
                </a:solidFill>
                <a:latin typeface="Inter"/>
              </a:rPr>
              <a:t>Xuất bản </a:t>
            </a:r>
            <a:r>
              <a:rPr b="0" sz="1050" i="1" u="none">
                <a:solidFill>
                  <a:srgbClr val="292524"/>
                </a:solidFill>
                <a:latin typeface="Inter"/>
              </a:rPr>
              <a:t>Đường Kách mệnh</a:t>
            </a:r>
            <a:r>
              <a:rPr b="0" sz="1050" i="0" u="none">
                <a:solidFill>
                  <a:srgbClr val="292524"/>
                </a:solidFill>
                <a:latin typeface="Inter"/>
              </a:rPr>
              <a:t> (1927). Khẳng định: "Đảng muốn vững phải có chủ nghĩa làm cốt", "Công nông là gốc cách mệnh".</a:t>
            </a:r>
          </a:p>
        </p:txBody>
      </p:sp>
      <p:sp>
        <p:nvSpPr>
          <p:cNvPr id="22" name="TextBox 21"/>
          <p:cNvSpPr txBox="1"/>
          <p:nvPr/>
        </p:nvSpPr>
        <p:spPr>
          <a:xfrm>
            <a:off x="2128837" y="3919537"/>
            <a:ext cx="10063162" cy="209550"/>
          </a:xfrm>
          <a:prstGeom prst="rect">
            <a:avLst/>
          </a:prstGeom>
          <a:noFill/>
        </p:spPr>
        <p:txBody>
          <a:bodyPr wrap="none" lIns="0" rIns="0" tIns="0" bIns="0" anchor="t">
            <a:spAutoFit/>
          </a:bodyPr>
          <a:lstStyle/>
          <a:p>
            <a:pPr algn="l"/>
            <a:r>
              <a:rPr b="1" sz="1275" i="0" u="none">
                <a:solidFill>
                  <a:srgbClr val="8B1523"/>
                </a:solidFill>
                <a:latin typeface="Merriweather"/>
              </a:rPr>
              <a:t>3. Tổ Chức (1925 - 1929)</a:t>
            </a:r>
          </a:p>
        </p:txBody>
      </p:sp>
      <p:sp>
        <p:nvSpPr>
          <p:cNvPr id="23" name="TextBox 22"/>
          <p:cNvSpPr txBox="1"/>
          <p:nvPr/>
        </p:nvSpPr>
        <p:spPr>
          <a:xfrm>
            <a:off x="2128837" y="4167187"/>
            <a:ext cx="9953625" cy="200025"/>
          </a:xfrm>
          <a:prstGeom prst="rect">
            <a:avLst/>
          </a:prstGeom>
          <a:noFill/>
        </p:spPr>
        <p:txBody>
          <a:bodyPr wrap="none" lIns="0" rIns="0" tIns="0" bIns="0" anchor="t">
            <a:spAutoFit/>
          </a:bodyPr>
          <a:lstStyle/>
          <a:p>
            <a:pPr algn="l">
              <a:lnSpc>
                <a:spcPts val="1575"/>
              </a:lnSpc>
            </a:pPr>
            <a:r>
              <a:rPr b="0" sz="1050" i="0" u="none">
                <a:solidFill>
                  <a:srgbClr val="292524"/>
                </a:solidFill>
                <a:latin typeface="Inter"/>
              </a:rPr>
              <a:t>Lập Hội VN Cách mạng Thanh niên (1925), phong trào "Vô sản hóa" (1928) -&gt; Thúc đẩy ra đời 3 tổ chức cộng sản năm 1929.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4338637"/>
            <a:ext cx="10972800" cy="538162"/>
          </a:xfrm>
          <a:prstGeom prst="roundRect">
            <a:avLst>
              <a:gd name="adj" fmla="val 14159"/>
            </a:avLst>
          </a:prstGeom>
          <a:solidFill>
            <a:srgbClr val="FEFCE8"/>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090862"/>
            <a:ext cx="1896814" cy="981075"/>
          </a:xfrm>
          <a:prstGeom prst="roundRect">
            <a:avLst>
              <a:gd name="adj" fmla="val 776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830264" y="3090862"/>
            <a:ext cx="1896814" cy="981075"/>
          </a:xfrm>
          <a:prstGeom prst="roundRect">
            <a:avLst>
              <a:gd name="adj" fmla="val 776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50928" y="3090862"/>
            <a:ext cx="1896814" cy="981075"/>
          </a:xfrm>
          <a:prstGeom prst="roundRect">
            <a:avLst>
              <a:gd name="adj" fmla="val 776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71593" y="3090862"/>
            <a:ext cx="1896814" cy="981075"/>
          </a:xfrm>
          <a:prstGeom prst="roundRect">
            <a:avLst>
              <a:gd name="adj" fmla="val 776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492257" y="3090862"/>
            <a:ext cx="2090291" cy="981075"/>
          </a:xfrm>
          <a:prstGeom prst="roundRect">
            <a:avLst>
              <a:gd name="adj" fmla="val 7766"/>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2257" y="4062412"/>
            <a:ext cx="2090291"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492257" y="3090862"/>
            <a:ext cx="2090291"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492257" y="3090862"/>
            <a:ext cx="38100" cy="981075"/>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73023" y="3090862"/>
            <a:ext cx="9525" cy="98107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2620714" y="3505200"/>
            <a:ext cx="95250" cy="152400"/>
          </a:xfrm>
          <a:prstGeom prst="rect">
            <a:avLst/>
          </a:prstGeom>
        </p:spPr>
      </p:pic>
      <p:pic>
        <p:nvPicPr>
          <p:cNvPr id="13" name="Picture 12" descr="image.png"/>
          <p:cNvPicPr>
            <a:picLocks noChangeAspect="1"/>
          </p:cNvPicPr>
          <p:nvPr/>
        </p:nvPicPr>
        <p:blipFill>
          <a:blip r:embed="rId2"/>
          <a:stretch>
            <a:fillRect/>
          </a:stretch>
        </p:blipFill>
        <p:spPr>
          <a:xfrm>
            <a:off x="4841378" y="3505200"/>
            <a:ext cx="95250" cy="152400"/>
          </a:xfrm>
          <a:prstGeom prst="rect">
            <a:avLst/>
          </a:prstGeom>
        </p:spPr>
      </p:pic>
      <p:pic>
        <p:nvPicPr>
          <p:cNvPr id="14" name="Picture 13" descr="image.png"/>
          <p:cNvPicPr>
            <a:picLocks noChangeAspect="1"/>
          </p:cNvPicPr>
          <p:nvPr/>
        </p:nvPicPr>
        <p:blipFill>
          <a:blip r:embed="rId2"/>
          <a:stretch>
            <a:fillRect/>
          </a:stretch>
        </p:blipFill>
        <p:spPr>
          <a:xfrm>
            <a:off x="7062043" y="3505200"/>
            <a:ext cx="95250" cy="152400"/>
          </a:xfrm>
          <a:prstGeom prst="rect">
            <a:avLst/>
          </a:prstGeom>
        </p:spPr>
      </p:pic>
      <p:pic>
        <p:nvPicPr>
          <p:cNvPr id="15" name="Picture 14" descr="image.png"/>
          <p:cNvPicPr>
            <a:picLocks noChangeAspect="1"/>
          </p:cNvPicPr>
          <p:nvPr/>
        </p:nvPicPr>
        <p:blipFill>
          <a:blip r:embed="rId3"/>
          <a:stretch>
            <a:fillRect/>
          </a:stretch>
        </p:blipFill>
        <p:spPr>
          <a:xfrm>
            <a:off x="9282707" y="3505200"/>
            <a:ext cx="95250" cy="152400"/>
          </a:xfrm>
          <a:prstGeom prst="rect">
            <a:avLst/>
          </a:prstGeom>
        </p:spPr>
      </p:pic>
      <p:sp>
        <p:nvSpPr>
          <p:cNvPr id="16" name="TextBox 15"/>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TIẾN TRÌNH LỊCH SỬ</a:t>
            </a:r>
          </a:p>
        </p:txBody>
      </p:sp>
      <p:sp>
        <p:nvSpPr>
          <p:cNvPr id="17" name="TextBox 16"/>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Hành Trình 10 Năm Hội Tụ Ba Yếu Tố (1920 - 1930)</a:t>
            </a:r>
          </a:p>
        </p:txBody>
      </p:sp>
      <p:sp>
        <p:nvSpPr>
          <p:cNvPr id="18" name="TextBox 17"/>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Các cột mốc phát triển chất lượng từ lý luận đến tổ chức Đảng</a:t>
            </a:r>
          </a:p>
        </p:txBody>
      </p:sp>
      <p:sp>
        <p:nvSpPr>
          <p:cNvPr id="19" name="TextBox 18"/>
          <p:cNvSpPr txBox="1"/>
          <p:nvPr/>
        </p:nvSpPr>
        <p:spPr>
          <a:xfrm>
            <a:off x="-232171" y="4500562"/>
            <a:ext cx="12656343" cy="214312"/>
          </a:xfrm>
          <a:prstGeom prst="rect">
            <a:avLst/>
          </a:prstGeom>
          <a:noFill/>
        </p:spPr>
        <p:txBody>
          <a:bodyPr wrap="none" lIns="0" rIns="0" tIns="0" bIns="0" anchor="t">
            <a:spAutoFit/>
          </a:bodyPr>
          <a:lstStyle/>
          <a:p>
            <a:pPr algn="ctr">
              <a:lnSpc>
                <a:spcPts val="1687"/>
              </a:lnSpc>
            </a:pPr>
            <a:r>
              <a:rPr b="1" sz="1125" i="0" u="none">
                <a:solidFill>
                  <a:srgbClr val="B45309"/>
                </a:solidFill>
                <a:latin typeface="Inter"/>
              </a:rPr>
              <a:t>Chốt Lý Luận:</a:t>
            </a:r>
            <a:r>
              <a:rPr b="0" sz="1125" i="0" u="none">
                <a:solidFill>
                  <a:srgbClr val="B45309"/>
                </a:solidFill>
                <a:latin typeface="Inter"/>
              </a:rPr>
              <a:t> "Chủ nghĩa Mác-Lênin kết hợp với phong trào công nhân và phong trào yêu nước đã dẫn tới việc thành lập Đảng" (Hồ Chí Minh).</a:t>
            </a:r>
          </a:p>
        </p:txBody>
      </p:sp>
      <p:sp>
        <p:nvSpPr>
          <p:cNvPr id="20" name="TextBox 19"/>
          <p:cNvSpPr txBox="1"/>
          <p:nvPr/>
        </p:nvSpPr>
        <p:spPr>
          <a:xfrm>
            <a:off x="527279" y="3252787"/>
            <a:ext cx="2061455" cy="228600"/>
          </a:xfrm>
          <a:prstGeom prst="rect">
            <a:avLst/>
          </a:prstGeom>
          <a:noFill/>
        </p:spPr>
        <p:txBody>
          <a:bodyPr wrap="none" lIns="0" rIns="0" tIns="0" bIns="0" anchor="t">
            <a:spAutoFit/>
          </a:bodyPr>
          <a:lstStyle/>
          <a:p>
            <a:pPr algn="ctr"/>
            <a:r>
              <a:rPr b="1" sz="1500" i="0" u="none">
                <a:solidFill>
                  <a:srgbClr val="8B1523"/>
                </a:solidFill>
                <a:latin typeface="Inter"/>
              </a:rPr>
              <a:t>1920</a:t>
            </a:r>
          </a:p>
        </p:txBody>
      </p:sp>
      <p:sp>
        <p:nvSpPr>
          <p:cNvPr id="21" name="TextBox 20"/>
          <p:cNvSpPr txBox="1"/>
          <p:nvPr/>
        </p:nvSpPr>
        <p:spPr>
          <a:xfrm>
            <a:off x="527279" y="3538537"/>
            <a:ext cx="2061455" cy="371475"/>
          </a:xfrm>
          <a:prstGeom prst="rect">
            <a:avLst/>
          </a:prstGeom>
          <a:noFill/>
        </p:spPr>
        <p:txBody>
          <a:bodyPr wrap="square" lIns="0" rIns="0" tIns="0" bIns="0" anchor="t">
            <a:spAutoFit/>
          </a:bodyPr>
          <a:lstStyle/>
          <a:p>
            <a:pPr algn="ctr">
              <a:lnSpc>
                <a:spcPts val="1462"/>
              </a:lnSpc>
            </a:pPr>
            <a:r>
              <a:rPr b="0" sz="975" i="0" u="none">
                <a:solidFill>
                  <a:srgbClr val="292524"/>
                </a:solidFill>
                <a:latin typeface="Inter"/>
              </a:rPr>
              <a:t>Đọc Luận cương Lênin &amp; chọn đường vô sản.</a:t>
            </a:r>
          </a:p>
        </p:txBody>
      </p:sp>
      <p:sp>
        <p:nvSpPr>
          <p:cNvPr id="22" name="TextBox 21"/>
          <p:cNvSpPr txBox="1"/>
          <p:nvPr/>
        </p:nvSpPr>
        <p:spPr>
          <a:xfrm>
            <a:off x="2747943" y="3252787"/>
            <a:ext cx="2061455" cy="228600"/>
          </a:xfrm>
          <a:prstGeom prst="rect">
            <a:avLst/>
          </a:prstGeom>
          <a:noFill/>
        </p:spPr>
        <p:txBody>
          <a:bodyPr wrap="none" lIns="0" rIns="0" tIns="0" bIns="0" anchor="t">
            <a:spAutoFit/>
          </a:bodyPr>
          <a:lstStyle/>
          <a:p>
            <a:pPr algn="ctr"/>
            <a:r>
              <a:rPr b="1" sz="1500" i="0" u="none">
                <a:solidFill>
                  <a:srgbClr val="8B1523"/>
                </a:solidFill>
                <a:latin typeface="Inter"/>
              </a:rPr>
              <a:t>1921-1924</a:t>
            </a:r>
          </a:p>
        </p:txBody>
      </p:sp>
      <p:sp>
        <p:nvSpPr>
          <p:cNvPr id="23" name="TextBox 22"/>
          <p:cNvSpPr txBox="1"/>
          <p:nvPr/>
        </p:nvSpPr>
        <p:spPr>
          <a:xfrm>
            <a:off x="2747943" y="3538537"/>
            <a:ext cx="2061455" cy="371475"/>
          </a:xfrm>
          <a:prstGeom prst="rect">
            <a:avLst/>
          </a:prstGeom>
          <a:noFill/>
        </p:spPr>
        <p:txBody>
          <a:bodyPr wrap="square" lIns="0" rIns="0" tIns="0" bIns="0" anchor="t">
            <a:spAutoFit/>
          </a:bodyPr>
          <a:lstStyle/>
          <a:p>
            <a:pPr algn="ctr">
              <a:lnSpc>
                <a:spcPts val="1462"/>
              </a:lnSpc>
            </a:pPr>
            <a:r>
              <a:rPr b="0" sz="975" i="0" u="none">
                <a:solidFill>
                  <a:srgbClr val="292524"/>
                </a:solidFill>
                <a:latin typeface="Inter"/>
              </a:rPr>
              <a:t>Truyền bá Mác-Lênin qua báo Le Paria.</a:t>
            </a:r>
          </a:p>
        </p:txBody>
      </p:sp>
      <p:sp>
        <p:nvSpPr>
          <p:cNvPr id="24" name="TextBox 23"/>
          <p:cNvSpPr txBox="1"/>
          <p:nvPr/>
        </p:nvSpPr>
        <p:spPr>
          <a:xfrm>
            <a:off x="4968608" y="3252787"/>
            <a:ext cx="2061455" cy="228600"/>
          </a:xfrm>
          <a:prstGeom prst="rect">
            <a:avLst/>
          </a:prstGeom>
          <a:noFill/>
        </p:spPr>
        <p:txBody>
          <a:bodyPr wrap="none" lIns="0" rIns="0" tIns="0" bIns="0" anchor="t">
            <a:spAutoFit/>
          </a:bodyPr>
          <a:lstStyle/>
          <a:p>
            <a:pPr algn="ctr"/>
            <a:r>
              <a:rPr b="1" sz="1500" i="0" u="none">
                <a:solidFill>
                  <a:srgbClr val="8B1523"/>
                </a:solidFill>
                <a:latin typeface="Inter"/>
              </a:rPr>
              <a:t>1925-1927</a:t>
            </a:r>
          </a:p>
        </p:txBody>
      </p:sp>
      <p:sp>
        <p:nvSpPr>
          <p:cNvPr id="25" name="TextBox 24"/>
          <p:cNvSpPr txBox="1"/>
          <p:nvPr/>
        </p:nvSpPr>
        <p:spPr>
          <a:xfrm>
            <a:off x="4968608" y="3538537"/>
            <a:ext cx="2061455" cy="371475"/>
          </a:xfrm>
          <a:prstGeom prst="rect">
            <a:avLst/>
          </a:prstGeom>
          <a:noFill/>
        </p:spPr>
        <p:txBody>
          <a:bodyPr wrap="square" lIns="0" rIns="0" tIns="0" bIns="0" anchor="t">
            <a:spAutoFit/>
          </a:bodyPr>
          <a:lstStyle/>
          <a:p>
            <a:pPr algn="ctr">
              <a:lnSpc>
                <a:spcPts val="1462"/>
              </a:lnSpc>
            </a:pPr>
            <a:r>
              <a:rPr b="0" sz="975" i="0" u="none">
                <a:solidFill>
                  <a:srgbClr val="292524"/>
                </a:solidFill>
                <a:latin typeface="Inter"/>
              </a:rPr>
              <a:t>Lập Hội Thanh niên &amp; xuất bản Đường Kách mệnh.</a:t>
            </a:r>
          </a:p>
        </p:txBody>
      </p:sp>
      <p:sp>
        <p:nvSpPr>
          <p:cNvPr id="26" name="TextBox 25"/>
          <p:cNvSpPr txBox="1"/>
          <p:nvPr/>
        </p:nvSpPr>
        <p:spPr>
          <a:xfrm>
            <a:off x="7189272" y="3252787"/>
            <a:ext cx="2061455" cy="228600"/>
          </a:xfrm>
          <a:prstGeom prst="rect">
            <a:avLst/>
          </a:prstGeom>
          <a:noFill/>
        </p:spPr>
        <p:txBody>
          <a:bodyPr wrap="none" lIns="0" rIns="0" tIns="0" bIns="0" anchor="t">
            <a:spAutoFit/>
          </a:bodyPr>
          <a:lstStyle/>
          <a:p>
            <a:pPr algn="ctr"/>
            <a:r>
              <a:rPr b="1" sz="1500" i="0" u="none">
                <a:solidFill>
                  <a:srgbClr val="8B1523"/>
                </a:solidFill>
                <a:latin typeface="Inter"/>
              </a:rPr>
              <a:t>1928-1929</a:t>
            </a:r>
          </a:p>
        </p:txBody>
      </p:sp>
      <p:sp>
        <p:nvSpPr>
          <p:cNvPr id="27" name="TextBox 26"/>
          <p:cNvSpPr txBox="1"/>
          <p:nvPr/>
        </p:nvSpPr>
        <p:spPr>
          <a:xfrm>
            <a:off x="7189272" y="3538537"/>
            <a:ext cx="2061455" cy="371475"/>
          </a:xfrm>
          <a:prstGeom prst="rect">
            <a:avLst/>
          </a:prstGeom>
          <a:noFill/>
        </p:spPr>
        <p:txBody>
          <a:bodyPr wrap="square" lIns="0" rIns="0" tIns="0" bIns="0" anchor="t">
            <a:spAutoFit/>
          </a:bodyPr>
          <a:lstStyle/>
          <a:p>
            <a:pPr algn="ctr">
              <a:lnSpc>
                <a:spcPts val="1462"/>
              </a:lnSpc>
            </a:pPr>
            <a:r>
              <a:rPr b="0" sz="975" i="0" u="none">
                <a:solidFill>
                  <a:srgbClr val="292524"/>
                </a:solidFill>
                <a:latin typeface="Inter"/>
              </a:rPr>
              <a:t>Vô sản hóa &amp; 3 tổ chức cộng sản xuất hiện.</a:t>
            </a:r>
          </a:p>
        </p:txBody>
      </p:sp>
      <p:sp>
        <p:nvSpPr>
          <p:cNvPr id="28" name="TextBox 27"/>
          <p:cNvSpPr txBox="1"/>
          <p:nvPr/>
        </p:nvSpPr>
        <p:spPr>
          <a:xfrm>
            <a:off x="9417899" y="3252787"/>
            <a:ext cx="2267582" cy="228600"/>
          </a:xfrm>
          <a:prstGeom prst="rect">
            <a:avLst/>
          </a:prstGeom>
          <a:noFill/>
        </p:spPr>
        <p:txBody>
          <a:bodyPr wrap="none" lIns="0" rIns="0" tIns="0" bIns="0" anchor="t">
            <a:spAutoFit/>
          </a:bodyPr>
          <a:lstStyle/>
          <a:p>
            <a:pPr algn="ctr"/>
            <a:r>
              <a:rPr b="1" sz="1500" i="0" u="none">
                <a:solidFill>
                  <a:srgbClr val="8B1523"/>
                </a:solidFill>
                <a:latin typeface="Inter"/>
              </a:rPr>
              <a:t>02/1930</a:t>
            </a:r>
          </a:p>
        </p:txBody>
      </p:sp>
      <p:sp>
        <p:nvSpPr>
          <p:cNvPr id="29" name="TextBox 28"/>
          <p:cNvSpPr txBox="1"/>
          <p:nvPr/>
        </p:nvSpPr>
        <p:spPr>
          <a:xfrm>
            <a:off x="9417899" y="3538537"/>
            <a:ext cx="2267582" cy="371475"/>
          </a:xfrm>
          <a:prstGeom prst="rect">
            <a:avLst/>
          </a:prstGeom>
          <a:noFill/>
        </p:spPr>
        <p:txBody>
          <a:bodyPr wrap="square" lIns="0" rIns="0" tIns="0" bIns="0" anchor="t">
            <a:spAutoFit/>
          </a:bodyPr>
          <a:lstStyle/>
          <a:p>
            <a:pPr algn="ctr">
              <a:lnSpc>
                <a:spcPts val="1462"/>
              </a:lnSpc>
            </a:pPr>
            <a:r>
              <a:rPr b="1" sz="975" i="0" u="none">
                <a:solidFill>
                  <a:srgbClr val="292524"/>
                </a:solidFill>
                <a:latin typeface="Inter"/>
              </a:rPr>
              <a:t>Thành lập Đảng Cộng sản Việt Nam.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2174081"/>
            <a:ext cx="3511599" cy="3619500"/>
          </a:xfrm>
          <a:prstGeom prst="roundRect">
            <a:avLst>
              <a:gd name="adj" fmla="val 2169"/>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11699" y="2174081"/>
            <a:ext cx="3540174" cy="3619500"/>
          </a:xfrm>
          <a:prstGeom prst="roundRect">
            <a:avLst>
              <a:gd name="adj" fmla="val 2152"/>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2374" y="2174081"/>
            <a:ext cx="3540174" cy="3619500"/>
          </a:xfrm>
          <a:prstGeom prst="roundRect">
            <a:avLst>
              <a:gd name="adj" fmla="val 2152"/>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311699" y="5784056"/>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11699" y="2174081"/>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11699" y="2174081"/>
            <a:ext cx="38100" cy="361950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42349" y="2174081"/>
            <a:ext cx="9525" cy="3619500"/>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2374" y="5784056"/>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42374" y="2174081"/>
            <a:ext cx="3540174"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2374" y="2174081"/>
            <a:ext cx="38100" cy="36195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573023" y="2174081"/>
            <a:ext cx="9525" cy="3619500"/>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847725" y="2440781"/>
            <a:ext cx="238125" cy="266700"/>
          </a:xfrm>
          <a:prstGeom prst="rect">
            <a:avLst/>
          </a:prstGeom>
        </p:spPr>
      </p:pic>
      <p:pic>
        <p:nvPicPr>
          <p:cNvPr id="14" name="Picture 13" descr="image.png"/>
          <p:cNvPicPr>
            <a:picLocks noChangeAspect="1"/>
          </p:cNvPicPr>
          <p:nvPr/>
        </p:nvPicPr>
        <p:blipFill>
          <a:blip r:embed="rId3"/>
          <a:stretch>
            <a:fillRect/>
          </a:stretch>
        </p:blipFill>
        <p:spPr>
          <a:xfrm>
            <a:off x="4578399" y="2440781"/>
            <a:ext cx="333375" cy="266700"/>
          </a:xfrm>
          <a:prstGeom prst="rect">
            <a:avLst/>
          </a:prstGeom>
        </p:spPr>
      </p:pic>
      <p:pic>
        <p:nvPicPr>
          <p:cNvPr id="15" name="Picture 14" descr="image.png"/>
          <p:cNvPicPr>
            <a:picLocks noChangeAspect="1"/>
          </p:cNvPicPr>
          <p:nvPr/>
        </p:nvPicPr>
        <p:blipFill>
          <a:blip r:embed="rId4"/>
          <a:stretch>
            <a:fillRect/>
          </a:stretch>
        </p:blipFill>
        <p:spPr>
          <a:xfrm>
            <a:off x="8309074" y="2440781"/>
            <a:ext cx="238125" cy="266700"/>
          </a:xfrm>
          <a:prstGeom prst="rect">
            <a:avLst/>
          </a:prstGeom>
        </p:spPr>
      </p:pic>
      <p:sp>
        <p:nvSpPr>
          <p:cNvPr id="16" name="TextBox 15"/>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SỨ MỆNH BA YẾU TỐ</a:t>
            </a:r>
          </a:p>
        </p:txBody>
      </p:sp>
      <p:sp>
        <p:nvSpPr>
          <p:cNvPr id="17" name="TextBox 16"/>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Phân Tích Ba Yếu Tố Cấu Thành Quy Luật</a:t>
            </a:r>
          </a:p>
        </p:txBody>
      </p:sp>
      <p:sp>
        <p:nvSpPr>
          <p:cNvPr id="18" name="TextBox 17"/>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Sự hòa quyện giữa lý luận tiên tiến, giai cấp nòng cốt và truyền thống dân tộc</a:t>
            </a:r>
          </a:p>
        </p:txBody>
      </p:sp>
      <p:sp>
        <p:nvSpPr>
          <p:cNvPr id="19" name="TextBox 18"/>
          <p:cNvSpPr txBox="1"/>
          <p:nvPr/>
        </p:nvSpPr>
        <p:spPr>
          <a:xfrm>
            <a:off x="847725" y="2812256"/>
            <a:ext cx="3983896" cy="219075"/>
          </a:xfrm>
          <a:prstGeom prst="rect">
            <a:avLst/>
          </a:prstGeom>
          <a:noFill/>
        </p:spPr>
        <p:txBody>
          <a:bodyPr wrap="none" lIns="0" rIns="0" tIns="0" bIns="0" anchor="t">
            <a:spAutoFit/>
          </a:bodyPr>
          <a:lstStyle/>
          <a:p>
            <a:pPr algn="l"/>
            <a:r>
              <a:rPr b="1" sz="1350" i="0" u="none">
                <a:solidFill>
                  <a:srgbClr val="8B1523"/>
                </a:solidFill>
                <a:latin typeface="Merriweather"/>
              </a:rPr>
              <a:t>Chủ Nghĩa Mác - Lênin</a:t>
            </a:r>
          </a:p>
        </p:txBody>
      </p:sp>
      <p:sp>
        <p:nvSpPr>
          <p:cNvPr id="20" name="TextBox 19"/>
          <p:cNvSpPr txBox="1"/>
          <p:nvPr/>
        </p:nvSpPr>
        <p:spPr>
          <a:xfrm>
            <a:off x="847725" y="3126581"/>
            <a:ext cx="3794187" cy="200025"/>
          </a:xfrm>
          <a:prstGeom prst="rect">
            <a:avLst/>
          </a:prstGeom>
          <a:noFill/>
        </p:spPr>
        <p:txBody>
          <a:bodyPr wrap="none" lIns="0" rIns="0" tIns="0" bIns="0" anchor="t">
            <a:spAutoFit/>
          </a:bodyPr>
          <a:lstStyle/>
          <a:p>
            <a:pPr algn="l">
              <a:lnSpc>
                <a:spcPts val="1575"/>
              </a:lnSpc>
            </a:pPr>
            <a:r>
              <a:rPr b="1" sz="1050" i="0" u="none">
                <a:solidFill>
                  <a:srgbClr val="57534E"/>
                </a:solidFill>
                <a:latin typeface="Inter"/>
              </a:rPr>
              <a:t>Nền tảng lý luận, tư tưởng</a:t>
            </a:r>
          </a:p>
        </p:txBody>
      </p:sp>
      <p:sp>
        <p:nvSpPr>
          <p:cNvPr id="21" name="TextBox 20"/>
          <p:cNvSpPr txBox="1"/>
          <p:nvPr/>
        </p:nvSpPr>
        <p:spPr>
          <a:xfrm>
            <a:off x="847725" y="3440906"/>
            <a:ext cx="3130599" cy="80010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Đóng vai trò "trí khôn", "bàn chỉ nam" soi sáng đường lối cách mạng vô sản, đặt nhiệm vụ chống đế quốc giải phóng dân tộc lên hàng đầu.</a:t>
            </a:r>
          </a:p>
        </p:txBody>
      </p:sp>
      <p:sp>
        <p:nvSpPr>
          <p:cNvPr id="22" name="TextBox 21"/>
          <p:cNvSpPr txBox="1"/>
          <p:nvPr/>
        </p:nvSpPr>
        <p:spPr>
          <a:xfrm>
            <a:off x="4578399" y="2812256"/>
            <a:ext cx="3983896" cy="219075"/>
          </a:xfrm>
          <a:prstGeom prst="rect">
            <a:avLst/>
          </a:prstGeom>
          <a:noFill/>
        </p:spPr>
        <p:txBody>
          <a:bodyPr wrap="none" lIns="0" rIns="0" tIns="0" bIns="0" anchor="t">
            <a:spAutoFit/>
          </a:bodyPr>
          <a:lstStyle/>
          <a:p>
            <a:pPr algn="l"/>
            <a:r>
              <a:rPr b="1" sz="1350" i="0" u="none">
                <a:solidFill>
                  <a:srgbClr val="8B1523"/>
                </a:solidFill>
                <a:latin typeface="Merriweather"/>
              </a:rPr>
              <a:t>Phong Trào Công Nhân</a:t>
            </a:r>
          </a:p>
        </p:txBody>
      </p:sp>
      <p:sp>
        <p:nvSpPr>
          <p:cNvPr id="23" name="TextBox 22"/>
          <p:cNvSpPr txBox="1"/>
          <p:nvPr/>
        </p:nvSpPr>
        <p:spPr>
          <a:xfrm>
            <a:off x="4578399" y="3126581"/>
            <a:ext cx="3794187" cy="200025"/>
          </a:xfrm>
          <a:prstGeom prst="rect">
            <a:avLst/>
          </a:prstGeom>
          <a:noFill/>
        </p:spPr>
        <p:txBody>
          <a:bodyPr wrap="none" lIns="0" rIns="0" tIns="0" bIns="0" anchor="t">
            <a:spAutoFit/>
          </a:bodyPr>
          <a:lstStyle/>
          <a:p>
            <a:pPr algn="l">
              <a:lnSpc>
                <a:spcPts val="1575"/>
              </a:lnSpc>
            </a:pPr>
            <a:r>
              <a:rPr b="1" sz="1050" i="0" u="none">
                <a:solidFill>
                  <a:srgbClr val="57534E"/>
                </a:solidFill>
                <a:latin typeface="Inter"/>
              </a:rPr>
              <a:t>Giai cấp lãnh đạo tiên phong</a:t>
            </a:r>
          </a:p>
        </p:txBody>
      </p:sp>
      <p:sp>
        <p:nvSpPr>
          <p:cNvPr id="24" name="TextBox 23"/>
          <p:cNvSpPr txBox="1"/>
          <p:nvPr/>
        </p:nvSpPr>
        <p:spPr>
          <a:xfrm>
            <a:off x="4578399" y="3440906"/>
            <a:ext cx="3130599" cy="600075"/>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Dù chiếm 1,2% dân số (22 vạn người năm 1929), công nhân sớm tiếp nhận lý luận, chuyển nhanh từ "tự phát" sang "tự giác" đấu tranh.</a:t>
            </a:r>
          </a:p>
        </p:txBody>
      </p:sp>
      <p:sp>
        <p:nvSpPr>
          <p:cNvPr id="25" name="TextBox 24"/>
          <p:cNvSpPr txBox="1"/>
          <p:nvPr/>
        </p:nvSpPr>
        <p:spPr>
          <a:xfrm>
            <a:off x="8309074" y="2812256"/>
            <a:ext cx="3882925" cy="219075"/>
          </a:xfrm>
          <a:prstGeom prst="rect">
            <a:avLst/>
          </a:prstGeom>
          <a:noFill/>
        </p:spPr>
        <p:txBody>
          <a:bodyPr wrap="none" lIns="0" rIns="0" tIns="0" bIns="0" anchor="t">
            <a:spAutoFit/>
          </a:bodyPr>
          <a:lstStyle/>
          <a:p>
            <a:pPr algn="l"/>
            <a:r>
              <a:rPr b="1" sz="1350" i="0" u="none">
                <a:solidFill>
                  <a:srgbClr val="B45309"/>
                </a:solidFill>
                <a:latin typeface="Merriweather"/>
              </a:rPr>
              <a:t>Phong Trào Yêu Nước</a:t>
            </a:r>
          </a:p>
        </p:txBody>
      </p:sp>
      <p:sp>
        <p:nvSpPr>
          <p:cNvPr id="26" name="TextBox 25"/>
          <p:cNvSpPr txBox="1"/>
          <p:nvPr/>
        </p:nvSpPr>
        <p:spPr>
          <a:xfrm>
            <a:off x="8309074" y="3126581"/>
            <a:ext cx="3794187" cy="200025"/>
          </a:xfrm>
          <a:prstGeom prst="rect">
            <a:avLst/>
          </a:prstGeom>
          <a:noFill/>
        </p:spPr>
        <p:txBody>
          <a:bodyPr wrap="none" lIns="0" rIns="0" tIns="0" bIns="0" anchor="t">
            <a:spAutoFit/>
          </a:bodyPr>
          <a:lstStyle/>
          <a:p>
            <a:pPr algn="l">
              <a:lnSpc>
                <a:spcPts val="1575"/>
              </a:lnSpc>
            </a:pPr>
            <a:r>
              <a:rPr b="1" sz="1050" i="0" u="none">
                <a:solidFill>
                  <a:srgbClr val="57534E"/>
                </a:solidFill>
                <a:latin typeface="Inter"/>
              </a:rPr>
              <a:t>Nét đặc thù thuộc địa</a:t>
            </a:r>
          </a:p>
        </p:txBody>
      </p:sp>
      <p:sp>
        <p:nvSpPr>
          <p:cNvPr id="27" name="TextBox 26"/>
          <p:cNvSpPr txBox="1"/>
          <p:nvPr/>
        </p:nvSpPr>
        <p:spPr>
          <a:xfrm>
            <a:off x="8309074" y="3440906"/>
            <a:ext cx="3130599" cy="600075"/>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Cơ sở xã hội rộng lớn với nông dân (&gt;90%) và tiểu tư sản, trí thức. Kết hợp với phong trào công nhân tạo nên khối đại đoàn kết.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2764631"/>
            <a:ext cx="5391150" cy="1143000"/>
          </a:xfrm>
          <a:prstGeom prst="roundRect">
            <a:avLst>
              <a:gd name="adj" fmla="val 666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91250" y="2764631"/>
            <a:ext cx="5391150" cy="1143000"/>
          </a:xfrm>
          <a:prstGeom prst="roundRect">
            <a:avLst>
              <a:gd name="adj" fmla="val 666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4060031"/>
            <a:ext cx="5376862" cy="1143000"/>
          </a:xfrm>
          <a:prstGeom prst="roundRect">
            <a:avLst>
              <a:gd name="adj" fmla="val 666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76962" y="4060031"/>
            <a:ext cx="5405437" cy="1143000"/>
          </a:xfrm>
          <a:prstGeom prst="roundRect">
            <a:avLst>
              <a:gd name="adj" fmla="val 6666"/>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6962" y="5193506"/>
            <a:ext cx="5405437"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76962" y="4060031"/>
            <a:ext cx="5405437"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6962" y="4060031"/>
            <a:ext cx="38100" cy="114300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72875" y="4060031"/>
            <a:ext cx="9525" cy="1143000"/>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6443662" y="4317206"/>
            <a:ext cx="161925" cy="161925"/>
          </a:xfrm>
          <a:prstGeom prst="rect">
            <a:avLst/>
          </a:prstGeom>
        </p:spPr>
      </p:pic>
      <p:sp>
        <p:nvSpPr>
          <p:cNvPr id="11" name="TextBox 10"/>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GIẢI MÃ LỊCH SỬ</a:t>
            </a:r>
          </a:p>
        </p:txBody>
      </p:sp>
      <p:sp>
        <p:nvSpPr>
          <p:cNvPr id="12" name="TextBox 11"/>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Vì Sao Có "Độ Trễ" 10 Năm (1920 - 1930)?</a:t>
            </a:r>
          </a:p>
        </p:txBody>
      </p:sp>
      <p:sp>
        <p:nvSpPr>
          <p:cNvPr id="13" name="TextBox 12"/>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Thời gian chuẩn bị khách quan để ba yếu tố hội tụ đầy đủ</a:t>
            </a:r>
          </a:p>
        </p:txBody>
      </p:sp>
      <p:sp>
        <p:nvSpPr>
          <p:cNvPr id="14" name="TextBox 13"/>
          <p:cNvSpPr txBox="1"/>
          <p:nvPr/>
        </p:nvSpPr>
        <p:spPr>
          <a:xfrm>
            <a:off x="847725" y="3002756"/>
            <a:ext cx="6450806" cy="209550"/>
          </a:xfrm>
          <a:prstGeom prst="rect">
            <a:avLst/>
          </a:prstGeom>
          <a:noFill/>
        </p:spPr>
        <p:txBody>
          <a:bodyPr wrap="none" lIns="0" rIns="0" tIns="0" bIns="0" anchor="t">
            <a:spAutoFit/>
          </a:bodyPr>
          <a:lstStyle/>
          <a:p>
            <a:pPr algn="l"/>
            <a:r>
              <a:rPr b="1" sz="1275" i="0" u="none">
                <a:solidFill>
                  <a:srgbClr val="8B1523"/>
                </a:solidFill>
                <a:latin typeface="Merriweather"/>
              </a:rPr>
              <a:t>1. Từ Con Đường Đến Lực Lượng</a:t>
            </a:r>
          </a:p>
        </p:txBody>
      </p:sp>
      <p:sp>
        <p:nvSpPr>
          <p:cNvPr id="15" name="TextBox 14"/>
          <p:cNvSpPr txBox="1"/>
          <p:nvPr/>
        </p:nvSpPr>
        <p:spPr>
          <a:xfrm>
            <a:off x="847725" y="3269456"/>
            <a:ext cx="5010150"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Năm 1920 Nguyễn Ái Quốc mới tìm thấy con đường tư tưởng. Cần 10 năm để đào tạo cán bộ, xây dựng đường lối và tổ chức thực tiễn.</a:t>
            </a:r>
          </a:p>
        </p:txBody>
      </p:sp>
      <p:sp>
        <p:nvSpPr>
          <p:cNvPr id="16" name="TextBox 15"/>
          <p:cNvSpPr txBox="1"/>
          <p:nvPr/>
        </p:nvSpPr>
        <p:spPr>
          <a:xfrm>
            <a:off x="6429375" y="3002756"/>
            <a:ext cx="5762625" cy="209550"/>
          </a:xfrm>
          <a:prstGeom prst="rect">
            <a:avLst/>
          </a:prstGeom>
          <a:noFill/>
        </p:spPr>
        <p:txBody>
          <a:bodyPr wrap="none" lIns="0" rIns="0" tIns="0" bIns="0" anchor="t">
            <a:spAutoFit/>
          </a:bodyPr>
          <a:lstStyle/>
          <a:p>
            <a:pPr algn="l"/>
            <a:r>
              <a:rPr b="1" sz="1275" i="0" u="none">
                <a:solidFill>
                  <a:srgbClr val="8B1523"/>
                </a:solidFill>
                <a:latin typeface="Merriweather"/>
              </a:rPr>
              <a:t>2. Phong Trào Trong Nước Chín Muồi</a:t>
            </a:r>
          </a:p>
        </p:txBody>
      </p:sp>
      <p:sp>
        <p:nvSpPr>
          <p:cNvPr id="17" name="TextBox 16"/>
          <p:cNvSpPr txBox="1"/>
          <p:nvPr/>
        </p:nvSpPr>
        <p:spPr>
          <a:xfrm>
            <a:off x="6429375" y="3269456"/>
            <a:ext cx="5010150"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Phong trào công nhân cần thời gian chuyển từ tự phát sang tự giác; các khuynh hướng yêu nước cũ phải trải qua thử thách và thất bại.</a:t>
            </a:r>
          </a:p>
        </p:txBody>
      </p:sp>
      <p:sp>
        <p:nvSpPr>
          <p:cNvPr id="18" name="TextBox 17"/>
          <p:cNvSpPr txBox="1"/>
          <p:nvPr/>
        </p:nvSpPr>
        <p:spPr>
          <a:xfrm>
            <a:off x="847725" y="4298156"/>
            <a:ext cx="6432053" cy="209550"/>
          </a:xfrm>
          <a:prstGeom prst="rect">
            <a:avLst/>
          </a:prstGeom>
          <a:noFill/>
        </p:spPr>
        <p:txBody>
          <a:bodyPr wrap="none" lIns="0" rIns="0" tIns="0" bIns="0" anchor="t">
            <a:spAutoFit/>
          </a:bodyPr>
          <a:lstStyle/>
          <a:p>
            <a:pPr algn="l"/>
            <a:r>
              <a:rPr b="1" sz="1275" i="0" u="none">
                <a:solidFill>
                  <a:srgbClr val="8B1523"/>
                </a:solidFill>
                <a:latin typeface="Merriweather"/>
              </a:rPr>
              <a:t>3. Nhu Cầu Hợp Nhất Tất Yếu</a:t>
            </a:r>
          </a:p>
        </p:txBody>
      </p:sp>
      <p:sp>
        <p:nvSpPr>
          <p:cNvPr id="19" name="TextBox 18"/>
          <p:cNvSpPr txBox="1"/>
          <p:nvPr/>
        </p:nvSpPr>
        <p:spPr>
          <a:xfrm>
            <a:off x="847725" y="4564856"/>
            <a:ext cx="4995862"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Năm 1929 ba tổ chức cộng sản xuất hiện nhưng hoạt động chia rẽ, đòi hỏi một hạt nhân lãnh đạo thống nhất duy nhất.</a:t>
            </a:r>
          </a:p>
        </p:txBody>
      </p:sp>
      <p:sp>
        <p:nvSpPr>
          <p:cNvPr id="20" name="TextBox 19"/>
          <p:cNvSpPr txBox="1"/>
          <p:nvPr/>
        </p:nvSpPr>
        <p:spPr>
          <a:xfrm>
            <a:off x="6443662" y="4298156"/>
            <a:ext cx="5748337" cy="209550"/>
          </a:xfrm>
          <a:prstGeom prst="rect">
            <a:avLst/>
          </a:prstGeom>
          <a:noFill/>
        </p:spPr>
        <p:txBody>
          <a:bodyPr wrap="none" lIns="219075" rIns="0" tIns="0" bIns="0" anchor="t">
            <a:spAutoFit/>
          </a:bodyPr>
          <a:lstStyle/>
          <a:p>
            <a:pPr algn="l"/>
            <a:r>
              <a:rPr b="1" sz="1275" i="0" u="none">
                <a:solidFill>
                  <a:srgbClr val="8B1523"/>
                </a:solidFill>
                <a:latin typeface="Merriweather"/>
              </a:rPr>
              <a:t>Kết Luận Bản Chất</a:t>
            </a:r>
          </a:p>
        </p:txBody>
      </p:sp>
      <p:sp>
        <p:nvSpPr>
          <p:cNvPr id="21" name="TextBox 20"/>
          <p:cNvSpPr txBox="1"/>
          <p:nvPr/>
        </p:nvSpPr>
        <p:spPr>
          <a:xfrm>
            <a:off x="6443662" y="4564856"/>
            <a:ext cx="4995862" cy="400050"/>
          </a:xfrm>
          <a:prstGeom prst="rect">
            <a:avLst/>
          </a:prstGeom>
          <a:noFill/>
        </p:spPr>
        <p:txBody>
          <a:bodyPr wrap="square" lIns="0" rIns="0" tIns="0" bIns="0" anchor="t">
            <a:spAutoFit/>
          </a:bodyPr>
          <a:lstStyle/>
          <a:p>
            <a:pPr algn="l">
              <a:lnSpc>
                <a:spcPts val="1575"/>
              </a:lnSpc>
            </a:pPr>
            <a:r>
              <a:rPr b="1" sz="1050" i="0" u="none">
                <a:solidFill>
                  <a:srgbClr val="292524"/>
                </a:solidFill>
                <a:latin typeface="Inter"/>
              </a:rPr>
              <a:t>10 năm là khoảng thời gian bắt buộc để chuẩn bị điều kiện cần &amp; đủ cho quy luật ra đời của Đảng, không phải sự chậm trễ thụ động.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1724025" y="1566862"/>
            <a:ext cx="8743950" cy="690562"/>
          </a:xfrm>
          <a:prstGeom prst="roundRect">
            <a:avLst>
              <a:gd name="adj" fmla="val 11034"/>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724025" y="2371725"/>
            <a:ext cx="8743950" cy="690562"/>
          </a:xfrm>
          <a:prstGeom prst="roundRect">
            <a:avLst>
              <a:gd name="adj" fmla="val 11034"/>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724025" y="3176587"/>
            <a:ext cx="8743950" cy="690562"/>
          </a:xfrm>
          <a:prstGeom prst="roundRect">
            <a:avLst>
              <a:gd name="adj" fmla="val 11034"/>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724025" y="3981450"/>
            <a:ext cx="8743950" cy="690562"/>
          </a:xfrm>
          <a:prstGeom prst="roundRect">
            <a:avLst>
              <a:gd name="adj" fmla="val 11034"/>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24025" y="2247900"/>
            <a:ext cx="87439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24025" y="1566862"/>
            <a:ext cx="87439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24025" y="1566862"/>
            <a:ext cx="38100" cy="690562"/>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458450" y="1566862"/>
            <a:ext cx="9525" cy="690562"/>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24025" y="3857625"/>
            <a:ext cx="87439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24025" y="3176587"/>
            <a:ext cx="87439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24025" y="3176587"/>
            <a:ext cx="38100" cy="69056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58450" y="3176587"/>
            <a:ext cx="9525" cy="690562"/>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4333875" y="5815012"/>
            <a:ext cx="3524250" cy="2647950"/>
          </a:xfrm>
          <a:prstGeom prst="rect">
            <a:avLst/>
          </a:prstGeom>
        </p:spPr>
      </p:pic>
      <p:pic>
        <p:nvPicPr>
          <p:cNvPr id="15" name="Picture 14" descr="image.png"/>
          <p:cNvPicPr>
            <a:picLocks noChangeAspect="1"/>
          </p:cNvPicPr>
          <p:nvPr/>
        </p:nvPicPr>
        <p:blipFill>
          <a:blip r:embed="rId3"/>
          <a:stretch>
            <a:fillRect/>
          </a:stretch>
        </p:blipFill>
        <p:spPr>
          <a:xfrm>
            <a:off x="4343400" y="5824537"/>
            <a:ext cx="3505200" cy="2628900"/>
          </a:xfrm>
          <a:prstGeom prst="rect">
            <a:avLst/>
          </a:prstGeom>
        </p:spPr>
      </p:pic>
      <p:sp>
        <p:nvSpPr>
          <p:cNvPr id="16" name="TextBox 15"/>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THÀNH LẬP ĐẢNG 1930</a:t>
            </a:r>
          </a:p>
        </p:txBody>
      </p:sp>
      <p:sp>
        <p:nvSpPr>
          <p:cNvPr id="17" name="TextBox 16"/>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Ý Nghĩa Lịch Sử Của Việc Thành Lập Đảng</a:t>
            </a:r>
          </a:p>
        </p:txBody>
      </p:sp>
      <p:sp>
        <p:nvSpPr>
          <p:cNvPr id="18" name="TextBox 17"/>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Bước ngoặt vĩ đại trong lịch sử cách mạng Việt Nam</a:t>
            </a:r>
          </a:p>
        </p:txBody>
      </p:sp>
      <p:sp>
        <p:nvSpPr>
          <p:cNvPr id="19" name="TextBox 18"/>
          <p:cNvSpPr txBox="1"/>
          <p:nvPr/>
        </p:nvSpPr>
        <p:spPr>
          <a:xfrm>
            <a:off x="1990725" y="1804987"/>
            <a:ext cx="10201275"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Chấm dứt khủng hoảng:</a:t>
            </a:r>
            <a:r>
              <a:rPr b="0" sz="1125" i="0" u="none">
                <a:solidFill>
                  <a:srgbClr val="292524"/>
                </a:solidFill>
                <a:latin typeface="Inter"/>
              </a:rPr>
              <a:t> Giải quyết hoàn toàn sự bế tắc về đường lối cứu nước và giai cấp lãnh đạo kéo dài nửa thế kỷ.</a:t>
            </a:r>
          </a:p>
        </p:txBody>
      </p:sp>
      <p:sp>
        <p:nvSpPr>
          <p:cNvPr id="20" name="TextBox 19"/>
          <p:cNvSpPr txBox="1"/>
          <p:nvPr/>
        </p:nvSpPr>
        <p:spPr>
          <a:xfrm>
            <a:off x="1962150" y="2609850"/>
            <a:ext cx="10229850"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Khẳng định con đường:</a:t>
            </a:r>
            <a:r>
              <a:rPr b="0" sz="1125" i="0" u="none">
                <a:solidFill>
                  <a:srgbClr val="292524"/>
                </a:solidFill>
                <a:latin typeface="Inter"/>
              </a:rPr>
              <a:t> Chứng minh cách mạng Việt Nam là một bộ phận khăng khít của cách mạng vô sản thế giới.</a:t>
            </a:r>
          </a:p>
        </p:txBody>
      </p:sp>
      <p:sp>
        <p:nvSpPr>
          <p:cNvPr id="21" name="TextBox 20"/>
          <p:cNvSpPr txBox="1"/>
          <p:nvPr/>
        </p:nvSpPr>
        <p:spPr>
          <a:xfrm>
            <a:off x="1990725" y="3414712"/>
            <a:ext cx="10201275"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Cương lĩnh đúng đắn:</a:t>
            </a:r>
            <a:r>
              <a:rPr b="0" sz="1125" i="0" u="none">
                <a:solidFill>
                  <a:srgbClr val="292524"/>
                </a:solidFill>
                <a:latin typeface="Inter"/>
              </a:rPr>
              <a:t> Phản ánh quy luật khách quan, kết hợp nhuần nhuyễn giữa giải phóng dân tộc và giải phóng giai cấp.</a:t>
            </a:r>
          </a:p>
        </p:txBody>
      </p:sp>
      <p:sp>
        <p:nvSpPr>
          <p:cNvPr id="22" name="TextBox 21"/>
          <p:cNvSpPr txBox="1"/>
          <p:nvPr/>
        </p:nvSpPr>
        <p:spPr>
          <a:xfrm>
            <a:off x="1962150" y="4219575"/>
            <a:ext cx="10229850"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Nhân tố quyết định:</a:t>
            </a:r>
            <a:r>
              <a:rPr b="0" sz="1125" i="0" u="none">
                <a:solidFill>
                  <a:srgbClr val="292524"/>
                </a:solidFill>
                <a:latin typeface="Inter"/>
              </a:rPr>
              <a:t> Đảng trở thành nhân tố hàng đầu lãnh đạo mọi thắng lợi của cách mạng Việt Nam từ năm 1930.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2250281"/>
            <a:ext cx="10972800" cy="3467100"/>
          </a:xfrm>
          <a:prstGeom prst="roundRect">
            <a:avLst>
              <a:gd name="adj" fmla="val 2197"/>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47725" y="2488406"/>
            <a:ext cx="3397150"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7725" y="2488406"/>
            <a:ext cx="28575" cy="89535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397275" y="2488406"/>
            <a:ext cx="3397299"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97275" y="2488406"/>
            <a:ext cx="28575" cy="89535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946975" y="2488406"/>
            <a:ext cx="3397150"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46975" y="2488406"/>
            <a:ext cx="28575" cy="89535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7725" y="3536156"/>
            <a:ext cx="3397150"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7725" y="3536156"/>
            <a:ext cx="28575" cy="89535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97275" y="3536156"/>
            <a:ext cx="3397299"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7275" y="3536156"/>
            <a:ext cx="28575" cy="89535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46975" y="3536156"/>
            <a:ext cx="3397150"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46975" y="3536156"/>
            <a:ext cx="28575" cy="89535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7725" y="4583906"/>
            <a:ext cx="3397150"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7725" y="4583906"/>
            <a:ext cx="28575" cy="89535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7275" y="4583906"/>
            <a:ext cx="3397299" cy="895350"/>
          </a:xfrm>
          <a:prstGeom prst="roundRect">
            <a:avLst>
              <a:gd name="adj" fmla="val 63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7275" y="4583906"/>
            <a:ext cx="28575" cy="89535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46975" y="4583906"/>
            <a:ext cx="3397150" cy="895350"/>
          </a:xfrm>
          <a:prstGeom prst="roundRect">
            <a:avLst>
              <a:gd name="adj" fmla="val 6382"/>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46975" y="4583906"/>
            <a:ext cx="28575" cy="89535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PHẦN 2: SO SÁNH QUỐC TẾ</a:t>
            </a:r>
          </a:p>
        </p:txBody>
      </p:sp>
      <p:sp>
        <p:nvSpPr>
          <p:cNvPr id="22" name="TextBox 21"/>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Làn Sóng Thành Lập Các ĐCS Trên Thế Giới</a:t>
            </a:r>
          </a:p>
        </p:txBody>
      </p:sp>
      <p:sp>
        <p:nvSpPr>
          <p:cNvPr id="23" name="TextBox 22"/>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Tiến trình ra đời của các Đảng Cộng sản giai đoạn 1918 - 1930</a:t>
            </a:r>
          </a:p>
        </p:txBody>
      </p:sp>
      <p:sp>
        <p:nvSpPr>
          <p:cNvPr id="24" name="TextBox 23"/>
          <p:cNvSpPr txBox="1"/>
          <p:nvPr/>
        </p:nvSpPr>
        <p:spPr>
          <a:xfrm>
            <a:off x="981075" y="2621756"/>
            <a:ext cx="3225700" cy="628650"/>
          </a:xfrm>
          <a:prstGeom prst="rect">
            <a:avLst/>
          </a:prstGeom>
          <a:noFill/>
        </p:spPr>
        <p:txBody>
          <a:bodyPr wrap="square" lIns="0" rIns="0" tIns="0" bIns="0" anchor="t">
            <a:spAutoFit/>
          </a:bodyPr>
          <a:lstStyle/>
          <a:p>
            <a:pPr algn="l"/>
            <a:r>
              <a:rPr b="1" sz="900" i="0" u="none">
                <a:solidFill>
                  <a:srgbClr val="8B1523"/>
                </a:solidFill>
                <a:latin typeface="Inter"/>
              </a:rPr>
              <a:t>12/1918 - 01/1919</a:t>
            </a:r>
          </a:p>
        </p:txBody>
      </p:sp>
      <p:sp>
        <p:nvSpPr>
          <p:cNvPr id="25" name="TextBox 24"/>
          <p:cNvSpPr txBox="1"/>
          <p:nvPr/>
        </p:nvSpPr>
        <p:spPr>
          <a:xfrm>
            <a:off x="4530625" y="2621756"/>
            <a:ext cx="3225849" cy="628650"/>
          </a:xfrm>
          <a:prstGeom prst="rect">
            <a:avLst/>
          </a:prstGeom>
          <a:noFill/>
        </p:spPr>
        <p:txBody>
          <a:bodyPr wrap="square" lIns="0" rIns="0" tIns="0" bIns="0" anchor="t">
            <a:spAutoFit/>
          </a:bodyPr>
          <a:lstStyle/>
          <a:p>
            <a:pPr algn="l"/>
            <a:r>
              <a:rPr b="1" sz="900" i="0" u="none">
                <a:solidFill>
                  <a:srgbClr val="8B1523"/>
                </a:solidFill>
                <a:latin typeface="Inter"/>
              </a:rPr>
              <a:t>1919</a:t>
            </a:r>
          </a:p>
        </p:txBody>
      </p:sp>
      <p:sp>
        <p:nvSpPr>
          <p:cNvPr id="26" name="TextBox 25"/>
          <p:cNvSpPr txBox="1"/>
          <p:nvPr/>
        </p:nvSpPr>
        <p:spPr>
          <a:xfrm>
            <a:off x="8080325" y="2621756"/>
            <a:ext cx="3225700" cy="628650"/>
          </a:xfrm>
          <a:prstGeom prst="rect">
            <a:avLst/>
          </a:prstGeom>
          <a:noFill/>
        </p:spPr>
        <p:txBody>
          <a:bodyPr wrap="square" lIns="0" rIns="0" tIns="0" bIns="0" anchor="t">
            <a:spAutoFit/>
          </a:bodyPr>
          <a:lstStyle/>
          <a:p>
            <a:pPr algn="l"/>
            <a:r>
              <a:rPr b="1" sz="900" i="0" u="none">
                <a:solidFill>
                  <a:srgbClr val="B45309"/>
                </a:solidFill>
                <a:latin typeface="Inter"/>
              </a:rPr>
              <a:t>05/1920</a:t>
            </a:r>
          </a:p>
        </p:txBody>
      </p:sp>
      <p:sp>
        <p:nvSpPr>
          <p:cNvPr id="27" name="TextBox 26"/>
          <p:cNvSpPr txBox="1"/>
          <p:nvPr/>
        </p:nvSpPr>
        <p:spPr>
          <a:xfrm>
            <a:off x="981075" y="3669506"/>
            <a:ext cx="3225700" cy="628650"/>
          </a:xfrm>
          <a:prstGeom prst="rect">
            <a:avLst/>
          </a:prstGeom>
          <a:noFill/>
        </p:spPr>
        <p:txBody>
          <a:bodyPr wrap="square" lIns="0" rIns="0" tIns="0" bIns="0" anchor="t">
            <a:spAutoFit/>
          </a:bodyPr>
          <a:lstStyle/>
          <a:p>
            <a:pPr algn="l"/>
            <a:r>
              <a:rPr b="1" sz="900" i="0" u="none">
                <a:solidFill>
                  <a:srgbClr val="8B1523"/>
                </a:solidFill>
                <a:latin typeface="Inter"/>
              </a:rPr>
              <a:t>07/1920</a:t>
            </a:r>
          </a:p>
        </p:txBody>
      </p:sp>
      <p:sp>
        <p:nvSpPr>
          <p:cNvPr id="28" name="TextBox 27"/>
          <p:cNvSpPr txBox="1"/>
          <p:nvPr/>
        </p:nvSpPr>
        <p:spPr>
          <a:xfrm>
            <a:off x="4530625" y="3669506"/>
            <a:ext cx="3225849" cy="628650"/>
          </a:xfrm>
          <a:prstGeom prst="rect">
            <a:avLst/>
          </a:prstGeom>
          <a:noFill/>
        </p:spPr>
        <p:txBody>
          <a:bodyPr wrap="square" lIns="0" rIns="0" tIns="0" bIns="0" anchor="t">
            <a:spAutoFit/>
          </a:bodyPr>
          <a:lstStyle/>
          <a:p>
            <a:pPr algn="l"/>
            <a:r>
              <a:rPr b="1" sz="900" i="0" u="none">
                <a:solidFill>
                  <a:srgbClr val="8B1523"/>
                </a:solidFill>
                <a:latin typeface="Inter"/>
              </a:rPr>
              <a:t>10/1920</a:t>
            </a:r>
          </a:p>
        </p:txBody>
      </p:sp>
      <p:sp>
        <p:nvSpPr>
          <p:cNvPr id="29" name="TextBox 28"/>
          <p:cNvSpPr txBox="1"/>
          <p:nvPr/>
        </p:nvSpPr>
        <p:spPr>
          <a:xfrm>
            <a:off x="8080325" y="3669506"/>
            <a:ext cx="3225700" cy="628650"/>
          </a:xfrm>
          <a:prstGeom prst="rect">
            <a:avLst/>
          </a:prstGeom>
          <a:noFill/>
        </p:spPr>
        <p:txBody>
          <a:bodyPr wrap="square" lIns="0" rIns="0" tIns="0" bIns="0" anchor="t">
            <a:spAutoFit/>
          </a:bodyPr>
          <a:lstStyle/>
          <a:p>
            <a:pPr algn="l"/>
            <a:r>
              <a:rPr b="1" sz="900" i="0" u="none">
                <a:solidFill>
                  <a:srgbClr val="8B1523"/>
                </a:solidFill>
                <a:latin typeface="Inter"/>
              </a:rPr>
              <a:t>12/1920</a:t>
            </a:r>
          </a:p>
        </p:txBody>
      </p:sp>
      <p:sp>
        <p:nvSpPr>
          <p:cNvPr id="30" name="TextBox 29"/>
          <p:cNvSpPr txBox="1"/>
          <p:nvPr/>
        </p:nvSpPr>
        <p:spPr>
          <a:xfrm>
            <a:off x="981075" y="4717256"/>
            <a:ext cx="3225700" cy="628650"/>
          </a:xfrm>
          <a:prstGeom prst="rect">
            <a:avLst/>
          </a:prstGeom>
          <a:noFill/>
        </p:spPr>
        <p:txBody>
          <a:bodyPr wrap="square" lIns="0" rIns="0" tIns="0" bIns="0" anchor="t">
            <a:spAutoFit/>
          </a:bodyPr>
          <a:lstStyle/>
          <a:p>
            <a:pPr algn="l"/>
            <a:r>
              <a:rPr b="1" sz="900" i="0" u="none">
                <a:solidFill>
                  <a:srgbClr val="B45309"/>
                </a:solidFill>
                <a:latin typeface="Inter"/>
              </a:rPr>
              <a:t>07/1921</a:t>
            </a:r>
          </a:p>
        </p:txBody>
      </p:sp>
      <p:sp>
        <p:nvSpPr>
          <p:cNvPr id="31" name="TextBox 30"/>
          <p:cNvSpPr txBox="1"/>
          <p:nvPr/>
        </p:nvSpPr>
        <p:spPr>
          <a:xfrm>
            <a:off x="4530625" y="4717256"/>
            <a:ext cx="3225849" cy="628650"/>
          </a:xfrm>
          <a:prstGeom prst="rect">
            <a:avLst/>
          </a:prstGeom>
          <a:noFill/>
        </p:spPr>
        <p:txBody>
          <a:bodyPr wrap="square" lIns="0" rIns="0" tIns="0" bIns="0" anchor="t">
            <a:spAutoFit/>
          </a:bodyPr>
          <a:lstStyle/>
          <a:p>
            <a:pPr algn="l"/>
            <a:r>
              <a:rPr b="1" sz="900" i="0" u="none">
                <a:solidFill>
                  <a:srgbClr val="8B1523"/>
                </a:solidFill>
                <a:latin typeface="Inter"/>
              </a:rPr>
              <a:t>07/1922</a:t>
            </a:r>
          </a:p>
        </p:txBody>
      </p:sp>
      <p:sp>
        <p:nvSpPr>
          <p:cNvPr id="32" name="TextBox 31"/>
          <p:cNvSpPr txBox="1"/>
          <p:nvPr/>
        </p:nvSpPr>
        <p:spPr>
          <a:xfrm>
            <a:off x="8080325" y="4717256"/>
            <a:ext cx="3225700" cy="628650"/>
          </a:xfrm>
          <a:prstGeom prst="rect">
            <a:avLst/>
          </a:prstGeom>
          <a:noFill/>
        </p:spPr>
        <p:txBody>
          <a:bodyPr wrap="square" lIns="0" rIns="0" tIns="0" bIns="0" anchor="t">
            <a:spAutoFit/>
          </a:bodyPr>
          <a:lstStyle/>
          <a:p>
            <a:pPr algn="l"/>
            <a:r>
              <a:rPr b="1" sz="900" i="0" u="none">
                <a:solidFill>
                  <a:srgbClr val="8B1523"/>
                </a:solidFill>
                <a:latin typeface="Inter"/>
              </a:rPr>
              <a:t>02/1930</a:t>
            </a:r>
          </a:p>
        </p:txBody>
      </p:sp>
      <p:sp>
        <p:nvSpPr>
          <p:cNvPr id="33" name="TextBox 32"/>
          <p:cNvSpPr txBox="1"/>
          <p:nvPr/>
        </p:nvSpPr>
        <p:spPr>
          <a:xfrm>
            <a:off x="1009650" y="2831306"/>
            <a:ext cx="3877344"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Đức</a:t>
            </a:r>
          </a:p>
        </p:txBody>
      </p:sp>
      <p:sp>
        <p:nvSpPr>
          <p:cNvPr id="34" name="TextBox 33"/>
          <p:cNvSpPr txBox="1"/>
          <p:nvPr/>
        </p:nvSpPr>
        <p:spPr>
          <a:xfrm>
            <a:off x="1009650" y="3064668"/>
            <a:ext cx="3877344"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Liên đoàn Spartacus</a:t>
            </a:r>
          </a:p>
        </p:txBody>
      </p:sp>
      <p:sp>
        <p:nvSpPr>
          <p:cNvPr id="35" name="TextBox 34"/>
          <p:cNvSpPr txBox="1"/>
          <p:nvPr/>
        </p:nvSpPr>
        <p:spPr>
          <a:xfrm>
            <a:off x="4559200" y="2831306"/>
            <a:ext cx="3877530"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Mỹ</a:t>
            </a:r>
          </a:p>
        </p:txBody>
      </p:sp>
      <p:sp>
        <p:nvSpPr>
          <p:cNvPr id="36" name="TextBox 35"/>
          <p:cNvSpPr txBox="1"/>
          <p:nvPr/>
        </p:nvSpPr>
        <p:spPr>
          <a:xfrm>
            <a:off x="4559200" y="3064668"/>
            <a:ext cx="3877530"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Phong trào công nhân</a:t>
            </a:r>
          </a:p>
        </p:txBody>
      </p:sp>
      <p:sp>
        <p:nvSpPr>
          <p:cNvPr id="37" name="TextBox 36"/>
          <p:cNvSpPr txBox="1"/>
          <p:nvPr/>
        </p:nvSpPr>
        <p:spPr>
          <a:xfrm>
            <a:off x="8108900" y="2831306"/>
            <a:ext cx="3877344"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Inđônêxia</a:t>
            </a:r>
          </a:p>
        </p:txBody>
      </p:sp>
      <p:sp>
        <p:nvSpPr>
          <p:cNvPr id="38" name="TextBox 37"/>
          <p:cNvSpPr txBox="1"/>
          <p:nvPr/>
        </p:nvSpPr>
        <p:spPr>
          <a:xfrm>
            <a:off x="8108900" y="3064668"/>
            <a:ext cx="3877344"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Từ ISDV / Sarekat Islam</a:t>
            </a:r>
          </a:p>
        </p:txBody>
      </p:sp>
      <p:sp>
        <p:nvSpPr>
          <p:cNvPr id="39" name="TextBox 38"/>
          <p:cNvSpPr txBox="1"/>
          <p:nvPr/>
        </p:nvSpPr>
        <p:spPr>
          <a:xfrm>
            <a:off x="1009650" y="3879056"/>
            <a:ext cx="3877344"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Anh</a:t>
            </a:r>
          </a:p>
        </p:txBody>
      </p:sp>
      <p:sp>
        <p:nvSpPr>
          <p:cNvPr id="40" name="TextBox 39"/>
          <p:cNvSpPr txBox="1"/>
          <p:nvPr/>
        </p:nvSpPr>
        <p:spPr>
          <a:xfrm>
            <a:off x="1009650" y="4112418"/>
            <a:ext cx="3877344"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Đảng Xã hội tách ra</a:t>
            </a:r>
          </a:p>
        </p:txBody>
      </p:sp>
      <p:sp>
        <p:nvSpPr>
          <p:cNvPr id="41" name="TextBox 40"/>
          <p:cNvSpPr txBox="1"/>
          <p:nvPr/>
        </p:nvSpPr>
        <p:spPr>
          <a:xfrm>
            <a:off x="4559200" y="3879056"/>
            <a:ext cx="3877530"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Úc</a:t>
            </a:r>
          </a:p>
        </p:txBody>
      </p:sp>
      <p:sp>
        <p:nvSpPr>
          <p:cNvPr id="42" name="TextBox 41"/>
          <p:cNvSpPr txBox="1"/>
          <p:nvPr/>
        </p:nvSpPr>
        <p:spPr>
          <a:xfrm>
            <a:off x="4559200" y="4112418"/>
            <a:ext cx="3877530"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Các tổ chức XHCN</a:t>
            </a:r>
          </a:p>
        </p:txBody>
      </p:sp>
      <p:sp>
        <p:nvSpPr>
          <p:cNvPr id="43" name="TextBox 42"/>
          <p:cNvSpPr txBox="1"/>
          <p:nvPr/>
        </p:nvSpPr>
        <p:spPr>
          <a:xfrm>
            <a:off x="8108900" y="3879056"/>
            <a:ext cx="3877344"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Pháp</a:t>
            </a:r>
          </a:p>
        </p:txBody>
      </p:sp>
      <p:sp>
        <p:nvSpPr>
          <p:cNvPr id="44" name="TextBox 43"/>
          <p:cNvSpPr txBox="1"/>
          <p:nvPr/>
        </p:nvSpPr>
        <p:spPr>
          <a:xfrm>
            <a:off x="8108900" y="4112418"/>
            <a:ext cx="3877344"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Đại hội Tours</a:t>
            </a:r>
          </a:p>
        </p:txBody>
      </p:sp>
      <p:sp>
        <p:nvSpPr>
          <p:cNvPr id="45" name="TextBox 44"/>
          <p:cNvSpPr txBox="1"/>
          <p:nvPr/>
        </p:nvSpPr>
        <p:spPr>
          <a:xfrm>
            <a:off x="1009650" y="4926806"/>
            <a:ext cx="3877344"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Trung Quốc</a:t>
            </a:r>
          </a:p>
        </p:txBody>
      </p:sp>
      <p:sp>
        <p:nvSpPr>
          <p:cNvPr id="46" name="TextBox 45"/>
          <p:cNvSpPr txBox="1"/>
          <p:nvPr/>
        </p:nvSpPr>
        <p:spPr>
          <a:xfrm>
            <a:off x="1009650" y="5160168"/>
            <a:ext cx="3877344"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Trí thức sau Ngũ Tứ</a:t>
            </a:r>
          </a:p>
        </p:txBody>
      </p:sp>
      <p:sp>
        <p:nvSpPr>
          <p:cNvPr id="47" name="TextBox 46"/>
          <p:cNvSpPr txBox="1"/>
          <p:nvPr/>
        </p:nvSpPr>
        <p:spPr>
          <a:xfrm>
            <a:off x="4559200" y="4926806"/>
            <a:ext cx="3877530"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Nhật Bản</a:t>
            </a:r>
          </a:p>
        </p:txBody>
      </p:sp>
      <p:sp>
        <p:nvSpPr>
          <p:cNvPr id="48" name="TextBox 47"/>
          <p:cNvSpPr txBox="1"/>
          <p:nvPr/>
        </p:nvSpPr>
        <p:spPr>
          <a:xfrm>
            <a:off x="4559200" y="5160168"/>
            <a:ext cx="3877530"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Các nhóm XHCN</a:t>
            </a:r>
          </a:p>
        </p:txBody>
      </p:sp>
      <p:sp>
        <p:nvSpPr>
          <p:cNvPr id="49" name="TextBox 48"/>
          <p:cNvSpPr txBox="1"/>
          <p:nvPr/>
        </p:nvSpPr>
        <p:spPr>
          <a:xfrm>
            <a:off x="8108900" y="4926806"/>
            <a:ext cx="3877344" cy="214312"/>
          </a:xfrm>
          <a:prstGeom prst="rect">
            <a:avLst/>
          </a:prstGeom>
          <a:noFill/>
        </p:spPr>
        <p:txBody>
          <a:bodyPr wrap="none" lIns="0" rIns="0" tIns="0" bIns="0" anchor="t">
            <a:spAutoFit/>
          </a:bodyPr>
          <a:lstStyle/>
          <a:p>
            <a:pPr algn="l">
              <a:lnSpc>
                <a:spcPts val="1687"/>
              </a:lnSpc>
            </a:pPr>
            <a:r>
              <a:rPr b="1" sz="1125" i="0" u="none">
                <a:solidFill>
                  <a:srgbClr val="8B1523"/>
                </a:solidFill>
                <a:latin typeface="Inter"/>
              </a:rPr>
              <a:t>Việt Nam</a:t>
            </a:r>
          </a:p>
        </p:txBody>
      </p:sp>
      <p:sp>
        <p:nvSpPr>
          <p:cNvPr id="50" name="TextBox 49"/>
          <p:cNvSpPr txBox="1"/>
          <p:nvPr/>
        </p:nvSpPr>
        <p:spPr>
          <a:xfrm>
            <a:off x="8108900" y="5160168"/>
            <a:ext cx="3877344" cy="185737"/>
          </a:xfrm>
          <a:prstGeom prst="rect">
            <a:avLst/>
          </a:prstGeom>
          <a:noFill/>
        </p:spPr>
        <p:txBody>
          <a:bodyPr wrap="none" lIns="0" rIns="0" tIns="0" bIns="0" anchor="t">
            <a:spAutoFit/>
          </a:bodyPr>
          <a:lstStyle/>
          <a:p>
            <a:pPr algn="l">
              <a:lnSpc>
                <a:spcPts val="1462"/>
              </a:lnSpc>
            </a:pPr>
            <a:r>
              <a:rPr b="0" sz="975" i="0" u="none">
                <a:solidFill>
                  <a:srgbClr val="8B1523"/>
                </a:solidFill>
                <a:latin typeface="Inter"/>
              </a:rPr>
              <a:t>Hội nghị Cửu Long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1362075" y="4886325"/>
            <a:ext cx="9467850" cy="3248025"/>
          </a:xfrm>
          <a:prstGeom prst="roundRect">
            <a:avLst>
              <a:gd name="adj" fmla="val 2346"/>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295525" y="1566862"/>
            <a:ext cx="7600950" cy="923925"/>
          </a:xfrm>
          <a:prstGeom prst="roundRect">
            <a:avLst>
              <a:gd name="adj" fmla="val 8247"/>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295525" y="2624137"/>
            <a:ext cx="7600950" cy="923925"/>
          </a:xfrm>
          <a:prstGeom prst="roundRect">
            <a:avLst>
              <a:gd name="adj" fmla="val 8247"/>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295525" y="3681412"/>
            <a:ext cx="7600950" cy="938212"/>
          </a:xfrm>
          <a:prstGeom prst="roundRect">
            <a:avLst>
              <a:gd name="adj" fmla="val 8121"/>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1637" y="5124450"/>
            <a:ext cx="1228725" cy="238125"/>
          </a:xfrm>
          <a:prstGeom prst="roundRect">
            <a:avLst>
              <a:gd name="adj" fmla="val 16000"/>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95525" y="4610100"/>
            <a:ext cx="76009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95525" y="3681412"/>
            <a:ext cx="76009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95525" y="3681412"/>
            <a:ext cx="38100" cy="938212"/>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86950" y="3681412"/>
            <a:ext cx="9525" cy="938212"/>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1600200" y="6181725"/>
            <a:ext cx="8991600" cy="1714500"/>
          </a:xfrm>
          <a:prstGeom prst="rect">
            <a:avLst/>
          </a:prstGeom>
        </p:spPr>
      </p:pic>
      <p:sp>
        <p:nvSpPr>
          <p:cNvPr id="12" name="TextBox 11"/>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ĐỐI CHIẾU QUỐC TẾ</a:t>
            </a:r>
          </a:p>
        </p:txBody>
      </p:sp>
      <p:sp>
        <p:nvSpPr>
          <p:cNvPr id="13" name="TextBox 12"/>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Khái Quát Quá Trình Thành Lập ĐCS ở Châu Âu</a:t>
            </a:r>
          </a:p>
        </p:txBody>
      </p:sp>
      <p:sp>
        <p:nvSpPr>
          <p:cNvPr id="14" name="TextBox 13"/>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Mô hình chuyển hóa tại các quốc gia tư bản công nghiệp phát triển</a:t>
            </a:r>
          </a:p>
        </p:txBody>
      </p:sp>
      <p:sp>
        <p:nvSpPr>
          <p:cNvPr id="15" name="TextBox 14"/>
          <p:cNvSpPr txBox="1"/>
          <p:nvPr/>
        </p:nvSpPr>
        <p:spPr>
          <a:xfrm>
            <a:off x="5442346" y="5162550"/>
            <a:ext cx="1307306" cy="161925"/>
          </a:xfrm>
          <a:prstGeom prst="rect">
            <a:avLst/>
          </a:prstGeom>
          <a:noFill/>
        </p:spPr>
        <p:txBody>
          <a:bodyPr wrap="square" lIns="0" rIns="0" tIns="0" bIns="0" anchor="t">
            <a:spAutoFit/>
          </a:bodyPr>
          <a:lstStyle/>
          <a:p>
            <a:pPr algn="ctr"/>
            <a:r>
              <a:rPr b="1" sz="1050" i="0" u="none">
                <a:solidFill>
                  <a:srgbClr val="FFFFFF"/>
                </a:solidFill>
                <a:latin typeface="Inter"/>
              </a:rPr>
              <a:t>Ví Dụ Tiêu Biểu</a:t>
            </a:r>
          </a:p>
        </p:txBody>
      </p:sp>
      <p:sp>
        <p:nvSpPr>
          <p:cNvPr id="16" name="TextBox 15"/>
          <p:cNvSpPr txBox="1"/>
          <p:nvPr/>
        </p:nvSpPr>
        <p:spPr>
          <a:xfrm>
            <a:off x="238125" y="5476875"/>
            <a:ext cx="11715750" cy="238125"/>
          </a:xfrm>
          <a:prstGeom prst="rect">
            <a:avLst/>
          </a:prstGeom>
          <a:noFill/>
        </p:spPr>
        <p:txBody>
          <a:bodyPr wrap="none" lIns="0" rIns="0" tIns="0" bIns="0" anchor="t">
            <a:spAutoFit/>
          </a:bodyPr>
          <a:lstStyle/>
          <a:p>
            <a:pPr algn="ctr"/>
            <a:r>
              <a:rPr b="1" sz="1500" i="0" u="none">
                <a:solidFill>
                  <a:srgbClr val="1C1917"/>
                </a:solidFill>
                <a:latin typeface="Merriweather"/>
              </a:rPr>
              <a:t>Đại Hội Tours (12/1920)</a:t>
            </a:r>
          </a:p>
        </p:txBody>
      </p:sp>
      <p:sp>
        <p:nvSpPr>
          <p:cNvPr id="17" name="TextBox 16"/>
          <p:cNvSpPr txBox="1"/>
          <p:nvPr/>
        </p:nvSpPr>
        <p:spPr>
          <a:xfrm>
            <a:off x="476250" y="5829300"/>
            <a:ext cx="11239500" cy="200025"/>
          </a:xfrm>
          <a:prstGeom prst="rect">
            <a:avLst/>
          </a:prstGeom>
          <a:noFill/>
        </p:spPr>
        <p:txBody>
          <a:bodyPr wrap="none" lIns="0" rIns="0" tIns="0" bIns="0" anchor="t">
            <a:spAutoFit/>
          </a:bodyPr>
          <a:lstStyle/>
          <a:p>
            <a:pPr algn="ctr">
              <a:lnSpc>
                <a:spcPts val="1575"/>
              </a:lnSpc>
            </a:pPr>
            <a:r>
              <a:rPr b="0" sz="1050" i="0" u="none">
                <a:solidFill>
                  <a:srgbClr val="44403C"/>
                </a:solidFill>
                <a:latin typeface="Inter"/>
              </a:rPr>
              <a:t>Đa số đại biểu Đảng Xã hội Pháp bỏ phiếu gia nhập Quốc tế III, chính thức thành lập </a:t>
            </a:r>
            <a:r>
              <a:rPr b="1" sz="1050" i="0" u="none">
                <a:solidFill>
                  <a:srgbClr val="44403C"/>
                </a:solidFill>
                <a:latin typeface="Inter"/>
              </a:rPr>
              <a:t>Đảng Cộng sản Pháp</a:t>
            </a:r>
            <a:r>
              <a:rPr b="0" sz="1050" i="0" u="none">
                <a:solidFill>
                  <a:srgbClr val="44403C"/>
                </a:solidFill>
                <a:latin typeface="Inter"/>
              </a:rPr>
              <a:t> (Nguyễn Ái Quốc tham gia sáng lập).</a:t>
            </a:r>
          </a:p>
        </p:txBody>
      </p:sp>
      <p:sp>
        <p:nvSpPr>
          <p:cNvPr id="18" name="TextBox 17"/>
          <p:cNvSpPr txBox="1"/>
          <p:nvPr/>
        </p:nvSpPr>
        <p:spPr>
          <a:xfrm>
            <a:off x="2533650" y="1804987"/>
            <a:ext cx="9351168" cy="209550"/>
          </a:xfrm>
          <a:prstGeom prst="rect">
            <a:avLst/>
          </a:prstGeom>
          <a:noFill/>
        </p:spPr>
        <p:txBody>
          <a:bodyPr wrap="none" lIns="0" rIns="0" tIns="0" bIns="0" anchor="t">
            <a:spAutoFit/>
          </a:bodyPr>
          <a:lstStyle/>
          <a:p>
            <a:pPr algn="l"/>
            <a:r>
              <a:rPr b="1" sz="1275" i="0" u="none">
                <a:solidFill>
                  <a:srgbClr val="8B1523"/>
                </a:solidFill>
                <a:latin typeface="Merriweather"/>
              </a:rPr>
              <a:t>1. Bối Cảnh Kinh Tế - Xã Hội</a:t>
            </a:r>
          </a:p>
        </p:txBody>
      </p:sp>
      <p:sp>
        <p:nvSpPr>
          <p:cNvPr id="19" name="TextBox 18"/>
          <p:cNvSpPr txBox="1"/>
          <p:nvPr/>
        </p:nvSpPr>
        <p:spPr>
          <a:xfrm>
            <a:off x="2533650" y="2052637"/>
            <a:ext cx="8905875" cy="200025"/>
          </a:xfrm>
          <a:prstGeom prst="rect">
            <a:avLst/>
          </a:prstGeom>
          <a:noFill/>
        </p:spPr>
        <p:txBody>
          <a:bodyPr wrap="none" lIns="0" rIns="0" tIns="0" bIns="0" anchor="t">
            <a:spAutoFit/>
          </a:bodyPr>
          <a:lstStyle/>
          <a:p>
            <a:pPr algn="l">
              <a:lnSpc>
                <a:spcPts val="1575"/>
              </a:lnSpc>
            </a:pPr>
            <a:r>
              <a:rPr b="0" sz="1050" i="0" u="none">
                <a:solidFill>
                  <a:srgbClr val="292524"/>
                </a:solidFill>
                <a:latin typeface="Inter"/>
              </a:rPr>
              <a:t>Đã hoàn thành công nghiệp hóa. Giai cấp công nhân phát triển đông đảo, mâu thuẫn chủ yếu là Vô sản &gt;&lt; Tư sản.</a:t>
            </a:r>
          </a:p>
        </p:txBody>
      </p:sp>
      <p:sp>
        <p:nvSpPr>
          <p:cNvPr id="20" name="TextBox 19"/>
          <p:cNvSpPr txBox="1"/>
          <p:nvPr/>
        </p:nvSpPr>
        <p:spPr>
          <a:xfrm>
            <a:off x="2533650" y="2862262"/>
            <a:ext cx="9351168" cy="209550"/>
          </a:xfrm>
          <a:prstGeom prst="rect">
            <a:avLst/>
          </a:prstGeom>
          <a:noFill/>
        </p:spPr>
        <p:txBody>
          <a:bodyPr wrap="none" lIns="0" rIns="0" tIns="0" bIns="0" anchor="t">
            <a:spAutoFit/>
          </a:bodyPr>
          <a:lstStyle/>
          <a:p>
            <a:pPr algn="l"/>
            <a:r>
              <a:rPr b="1" sz="1275" i="0" u="none">
                <a:solidFill>
                  <a:srgbClr val="8B1523"/>
                </a:solidFill>
                <a:latin typeface="Merriweather"/>
              </a:rPr>
              <a:t>2. Sự Phân Liệt Trong Đảng Xã Hội</a:t>
            </a:r>
          </a:p>
        </p:txBody>
      </p:sp>
      <p:sp>
        <p:nvSpPr>
          <p:cNvPr id="21" name="TextBox 20"/>
          <p:cNvSpPr txBox="1"/>
          <p:nvPr/>
        </p:nvSpPr>
        <p:spPr>
          <a:xfrm>
            <a:off x="2533650" y="3109912"/>
            <a:ext cx="8905875" cy="200025"/>
          </a:xfrm>
          <a:prstGeom prst="rect">
            <a:avLst/>
          </a:prstGeom>
          <a:noFill/>
        </p:spPr>
        <p:txBody>
          <a:bodyPr wrap="none" lIns="0" rIns="0" tIns="0" bIns="0" anchor="t">
            <a:spAutoFit/>
          </a:bodyPr>
          <a:lstStyle/>
          <a:p>
            <a:pPr algn="l">
              <a:lnSpc>
                <a:spcPts val="1575"/>
              </a:lnSpc>
            </a:pPr>
            <a:r>
              <a:rPr b="0" sz="1050" i="0" u="none">
                <a:solidFill>
                  <a:srgbClr val="292524"/>
                </a:solidFill>
                <a:latin typeface="Inter"/>
              </a:rPr>
              <a:t>Dưới tác động của CTTG I và Cách mạng T10 Nga, cánh tả tách ra từ các Đảng Xã hội / Dân chủ Xã hội sẵn có.</a:t>
            </a:r>
          </a:p>
        </p:txBody>
      </p:sp>
      <p:sp>
        <p:nvSpPr>
          <p:cNvPr id="22" name="TextBox 21"/>
          <p:cNvSpPr txBox="1"/>
          <p:nvPr/>
        </p:nvSpPr>
        <p:spPr>
          <a:xfrm>
            <a:off x="2562225" y="3919537"/>
            <a:ext cx="9313664" cy="209550"/>
          </a:xfrm>
          <a:prstGeom prst="rect">
            <a:avLst/>
          </a:prstGeom>
          <a:noFill/>
        </p:spPr>
        <p:txBody>
          <a:bodyPr wrap="none" lIns="0" rIns="0" tIns="0" bIns="0" anchor="t">
            <a:spAutoFit/>
          </a:bodyPr>
          <a:lstStyle/>
          <a:p>
            <a:pPr algn="l"/>
            <a:r>
              <a:rPr b="1" sz="1275" i="0" u="none">
                <a:solidFill>
                  <a:srgbClr val="8B1523"/>
                </a:solidFill>
                <a:latin typeface="Merriweather"/>
              </a:rPr>
              <a:t>3. Công Thức Quy Luật</a:t>
            </a:r>
          </a:p>
        </p:txBody>
      </p:sp>
      <p:sp>
        <p:nvSpPr>
          <p:cNvPr id="23" name="TextBox 22"/>
          <p:cNvSpPr txBox="1"/>
          <p:nvPr/>
        </p:nvSpPr>
        <p:spPr>
          <a:xfrm>
            <a:off x="2562225" y="4167187"/>
            <a:ext cx="8870156" cy="214312"/>
          </a:xfrm>
          <a:prstGeom prst="rect">
            <a:avLst/>
          </a:prstGeom>
          <a:noFill/>
        </p:spPr>
        <p:txBody>
          <a:bodyPr wrap="none" lIns="0" rIns="0" tIns="0" bIns="0" anchor="t">
            <a:spAutoFit/>
          </a:bodyPr>
          <a:lstStyle/>
          <a:p>
            <a:pPr algn="l">
              <a:lnSpc>
                <a:spcPts val="1687"/>
              </a:lnSpc>
            </a:pPr>
            <a:r>
              <a:rPr b="1" sz="1125" i="0" u="none">
                <a:solidFill>
                  <a:srgbClr val="292524"/>
                </a:solidFill>
                <a:latin typeface="Inter"/>
              </a:rPr>
              <a:t>ĐCS Châu Âu = Chủ nghĩa Mác - Lênin + Phong trào Công nhân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2383631"/>
            <a:ext cx="5391150" cy="1504950"/>
          </a:xfrm>
          <a:prstGeom prst="roundRect">
            <a:avLst>
              <a:gd name="adj" fmla="val 5063"/>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91250" y="2383631"/>
            <a:ext cx="5391150" cy="1504950"/>
          </a:xfrm>
          <a:prstGeom prst="roundRect">
            <a:avLst>
              <a:gd name="adj" fmla="val 5063"/>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4079081"/>
            <a:ext cx="5391150" cy="1504950"/>
          </a:xfrm>
          <a:prstGeom prst="roundRect">
            <a:avLst>
              <a:gd name="adj" fmla="val 5063"/>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4079081"/>
            <a:ext cx="5391150" cy="1504950"/>
          </a:xfrm>
          <a:prstGeom prst="roundRect">
            <a:avLst>
              <a:gd name="adj" fmla="val 5063"/>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76300" y="2621756"/>
            <a:ext cx="2009775" cy="238125"/>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3879056"/>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2383631"/>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600" y="2383631"/>
            <a:ext cx="38100" cy="15049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91225" y="2383631"/>
            <a:ext cx="9525" cy="1504950"/>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57950" y="2621756"/>
            <a:ext cx="1866900" cy="238125"/>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1250" y="3879056"/>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1250" y="2383631"/>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1250" y="2383631"/>
            <a:ext cx="38100" cy="15049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72875" y="2383631"/>
            <a:ext cx="9525" cy="1504950"/>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7725" y="4317206"/>
            <a:ext cx="1190625" cy="238125"/>
          </a:xfrm>
          <a:prstGeom prst="roundRect">
            <a:avLst>
              <a:gd name="adj" fmla="val 16000"/>
            </a:avLst>
          </a:prstGeom>
          <a:solidFill>
            <a:srgbClr val="575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29375" y="4317206"/>
            <a:ext cx="1076325" cy="238125"/>
          </a:xfrm>
          <a:prstGeom prst="roundRect">
            <a:avLst>
              <a:gd name="adj" fmla="val 16000"/>
            </a:avLst>
          </a:prstGeom>
          <a:solidFill>
            <a:srgbClr val="5753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ĐỐI CHIẾU QUỐC TẾ</a:t>
            </a:r>
          </a:p>
        </p:txBody>
      </p:sp>
      <p:sp>
        <p:nvSpPr>
          <p:cNvPr id="19" name="TextBox 18"/>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Khu Vực Châu Á - Thái Bình Dương</a:t>
            </a:r>
          </a:p>
        </p:txBody>
      </p:sp>
      <p:sp>
        <p:nvSpPr>
          <p:cNvPr id="20" name="TextBox 19"/>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Sự đa dạng giữa các nước thuộc địa và các quốc gia đế quốc</a:t>
            </a:r>
          </a:p>
        </p:txBody>
      </p:sp>
      <p:sp>
        <p:nvSpPr>
          <p:cNvPr id="21" name="TextBox 20"/>
          <p:cNvSpPr txBox="1"/>
          <p:nvPr/>
        </p:nvSpPr>
        <p:spPr>
          <a:xfrm>
            <a:off x="990600" y="2659856"/>
            <a:ext cx="1876425" cy="161925"/>
          </a:xfrm>
          <a:prstGeom prst="rect">
            <a:avLst/>
          </a:prstGeom>
          <a:noFill/>
        </p:spPr>
        <p:txBody>
          <a:bodyPr wrap="square" lIns="0" rIns="0" tIns="0" bIns="0" anchor="t">
            <a:spAutoFit/>
          </a:bodyPr>
          <a:lstStyle/>
          <a:p>
            <a:pPr algn="l"/>
            <a:r>
              <a:rPr b="1" sz="1050" i="0" u="none">
                <a:solidFill>
                  <a:srgbClr val="FFFFFF"/>
                </a:solidFill>
                <a:latin typeface="Inter"/>
              </a:rPr>
              <a:t>Thuộc Địa / Nửa Thuộc Địa</a:t>
            </a:r>
          </a:p>
        </p:txBody>
      </p:sp>
      <p:sp>
        <p:nvSpPr>
          <p:cNvPr id="22" name="TextBox 21"/>
          <p:cNvSpPr txBox="1"/>
          <p:nvPr/>
        </p:nvSpPr>
        <p:spPr>
          <a:xfrm>
            <a:off x="876300" y="2974181"/>
            <a:ext cx="6413301" cy="219075"/>
          </a:xfrm>
          <a:prstGeom prst="rect">
            <a:avLst/>
          </a:prstGeom>
          <a:noFill/>
        </p:spPr>
        <p:txBody>
          <a:bodyPr wrap="none" lIns="0" rIns="0" tIns="0" bIns="0" anchor="t">
            <a:spAutoFit/>
          </a:bodyPr>
          <a:lstStyle/>
          <a:p>
            <a:pPr algn="l"/>
            <a:r>
              <a:rPr b="1" sz="1350" i="0" u="none">
                <a:solidFill>
                  <a:srgbClr val="1C1917"/>
                </a:solidFill>
                <a:latin typeface="Merriweather"/>
              </a:rPr>
              <a:t>Trung Quốc (07/1921)</a:t>
            </a:r>
          </a:p>
        </p:txBody>
      </p:sp>
      <p:sp>
        <p:nvSpPr>
          <p:cNvPr id="23" name="TextBox 22"/>
          <p:cNvSpPr txBox="1"/>
          <p:nvPr/>
        </p:nvSpPr>
        <p:spPr>
          <a:xfrm>
            <a:off x="876300" y="3250406"/>
            <a:ext cx="4981575"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Thành lập từ nhóm trí thức tiến bộ sau phong trào Ngũ Tứ (1919). Ban đầu có 57 đảng viên và 13 đại biểu dự Đại hội I.</a:t>
            </a:r>
          </a:p>
        </p:txBody>
      </p:sp>
      <p:sp>
        <p:nvSpPr>
          <p:cNvPr id="24" name="TextBox 23"/>
          <p:cNvSpPr txBox="1"/>
          <p:nvPr/>
        </p:nvSpPr>
        <p:spPr>
          <a:xfrm>
            <a:off x="6572250" y="2659856"/>
            <a:ext cx="1733550" cy="161925"/>
          </a:xfrm>
          <a:prstGeom prst="rect">
            <a:avLst/>
          </a:prstGeom>
          <a:noFill/>
        </p:spPr>
        <p:txBody>
          <a:bodyPr wrap="square" lIns="0" rIns="0" tIns="0" bIns="0" anchor="t">
            <a:spAutoFit/>
          </a:bodyPr>
          <a:lstStyle/>
          <a:p>
            <a:pPr algn="l"/>
            <a:r>
              <a:rPr b="1" sz="1050" i="0" u="none">
                <a:solidFill>
                  <a:srgbClr val="FFFFFF"/>
                </a:solidFill>
                <a:latin typeface="Inter"/>
              </a:rPr>
              <a:t>Thuộc Địa / Đông Nam Á</a:t>
            </a:r>
          </a:p>
        </p:txBody>
      </p:sp>
      <p:sp>
        <p:nvSpPr>
          <p:cNvPr id="25" name="TextBox 24"/>
          <p:cNvSpPr txBox="1"/>
          <p:nvPr/>
        </p:nvSpPr>
        <p:spPr>
          <a:xfrm>
            <a:off x="6457950" y="2974181"/>
            <a:ext cx="5734050" cy="219075"/>
          </a:xfrm>
          <a:prstGeom prst="rect">
            <a:avLst/>
          </a:prstGeom>
          <a:noFill/>
        </p:spPr>
        <p:txBody>
          <a:bodyPr wrap="none" lIns="0" rIns="0" tIns="0" bIns="0" anchor="t">
            <a:spAutoFit/>
          </a:bodyPr>
          <a:lstStyle/>
          <a:p>
            <a:pPr algn="l"/>
            <a:r>
              <a:rPr b="1" sz="1350" i="0" u="none">
                <a:solidFill>
                  <a:srgbClr val="1C1917"/>
                </a:solidFill>
                <a:latin typeface="Merriweather"/>
              </a:rPr>
              <a:t>Inđônêxia (05/1920)</a:t>
            </a:r>
          </a:p>
        </p:txBody>
      </p:sp>
      <p:sp>
        <p:nvSpPr>
          <p:cNvPr id="26" name="TextBox 25"/>
          <p:cNvSpPr txBox="1"/>
          <p:nvPr/>
        </p:nvSpPr>
        <p:spPr>
          <a:xfrm>
            <a:off x="6457950" y="3250406"/>
            <a:ext cx="4981575"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Hình thành từ nhóm ISDV hoạt động trong phong trào Sarekat Islam, chính thức đổi tên thành PKI năm 1924.</a:t>
            </a:r>
          </a:p>
        </p:txBody>
      </p:sp>
      <p:sp>
        <p:nvSpPr>
          <p:cNvPr id="27" name="TextBox 26"/>
          <p:cNvSpPr txBox="1"/>
          <p:nvPr/>
        </p:nvSpPr>
        <p:spPr>
          <a:xfrm>
            <a:off x="962025" y="4355306"/>
            <a:ext cx="1057275" cy="161925"/>
          </a:xfrm>
          <a:prstGeom prst="rect">
            <a:avLst/>
          </a:prstGeom>
          <a:noFill/>
        </p:spPr>
        <p:txBody>
          <a:bodyPr wrap="square" lIns="0" rIns="0" tIns="0" bIns="0" anchor="t">
            <a:spAutoFit/>
          </a:bodyPr>
          <a:lstStyle/>
          <a:p>
            <a:pPr algn="l"/>
            <a:r>
              <a:rPr b="1" sz="1050" i="0" u="none">
                <a:solidFill>
                  <a:srgbClr val="FFFFFF"/>
                </a:solidFill>
                <a:latin typeface="Inter"/>
              </a:rPr>
              <a:t>Nước Đế Quốc</a:t>
            </a:r>
          </a:p>
        </p:txBody>
      </p:sp>
      <p:sp>
        <p:nvSpPr>
          <p:cNvPr id="28" name="TextBox 27"/>
          <p:cNvSpPr txBox="1"/>
          <p:nvPr/>
        </p:nvSpPr>
        <p:spPr>
          <a:xfrm>
            <a:off x="847725" y="4669631"/>
            <a:ext cx="6450806" cy="219075"/>
          </a:xfrm>
          <a:prstGeom prst="rect">
            <a:avLst/>
          </a:prstGeom>
          <a:noFill/>
        </p:spPr>
        <p:txBody>
          <a:bodyPr wrap="none" lIns="0" rIns="0" tIns="0" bIns="0" anchor="t">
            <a:spAutoFit/>
          </a:bodyPr>
          <a:lstStyle/>
          <a:p>
            <a:pPr algn="l"/>
            <a:r>
              <a:rPr b="1" sz="1350" i="0" u="none">
                <a:solidFill>
                  <a:srgbClr val="1C1917"/>
                </a:solidFill>
                <a:latin typeface="Merriweather"/>
              </a:rPr>
              <a:t>Nhật Bản (07/1922)</a:t>
            </a:r>
          </a:p>
        </p:txBody>
      </p:sp>
      <p:sp>
        <p:nvSpPr>
          <p:cNvPr id="29" name="TextBox 28"/>
          <p:cNvSpPr txBox="1"/>
          <p:nvPr/>
        </p:nvSpPr>
        <p:spPr>
          <a:xfrm>
            <a:off x="847725" y="4945856"/>
            <a:ext cx="5010150"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Là nước tư bản đế quốc; Đảng ra đời từ các nhóm xã hội chủ nghĩa và phong trào công đoàn.</a:t>
            </a:r>
          </a:p>
        </p:txBody>
      </p:sp>
      <p:sp>
        <p:nvSpPr>
          <p:cNvPr id="30" name="TextBox 29"/>
          <p:cNvSpPr txBox="1"/>
          <p:nvPr/>
        </p:nvSpPr>
        <p:spPr>
          <a:xfrm>
            <a:off x="6543675" y="4355306"/>
            <a:ext cx="942975" cy="161925"/>
          </a:xfrm>
          <a:prstGeom prst="rect">
            <a:avLst/>
          </a:prstGeom>
          <a:noFill/>
        </p:spPr>
        <p:txBody>
          <a:bodyPr wrap="square" lIns="0" rIns="0" tIns="0" bIns="0" anchor="t">
            <a:spAutoFit/>
          </a:bodyPr>
          <a:lstStyle/>
          <a:p>
            <a:pPr algn="l"/>
            <a:r>
              <a:rPr b="1" sz="1050" i="0" u="none">
                <a:solidFill>
                  <a:srgbClr val="FFFFFF"/>
                </a:solidFill>
                <a:latin typeface="Inter"/>
              </a:rPr>
              <a:t>Nước Tư Bản</a:t>
            </a:r>
          </a:p>
        </p:txBody>
      </p:sp>
      <p:sp>
        <p:nvSpPr>
          <p:cNvPr id="31" name="TextBox 30"/>
          <p:cNvSpPr txBox="1"/>
          <p:nvPr/>
        </p:nvSpPr>
        <p:spPr>
          <a:xfrm>
            <a:off x="6429375" y="4669631"/>
            <a:ext cx="5762625" cy="219075"/>
          </a:xfrm>
          <a:prstGeom prst="rect">
            <a:avLst/>
          </a:prstGeom>
          <a:noFill/>
        </p:spPr>
        <p:txBody>
          <a:bodyPr wrap="none" lIns="0" rIns="0" tIns="0" bIns="0" anchor="t">
            <a:spAutoFit/>
          </a:bodyPr>
          <a:lstStyle/>
          <a:p>
            <a:pPr algn="l"/>
            <a:r>
              <a:rPr b="1" sz="1350" i="0" u="none">
                <a:solidFill>
                  <a:srgbClr val="1C1917"/>
                </a:solidFill>
                <a:latin typeface="Merriweather"/>
              </a:rPr>
              <a:t>Úc (10/1920)</a:t>
            </a:r>
          </a:p>
        </p:txBody>
      </p:sp>
      <p:sp>
        <p:nvSpPr>
          <p:cNvPr id="32" name="TextBox 31"/>
          <p:cNvSpPr txBox="1"/>
          <p:nvPr/>
        </p:nvSpPr>
        <p:spPr>
          <a:xfrm>
            <a:off x="6429375" y="4945856"/>
            <a:ext cx="5762625" cy="200025"/>
          </a:xfrm>
          <a:prstGeom prst="rect">
            <a:avLst/>
          </a:prstGeom>
          <a:noFill/>
        </p:spPr>
        <p:txBody>
          <a:bodyPr wrap="none" lIns="0" rIns="0" tIns="0" bIns="0" anchor="t">
            <a:spAutoFit/>
          </a:bodyPr>
          <a:lstStyle/>
          <a:p>
            <a:pPr algn="l">
              <a:lnSpc>
                <a:spcPts val="1575"/>
              </a:lnSpc>
            </a:pPr>
            <a:r>
              <a:rPr b="0" sz="1050" i="0" u="none">
                <a:solidFill>
                  <a:srgbClr val="292524"/>
                </a:solidFill>
                <a:latin typeface="Inter"/>
              </a:rPr>
              <a:t>Thành lập từ các thành viên thuộc các tổ chức xã hội chủ nghĩa sẵn có tại Úc.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graphicFrame>
        <p:nvGraphicFramePr>
          <p:cNvPr id="2" name="Table 1"/>
          <p:cNvGraphicFramePr>
            <a:graphicFrameLocks noGrp="1"/>
          </p:cNvGraphicFramePr>
          <p:nvPr/>
        </p:nvGraphicFramePr>
        <p:xfrm>
          <a:off x="609600" y="2240756"/>
          <a:ext cx="10972798" cy="3486150"/>
        </p:xfrm>
        <a:graphic>
          <a:graphicData uri="http://schemas.openxmlformats.org/drawingml/2006/table">
            <a:tbl>
              <a:tblPr firstRow="0" bandRow="0">
                <a:lnL>
                  <a:noFill/>
                </a:lnL>
                <a:lnR>
                  <a:noFill/>
                </a:lnR>
                <a:lnT>
                  <a:noFill/>
                </a:lnT>
                <a:lnB>
                  <a:noFill/>
                </a:lnB>
                <a:lnV>
                  <a:noFill/>
                </a:lnV>
                <a:lnH>
                  <a:noFill/>
                </a:lnH>
              </a:tblPr>
              <a:tblGrid>
                <a:gridCol w="1975098"/>
                <a:gridCol w="3072258"/>
                <a:gridCol w="2962572"/>
                <a:gridCol w="2962870"/>
              </a:tblGrid>
              <a:tr h="697230">
                <a:tc>
                  <a:txBody>
                    <a:bodyPr/>
                    <a:lstStyle/>
                    <a:p>
                      <a:pPr algn="l"/>
                      <a:r>
                        <a:rPr b="1" sz="1350" i="0" u="none">
                          <a:solidFill>
                            <a:srgbClr val="F8FAFC"/>
                          </a:solidFill>
                          <a:latin typeface="Inter"/>
                        </a:rPr>
                        <a:t>Tiêu Chí</a:t>
                      </a:r>
                    </a:p>
                  </a:txBody>
                  <a:tcPr anchor="ctr" marL="63500" marR="63500" marT="25400" marB="25400">
                    <a:lnL>
                      <a:noFill/>
                    </a:lnL>
                    <a:lnR>
                      <a:noFill/>
                    </a:lnR>
                    <a:lnT>
                      <a:noFill/>
                    </a:lnT>
                    <a:lnB>
                      <a:noFill/>
                    </a:lnB>
                    <a:solidFill>
                      <a:srgbClr val="8B1523"/>
                    </a:solidFill>
                  </a:tcPr>
                </a:tc>
                <a:tc>
                  <a:txBody>
                    <a:bodyPr/>
                    <a:lstStyle/>
                    <a:p>
                      <a:pPr algn="l"/>
                      <a:r>
                        <a:rPr b="1" sz="1350" i="0" u="none">
                          <a:solidFill>
                            <a:srgbClr val="F8FAFC"/>
                          </a:solidFill>
                          <a:latin typeface="Inter"/>
                        </a:rPr>
                        <a:t>Việt Nam</a:t>
                      </a:r>
                    </a:p>
                  </a:txBody>
                  <a:tcPr anchor="ctr" marL="63500" marR="63500" marT="25400" marB="25400">
                    <a:lnL>
                      <a:noFill/>
                    </a:lnL>
                    <a:lnR>
                      <a:noFill/>
                    </a:lnR>
                    <a:lnT>
                      <a:noFill/>
                    </a:lnT>
                    <a:lnB>
                      <a:noFill/>
                    </a:lnB>
                    <a:solidFill>
                      <a:srgbClr val="991B1B"/>
                    </a:solidFill>
                  </a:tcPr>
                </a:tc>
                <a:tc>
                  <a:txBody>
                    <a:bodyPr/>
                    <a:lstStyle/>
                    <a:p>
                      <a:pPr algn="l"/>
                      <a:r>
                        <a:rPr b="1" sz="1350" i="0" u="none">
                          <a:solidFill>
                            <a:srgbClr val="F8FAFC"/>
                          </a:solidFill>
                          <a:latin typeface="Inter"/>
                        </a:rPr>
                        <a:t>Châu Âu (Pháp, Đức)</a:t>
                      </a:r>
                    </a:p>
                  </a:txBody>
                  <a:tcPr anchor="ctr" marL="63500" marR="63500" marT="25400" marB="25400">
                    <a:lnL>
                      <a:noFill/>
                    </a:lnL>
                    <a:lnR>
                      <a:noFill/>
                    </a:lnR>
                    <a:lnT>
                      <a:noFill/>
                    </a:lnT>
                    <a:lnB>
                      <a:noFill/>
                    </a:lnB>
                    <a:solidFill>
                      <a:srgbClr val="8B1523"/>
                    </a:solidFill>
                  </a:tcPr>
                </a:tc>
                <a:tc>
                  <a:txBody>
                    <a:bodyPr/>
                    <a:lstStyle/>
                    <a:p>
                      <a:pPr algn="l"/>
                      <a:r>
                        <a:rPr b="1" sz="1350" i="0" u="none">
                          <a:solidFill>
                            <a:srgbClr val="F8FAFC"/>
                          </a:solidFill>
                          <a:latin typeface="Inter"/>
                        </a:rPr>
                        <a:t>Châu Á (TQ, Inđô)</a:t>
                      </a:r>
                    </a:p>
                  </a:txBody>
                  <a:tcPr anchor="ctr" marL="63500" marR="63500" marT="25400" marB="25400">
                    <a:lnL>
                      <a:noFill/>
                    </a:lnL>
                    <a:lnR>
                      <a:noFill/>
                    </a:lnR>
                    <a:lnT>
                      <a:noFill/>
                    </a:lnT>
                    <a:lnB>
                      <a:noFill/>
                    </a:lnB>
                    <a:solidFill>
                      <a:srgbClr val="8B1523"/>
                    </a:solidFill>
                  </a:tcPr>
                </a:tc>
              </a:tr>
              <a:tr h="697230">
                <a:tc>
                  <a:txBody>
                    <a:bodyPr/>
                    <a:lstStyle/>
                    <a:p>
                      <a:pPr algn="l"/>
                      <a:r>
                        <a:rPr b="1" sz="1350" i="0" u="none">
                          <a:solidFill>
                            <a:srgbClr val="292524"/>
                          </a:solidFill>
                          <a:latin typeface="Inter"/>
                        </a:rPr>
                        <a:t>Bối Cảnh &amp; Mâu Thuẫn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292524"/>
                          </a:solidFill>
                          <a:latin typeface="Inter"/>
                        </a:rPr>
                        <a:t>Thuộc địa nửa phong kiến; Mâu thuẫn dân tộc là chủ yếu.</a:t>
                      </a:r>
                    </a:p>
                  </a:txBody>
                  <a:tcPr anchor="ctr" marL="63500" marR="63500" marT="25400" marB="25400">
                    <a:lnL>
                      <a:noFill/>
                    </a:lnL>
                    <a:lnR>
                      <a:noFill/>
                    </a:lnR>
                    <a:lnT>
                      <a:noFill/>
                    </a:lnT>
                    <a:lnB>
                      <a:noFill/>
                    </a:lnB>
                    <a:solidFill>
                      <a:srgbClr val="FBF0F1"/>
                    </a:solidFill>
                  </a:tcPr>
                </a:tc>
                <a:tc>
                  <a:txBody>
                    <a:bodyPr/>
                    <a:lstStyle/>
                    <a:p>
                      <a:pPr algn="l"/>
                      <a:r>
                        <a:rPr b="0" sz="1350" i="0" u="none">
                          <a:solidFill>
                            <a:srgbClr val="292524"/>
                          </a:solidFill>
                          <a:latin typeface="Inter"/>
                        </a:rPr>
                        <a:t>Chính quốc tư bản; Mâu thuẫn vô sản - tư sản.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292524"/>
                          </a:solidFill>
                          <a:latin typeface="Inter"/>
                        </a:rPr>
                        <a:t>Thuộc địa / nửa thuộc địa; Mâu thuẫn dân tộc.</a:t>
                      </a:r>
                    </a:p>
                  </a:txBody>
                  <a:tcPr anchor="ctr" marL="63500" marR="63500" marT="25400" marB="25400">
                    <a:lnL>
                      <a:noFill/>
                    </a:lnL>
                    <a:lnR>
                      <a:noFill/>
                    </a:lnR>
                    <a:lnT>
                      <a:noFill/>
                    </a:lnT>
                    <a:lnB>
                      <a:noFill/>
                    </a:lnB>
                    <a:solidFill>
                      <a:srgbClr val="FFFFFF"/>
                    </a:solidFill>
                  </a:tcPr>
                </a:tc>
              </a:tr>
              <a:tr h="697230">
                <a:tc>
                  <a:txBody>
                    <a:bodyPr/>
                    <a:lstStyle/>
                    <a:p>
                      <a:pPr algn="l"/>
                      <a:r>
                        <a:rPr b="1" sz="1350" i="0" u="none">
                          <a:solidFill>
                            <a:srgbClr val="292524"/>
                          </a:solidFill>
                          <a:latin typeface="Inter"/>
                        </a:rPr>
                        <a:t>Tổ Chức Tiền Thân</a:t>
                      </a:r>
                    </a:p>
                  </a:txBody>
                  <a:tcPr anchor="ctr" marL="63500" marR="63500" marT="25400" marB="25400">
                    <a:lnL>
                      <a:noFill/>
                    </a:lnL>
                    <a:lnR>
                      <a:noFill/>
                    </a:lnR>
                    <a:lnT>
                      <a:noFill/>
                    </a:lnT>
                    <a:lnB>
                      <a:noFill/>
                    </a:lnB>
                    <a:solidFill>
                      <a:srgbClr val="F9F8F6"/>
                    </a:solidFill>
                  </a:tcPr>
                </a:tc>
                <a:tc>
                  <a:txBody>
                    <a:bodyPr/>
                    <a:lstStyle/>
                    <a:p>
                      <a:pPr algn="l"/>
                      <a:r>
                        <a:rPr b="0" sz="1350" i="0" u="none">
                          <a:solidFill>
                            <a:srgbClr val="292524"/>
                          </a:solidFill>
                          <a:latin typeface="Inter"/>
                        </a:rPr>
                        <a:t>Hội VN Cách mạng Thanh niên -&gt; 3 tổ chức cộng sản.</a:t>
                      </a:r>
                    </a:p>
                  </a:txBody>
                  <a:tcPr anchor="ctr" marL="63500" marR="63500" marT="25400" marB="25400">
                    <a:lnL>
                      <a:noFill/>
                    </a:lnL>
                    <a:lnR>
                      <a:noFill/>
                    </a:lnR>
                    <a:lnT>
                      <a:noFill/>
                    </a:lnT>
                    <a:lnB>
                      <a:noFill/>
                    </a:lnB>
                    <a:solidFill>
                      <a:srgbClr val="FBF0F1"/>
                    </a:solidFill>
                  </a:tcPr>
                </a:tc>
                <a:tc>
                  <a:txBody>
                    <a:bodyPr/>
                    <a:lstStyle/>
                    <a:p>
                      <a:pPr algn="l"/>
                      <a:r>
                        <a:rPr b="0" sz="1350" i="0" u="none">
                          <a:solidFill>
                            <a:srgbClr val="292524"/>
                          </a:solidFill>
                          <a:latin typeface="Inter"/>
                        </a:rPr>
                        <a:t>Tách ra từ các Đảng Xã hội / Dân chủ Xã hội.</a:t>
                      </a:r>
                    </a:p>
                  </a:txBody>
                  <a:tcPr anchor="ctr" marL="63500" marR="63500" marT="25400" marB="25400">
                    <a:lnL>
                      <a:noFill/>
                    </a:lnL>
                    <a:lnR>
                      <a:noFill/>
                    </a:lnR>
                    <a:lnT>
                      <a:noFill/>
                    </a:lnT>
                    <a:lnB>
                      <a:noFill/>
                    </a:lnB>
                    <a:solidFill>
                      <a:srgbClr val="F9F8F6"/>
                    </a:solidFill>
                  </a:tcPr>
                </a:tc>
                <a:tc>
                  <a:txBody>
                    <a:bodyPr/>
                    <a:lstStyle/>
                    <a:p>
                      <a:pPr algn="l"/>
                      <a:r>
                        <a:rPr b="0" sz="1350" i="0" u="none">
                          <a:solidFill>
                            <a:srgbClr val="292524"/>
                          </a:solidFill>
                          <a:latin typeface="Inter"/>
                        </a:rPr>
                        <a:t>Các nhóm trí thức, phong trào thanh niên, ISDV.</a:t>
                      </a:r>
                    </a:p>
                  </a:txBody>
                  <a:tcPr anchor="ctr" marL="63500" marR="63500" marT="25400" marB="25400">
                    <a:lnL>
                      <a:noFill/>
                    </a:lnL>
                    <a:lnR>
                      <a:noFill/>
                    </a:lnR>
                    <a:lnT>
                      <a:noFill/>
                    </a:lnT>
                    <a:lnB>
                      <a:noFill/>
                    </a:lnB>
                    <a:solidFill>
                      <a:srgbClr val="F9F8F6"/>
                    </a:solidFill>
                  </a:tcPr>
                </a:tc>
              </a:tr>
              <a:tr h="697230">
                <a:tc>
                  <a:txBody>
                    <a:bodyPr/>
                    <a:lstStyle/>
                    <a:p>
                      <a:pPr algn="l"/>
                      <a:r>
                        <a:rPr b="1" sz="1350" i="0" u="none">
                          <a:solidFill>
                            <a:srgbClr val="292524"/>
                          </a:solidFill>
                          <a:latin typeface="Inter"/>
                        </a:rPr>
                        <a:t>Cơ Sở Xã Hội</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292524"/>
                          </a:solidFill>
                          <a:latin typeface="Inter"/>
                        </a:rPr>
                        <a:t>Phong trào công nhân + Phong trào yêu nước.</a:t>
                      </a:r>
                    </a:p>
                  </a:txBody>
                  <a:tcPr anchor="ctr" marL="63500" marR="63500" marT="25400" marB="25400">
                    <a:lnL>
                      <a:noFill/>
                    </a:lnL>
                    <a:lnR>
                      <a:noFill/>
                    </a:lnR>
                    <a:lnT>
                      <a:noFill/>
                    </a:lnT>
                    <a:lnB>
                      <a:noFill/>
                    </a:lnB>
                    <a:solidFill>
                      <a:srgbClr val="FBF0F1"/>
                    </a:solidFill>
                  </a:tcPr>
                </a:tc>
                <a:tc>
                  <a:txBody>
                    <a:bodyPr/>
                    <a:lstStyle/>
                    <a:p>
                      <a:pPr algn="l"/>
                      <a:r>
                        <a:rPr b="0" sz="1350" i="0" u="none">
                          <a:solidFill>
                            <a:srgbClr val="292524"/>
                          </a:solidFill>
                          <a:latin typeface="Inter"/>
                        </a:rPr>
                        <a:t>Phong trào công nhân thuần túy.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292524"/>
                          </a:solidFill>
                          <a:latin typeface="Inter"/>
                        </a:rPr>
                        <a:t>Trí thức tiến bộ, nông dân và công nhân non trẻ.</a:t>
                      </a:r>
                    </a:p>
                  </a:txBody>
                  <a:tcPr anchor="ctr" marL="63500" marR="63500" marT="25400" marB="25400">
                    <a:lnL>
                      <a:noFill/>
                    </a:lnL>
                    <a:lnR>
                      <a:noFill/>
                    </a:lnR>
                    <a:lnT>
                      <a:noFill/>
                    </a:lnT>
                    <a:lnB>
                      <a:noFill/>
                    </a:lnB>
                    <a:solidFill>
                      <a:srgbClr val="FFFFFF"/>
                    </a:solidFill>
                  </a:tcPr>
                </a:tc>
              </a:tr>
              <a:tr h="697230">
                <a:tc>
                  <a:txBody>
                    <a:bodyPr/>
                    <a:lstStyle/>
                    <a:p>
                      <a:pPr algn="l"/>
                      <a:r>
                        <a:rPr b="1" sz="1350" i="0" u="none">
                          <a:solidFill>
                            <a:srgbClr val="292524"/>
                          </a:solidFill>
                          <a:latin typeface="Inter"/>
                        </a:rPr>
                        <a:t>Nhiệm Vụ Hàng Đầu</a:t>
                      </a:r>
                    </a:p>
                  </a:txBody>
                  <a:tcPr anchor="ctr" marL="63500" marR="63500" marT="25400" marB="25400">
                    <a:lnL>
                      <a:noFill/>
                    </a:lnL>
                    <a:lnR>
                      <a:noFill/>
                    </a:lnR>
                    <a:lnT>
                      <a:noFill/>
                    </a:lnT>
                    <a:lnB>
                      <a:noFill/>
                    </a:lnB>
                    <a:solidFill>
                      <a:srgbClr val="F9F8F6"/>
                    </a:solidFill>
                  </a:tcPr>
                </a:tc>
                <a:tc>
                  <a:txBody>
                    <a:bodyPr/>
                    <a:lstStyle/>
                    <a:p>
                      <a:pPr algn="l"/>
                      <a:r>
                        <a:rPr b="1" sz="1350" i="0" u="none">
                          <a:solidFill>
                            <a:srgbClr val="8B1523"/>
                          </a:solidFill>
                          <a:latin typeface="Inter"/>
                        </a:rPr>
                        <a:t>Giải phóng dân tộc, chống đế quốc.</a:t>
                      </a:r>
                    </a:p>
                  </a:txBody>
                  <a:tcPr anchor="ctr" marL="63500" marR="63500" marT="25400" marB="25400">
                    <a:lnL>
                      <a:noFill/>
                    </a:lnL>
                    <a:lnR>
                      <a:noFill/>
                    </a:lnR>
                    <a:lnT>
                      <a:noFill/>
                    </a:lnT>
                    <a:lnB>
                      <a:noFill/>
                    </a:lnB>
                    <a:solidFill>
                      <a:srgbClr val="FBF0F1"/>
                    </a:solidFill>
                  </a:tcPr>
                </a:tc>
                <a:tc>
                  <a:txBody>
                    <a:bodyPr/>
                    <a:lstStyle/>
                    <a:p>
                      <a:pPr algn="l"/>
                      <a:r>
                        <a:rPr b="0" sz="1350" i="0" u="none">
                          <a:solidFill>
                            <a:srgbClr val="292524"/>
                          </a:solidFill>
                          <a:latin typeface="Inter"/>
                        </a:rPr>
                        <a:t>Đấu tranh giai cấp, lật đổ tư sản.</a:t>
                      </a:r>
                    </a:p>
                  </a:txBody>
                  <a:tcPr anchor="ctr" marL="63500" marR="63500" marT="25400" marB="25400">
                    <a:lnL>
                      <a:noFill/>
                    </a:lnL>
                    <a:lnR>
                      <a:noFill/>
                    </a:lnR>
                    <a:lnT>
                      <a:noFill/>
                    </a:lnT>
                    <a:lnB>
                      <a:noFill/>
                    </a:lnB>
                    <a:solidFill>
                      <a:srgbClr val="F9F8F6"/>
                    </a:solidFill>
                  </a:tcPr>
                </a:tc>
                <a:tc>
                  <a:txBody>
                    <a:bodyPr/>
                    <a:lstStyle/>
                    <a:p>
                      <a:pPr algn="l"/>
                      <a:r>
                        <a:rPr b="0" sz="1350" i="0" u="none">
                          <a:solidFill>
                            <a:srgbClr val="292524"/>
                          </a:solidFill>
                          <a:latin typeface="Inter"/>
                        </a:rPr>
                        <a:t>Giải phóng dân tộc &amp; chống phong kiến.</a:t>
                      </a:r>
                    </a:p>
                  </a:txBody>
                  <a:tcPr anchor="ctr" marL="63500" marR="63500" marT="25400" marB="25400">
                    <a:lnL>
                      <a:noFill/>
                    </a:lnL>
                    <a:lnR>
                      <a:noFill/>
                    </a:lnR>
                    <a:lnT>
                      <a:noFill/>
                    </a:lnT>
                    <a:lnB>
                      <a:noFill/>
                    </a:lnB>
                    <a:solidFill>
                      <a:srgbClr val="F9F8F6"/>
                    </a:solidFill>
                  </a:tcPr>
                </a:tc>
              </a:tr>
            </a:tbl>
          </a:graphicData>
        </a:graphic>
      </p:graphicFrame>
      <p:sp>
        <p:nvSpPr>
          <p:cNvPr id="3" name="TextBox 2"/>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TỔNG HỢP ĐÁNH GIÁ</a:t>
            </a:r>
          </a:p>
        </p:txBody>
      </p:sp>
      <p:sp>
        <p:nvSpPr>
          <p:cNvPr id="4" name="TextBox 3"/>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Bảng So Sánh Theo Các Tiêu Chí Trọng Tâm</a:t>
            </a:r>
          </a:p>
        </p:txBody>
      </p:sp>
      <p:sp>
        <p:nvSpPr>
          <p:cNvPr id="5" name="TextBox 4"/>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Đối chiếu trực tiếp Việt Nam với Châu Âu và Châu Á - Thái Bình Dương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2971800" y="1566862"/>
            <a:ext cx="6248400" cy="2215753"/>
          </a:xfrm>
          <a:prstGeom prst="roundRect">
            <a:avLst>
              <a:gd name="adj" fmla="val 3439"/>
            </a:avLst>
          </a:prstGeom>
          <a:solidFill>
            <a:srgbClr val="F4F1EA"/>
          </a:solidFill>
          <a:ln w="9525">
            <a:solidFill>
              <a:srgbClr val="E5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29087" y="4011215"/>
            <a:ext cx="3933825" cy="2389584"/>
          </a:xfrm>
          <a:prstGeom prst="roundRect">
            <a:avLst>
              <a:gd name="adj" fmla="val 3188"/>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29087" y="6391275"/>
            <a:ext cx="393382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9087" y="4011215"/>
            <a:ext cx="3933825"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29087" y="4011215"/>
            <a:ext cx="38100" cy="2389584"/>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53387" y="4011215"/>
            <a:ext cx="9525" cy="2389584"/>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95787" y="4582715"/>
            <a:ext cx="3429000" cy="647700"/>
          </a:xfrm>
          <a:prstGeom prst="roundRect">
            <a:avLst>
              <a:gd name="adj" fmla="val 88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95787" y="5325665"/>
            <a:ext cx="3429000" cy="666750"/>
          </a:xfrm>
          <a:prstGeom prst="roundRect">
            <a:avLst>
              <a:gd name="adj" fmla="val 8571"/>
            </a:avLst>
          </a:prstGeom>
          <a:solidFill>
            <a:srgbClr val="FBF0F1"/>
          </a:solidFill>
          <a:ln w="9525">
            <a:solidFill>
              <a:srgbClr val="8B15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3209925" y="1833562"/>
            <a:ext cx="161925" cy="171450"/>
          </a:xfrm>
          <a:prstGeom prst="rect">
            <a:avLst/>
          </a:prstGeom>
        </p:spPr>
      </p:pic>
      <p:pic>
        <p:nvPicPr>
          <p:cNvPr id="11" name="Picture 10" descr="image.png"/>
          <p:cNvPicPr>
            <a:picLocks noChangeAspect="1"/>
          </p:cNvPicPr>
          <p:nvPr/>
        </p:nvPicPr>
        <p:blipFill>
          <a:blip r:embed="rId3"/>
          <a:stretch>
            <a:fillRect/>
          </a:stretch>
        </p:blipFill>
        <p:spPr>
          <a:xfrm>
            <a:off x="4395787" y="4277915"/>
            <a:ext cx="171450" cy="171450"/>
          </a:xfrm>
          <a:prstGeom prst="rect">
            <a:avLst/>
          </a:prstGeom>
        </p:spPr>
      </p:pic>
      <p:sp>
        <p:nvSpPr>
          <p:cNvPr id="12" name="TextBox 11"/>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QUY LUẬT RA ĐỜI</a:t>
            </a:r>
          </a:p>
        </p:txBody>
      </p:sp>
      <p:sp>
        <p:nvSpPr>
          <p:cNvPr id="13" name="TextBox 12"/>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Nhận Xét So Sánh &amp; Sự Khác Biệt Quy Luật</a:t>
            </a:r>
          </a:p>
        </p:txBody>
      </p:sp>
      <p:sp>
        <p:nvSpPr>
          <p:cNvPr id="14" name="TextBox 13"/>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Sự tương đồng về nền tảng và điểm khác biệt về công thức cấu thành</a:t>
            </a:r>
          </a:p>
        </p:txBody>
      </p:sp>
      <p:sp>
        <p:nvSpPr>
          <p:cNvPr id="15" name="TextBox 14"/>
          <p:cNvSpPr txBox="1"/>
          <p:nvPr/>
        </p:nvSpPr>
        <p:spPr>
          <a:xfrm>
            <a:off x="3209925" y="1804987"/>
            <a:ext cx="7575946" cy="219075"/>
          </a:xfrm>
          <a:prstGeom prst="rect">
            <a:avLst/>
          </a:prstGeom>
          <a:noFill/>
        </p:spPr>
        <p:txBody>
          <a:bodyPr wrap="none" lIns="238125" rIns="0" tIns="0" bIns="0" anchor="t">
            <a:spAutoFit/>
          </a:bodyPr>
          <a:lstStyle/>
          <a:p>
            <a:pPr algn="l"/>
            <a:r>
              <a:rPr b="1" sz="1350" i="0" u="none">
                <a:solidFill>
                  <a:srgbClr val="1C1917"/>
                </a:solidFill>
                <a:latin typeface="Merriweather"/>
              </a:rPr>
              <a:t>Điểm Giống Nhau</a:t>
            </a:r>
          </a:p>
        </p:txBody>
      </p:sp>
      <p:sp>
        <p:nvSpPr>
          <p:cNvPr id="16" name="TextBox 15"/>
          <p:cNvSpPr txBox="1"/>
          <p:nvPr/>
        </p:nvSpPr>
        <p:spPr>
          <a:xfrm>
            <a:off x="4395787" y="4249340"/>
            <a:ext cx="4500562" cy="219075"/>
          </a:xfrm>
          <a:prstGeom prst="rect">
            <a:avLst/>
          </a:prstGeom>
          <a:noFill/>
        </p:spPr>
        <p:txBody>
          <a:bodyPr wrap="none" lIns="247650" rIns="0" tIns="0" bIns="0" anchor="t">
            <a:spAutoFit/>
          </a:bodyPr>
          <a:lstStyle/>
          <a:p>
            <a:pPr algn="l"/>
            <a:r>
              <a:rPr b="1" sz="1350" i="0" u="none">
                <a:solidFill>
                  <a:srgbClr val="8B1523"/>
                </a:solidFill>
                <a:latin typeface="Merriweather"/>
              </a:rPr>
              <a:t>Điểm Khác Biệt Quy Luật</a:t>
            </a:r>
          </a:p>
        </p:txBody>
      </p:sp>
      <p:sp>
        <p:nvSpPr>
          <p:cNvPr id="17" name="TextBox 16"/>
          <p:cNvSpPr txBox="1"/>
          <p:nvPr/>
        </p:nvSpPr>
        <p:spPr>
          <a:xfrm>
            <a:off x="3305175" y="2138362"/>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18" name="TextBox 17"/>
          <p:cNvSpPr txBox="1"/>
          <p:nvPr/>
        </p:nvSpPr>
        <p:spPr>
          <a:xfrm>
            <a:off x="3400425" y="2138362"/>
            <a:ext cx="6977062" cy="257175"/>
          </a:xfrm>
          <a:prstGeom prst="rect">
            <a:avLst/>
          </a:prstGeom>
          <a:noFill/>
        </p:spPr>
        <p:txBody>
          <a:bodyPr wrap="none" lIns="95250" rIns="0" tIns="0" bIns="0" anchor="t">
            <a:spAutoFit/>
          </a:bodyPr>
          <a:lstStyle/>
          <a:p>
            <a:pPr algn="l">
              <a:lnSpc>
                <a:spcPts val="2025"/>
              </a:lnSpc>
            </a:pPr>
            <a:r>
              <a:rPr b="1" sz="1350" i="0" u="none">
                <a:solidFill>
                  <a:srgbClr val="292524"/>
                </a:solidFill>
                <a:latin typeface="Inter"/>
              </a:rPr>
              <a:t>Nền tảng tư tưởng:</a:t>
            </a:r>
            <a:r>
              <a:rPr b="0" sz="1350" i="0" u="none">
                <a:solidFill>
                  <a:srgbClr val="292524"/>
                </a:solidFill>
                <a:latin typeface="Inter"/>
              </a:rPr>
              <a:t> Đều lấy Chủ nghĩa Mác - Lênin làm kim chỉ nam.</a:t>
            </a:r>
          </a:p>
        </p:txBody>
      </p:sp>
      <p:sp>
        <p:nvSpPr>
          <p:cNvPr id="19" name="TextBox 18"/>
          <p:cNvSpPr txBox="1"/>
          <p:nvPr/>
        </p:nvSpPr>
        <p:spPr>
          <a:xfrm>
            <a:off x="3305175" y="2471737"/>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20" name="TextBox 19"/>
          <p:cNvSpPr txBox="1"/>
          <p:nvPr/>
        </p:nvSpPr>
        <p:spPr>
          <a:xfrm>
            <a:off x="3400425" y="2471737"/>
            <a:ext cx="6977062" cy="257175"/>
          </a:xfrm>
          <a:prstGeom prst="rect">
            <a:avLst/>
          </a:prstGeom>
          <a:noFill/>
        </p:spPr>
        <p:txBody>
          <a:bodyPr wrap="none" lIns="95250" rIns="0" tIns="0" bIns="0" anchor="t">
            <a:spAutoFit/>
          </a:bodyPr>
          <a:lstStyle/>
          <a:p>
            <a:pPr algn="l">
              <a:lnSpc>
                <a:spcPts val="2025"/>
              </a:lnSpc>
            </a:pPr>
            <a:r>
              <a:rPr b="1" sz="1350" i="0" u="none">
                <a:solidFill>
                  <a:srgbClr val="292524"/>
                </a:solidFill>
                <a:latin typeface="Inter"/>
              </a:rPr>
              <a:t>Bối cảnh thời đại:</a:t>
            </a:r>
            <a:r>
              <a:rPr b="0" sz="1350" i="0" u="none">
                <a:solidFill>
                  <a:srgbClr val="292524"/>
                </a:solidFill>
                <a:latin typeface="Inter"/>
              </a:rPr>
              <a:t> Chịu tác động sâu sắc từ Cách mạng T10 Nga 1917.</a:t>
            </a:r>
          </a:p>
        </p:txBody>
      </p:sp>
      <p:sp>
        <p:nvSpPr>
          <p:cNvPr id="21" name="TextBox 20"/>
          <p:cNvSpPr txBox="1"/>
          <p:nvPr/>
        </p:nvSpPr>
        <p:spPr>
          <a:xfrm>
            <a:off x="3305175" y="2805112"/>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22" name="TextBox 21"/>
          <p:cNvSpPr txBox="1"/>
          <p:nvPr/>
        </p:nvSpPr>
        <p:spPr>
          <a:xfrm>
            <a:off x="3400425" y="2805112"/>
            <a:ext cx="6977062" cy="257175"/>
          </a:xfrm>
          <a:prstGeom prst="rect">
            <a:avLst/>
          </a:prstGeom>
          <a:noFill/>
        </p:spPr>
        <p:txBody>
          <a:bodyPr wrap="none" lIns="95250" rIns="0" tIns="0" bIns="0" anchor="t">
            <a:spAutoFit/>
          </a:bodyPr>
          <a:lstStyle/>
          <a:p>
            <a:pPr algn="l">
              <a:lnSpc>
                <a:spcPts val="2025"/>
              </a:lnSpc>
            </a:pPr>
            <a:r>
              <a:rPr b="1" sz="1350" i="0" u="none">
                <a:solidFill>
                  <a:srgbClr val="292524"/>
                </a:solidFill>
                <a:latin typeface="Inter"/>
              </a:rPr>
              <a:t>Vai trò thúc đẩy:</a:t>
            </a:r>
            <a:r>
              <a:rPr b="0" sz="1350" i="0" u="none">
                <a:solidFill>
                  <a:srgbClr val="292524"/>
                </a:solidFill>
                <a:latin typeface="Inter"/>
              </a:rPr>
              <a:t> Quốc tế Cộng sản III trực tiếp hướng dẫn thành lập.</a:t>
            </a:r>
          </a:p>
        </p:txBody>
      </p:sp>
      <p:sp>
        <p:nvSpPr>
          <p:cNvPr id="23" name="TextBox 22"/>
          <p:cNvSpPr txBox="1"/>
          <p:nvPr/>
        </p:nvSpPr>
        <p:spPr>
          <a:xfrm>
            <a:off x="3305175" y="3138487"/>
            <a:ext cx="95250" cy="257175"/>
          </a:xfrm>
          <a:prstGeom prst="rect">
            <a:avLst/>
          </a:prstGeom>
          <a:noFill/>
        </p:spPr>
        <p:txBody>
          <a:bodyPr wrap="none" lIns="0" rIns="0" tIns="0" bIns="0" anchor="t">
            <a:spAutoFit/>
          </a:bodyPr>
          <a:lstStyle/>
          <a:p>
            <a:pPr algn="l"/>
            <a:r>
              <a:rPr b="0" sz="1350" i="0" u="none">
                <a:solidFill>
                  <a:srgbClr val="292524"/>
                </a:solidFill>
                <a:latin typeface="Inter"/>
              </a:rPr>
              <a:t>•</a:t>
            </a:r>
          </a:p>
        </p:txBody>
      </p:sp>
      <p:sp>
        <p:nvSpPr>
          <p:cNvPr id="24" name="TextBox 23"/>
          <p:cNvSpPr txBox="1"/>
          <p:nvPr/>
        </p:nvSpPr>
        <p:spPr>
          <a:xfrm>
            <a:off x="3400425" y="3138487"/>
            <a:ext cx="6977062" cy="257175"/>
          </a:xfrm>
          <a:prstGeom prst="rect">
            <a:avLst/>
          </a:prstGeom>
          <a:noFill/>
        </p:spPr>
        <p:txBody>
          <a:bodyPr wrap="none" lIns="95250" rIns="0" tIns="0" bIns="0" anchor="t">
            <a:spAutoFit/>
          </a:bodyPr>
          <a:lstStyle/>
          <a:p>
            <a:pPr algn="l">
              <a:lnSpc>
                <a:spcPts val="2025"/>
              </a:lnSpc>
            </a:pPr>
            <a:r>
              <a:rPr b="1" sz="1350" i="0" u="none">
                <a:solidFill>
                  <a:srgbClr val="292524"/>
                </a:solidFill>
                <a:latin typeface="Inter"/>
              </a:rPr>
              <a:t>Nòng cốt giai cấp:</a:t>
            </a:r>
            <a:r>
              <a:rPr b="0" sz="1350" i="0" u="none">
                <a:solidFill>
                  <a:srgbClr val="292524"/>
                </a:solidFill>
                <a:latin typeface="Inter"/>
              </a:rPr>
              <a:t> Đều cần phong trào công nhân làm cơ sở.</a:t>
            </a:r>
          </a:p>
        </p:txBody>
      </p:sp>
      <p:sp>
        <p:nvSpPr>
          <p:cNvPr id="25" name="TextBox 24"/>
          <p:cNvSpPr txBox="1"/>
          <p:nvPr/>
        </p:nvSpPr>
        <p:spPr>
          <a:xfrm>
            <a:off x="4510087" y="4697015"/>
            <a:ext cx="4000500" cy="185737"/>
          </a:xfrm>
          <a:prstGeom prst="rect">
            <a:avLst/>
          </a:prstGeom>
          <a:noFill/>
        </p:spPr>
        <p:txBody>
          <a:bodyPr wrap="none" lIns="0" rIns="0" tIns="0" bIns="0" anchor="t">
            <a:spAutoFit/>
          </a:bodyPr>
          <a:lstStyle/>
          <a:p>
            <a:pPr algn="l">
              <a:lnSpc>
                <a:spcPts val="1462"/>
              </a:lnSpc>
            </a:pPr>
            <a:r>
              <a:rPr b="0" sz="975" i="0" u="none">
                <a:solidFill>
                  <a:srgbClr val="666666"/>
                </a:solidFill>
                <a:latin typeface="Inter"/>
              </a:rPr>
              <a:t>Ở Các Nước Tư Bản / Chính Quốc:</a:t>
            </a:r>
          </a:p>
        </p:txBody>
      </p:sp>
      <p:sp>
        <p:nvSpPr>
          <p:cNvPr id="26" name="TextBox 25"/>
          <p:cNvSpPr txBox="1"/>
          <p:nvPr/>
        </p:nvSpPr>
        <p:spPr>
          <a:xfrm>
            <a:off x="4510087" y="4901803"/>
            <a:ext cx="4000500" cy="214312"/>
          </a:xfrm>
          <a:prstGeom prst="rect">
            <a:avLst/>
          </a:prstGeom>
          <a:noFill/>
        </p:spPr>
        <p:txBody>
          <a:bodyPr wrap="none" lIns="0" rIns="0" tIns="0" bIns="0" anchor="t">
            <a:spAutoFit/>
          </a:bodyPr>
          <a:lstStyle/>
          <a:p>
            <a:pPr algn="l">
              <a:lnSpc>
                <a:spcPts val="1687"/>
              </a:lnSpc>
            </a:pPr>
            <a:r>
              <a:rPr b="1" sz="1125" i="0" u="none">
                <a:solidFill>
                  <a:srgbClr val="1C1917"/>
                </a:solidFill>
                <a:latin typeface="Inter"/>
              </a:rPr>
              <a:t>CN Mác-Lênin + Phong trào Công nhân</a:t>
            </a:r>
          </a:p>
        </p:txBody>
      </p:sp>
      <p:sp>
        <p:nvSpPr>
          <p:cNvPr id="27" name="TextBox 26"/>
          <p:cNvSpPr txBox="1"/>
          <p:nvPr/>
        </p:nvSpPr>
        <p:spPr>
          <a:xfrm>
            <a:off x="4519612" y="5449490"/>
            <a:ext cx="3976687" cy="185737"/>
          </a:xfrm>
          <a:prstGeom prst="rect">
            <a:avLst/>
          </a:prstGeom>
          <a:noFill/>
        </p:spPr>
        <p:txBody>
          <a:bodyPr wrap="none" lIns="0" rIns="0" tIns="0" bIns="0" anchor="t">
            <a:spAutoFit/>
          </a:bodyPr>
          <a:lstStyle/>
          <a:p>
            <a:pPr algn="l">
              <a:lnSpc>
                <a:spcPts val="1462"/>
              </a:lnSpc>
            </a:pPr>
            <a:r>
              <a:rPr b="0" sz="975" i="0" u="none">
                <a:solidFill>
                  <a:srgbClr val="8B1523"/>
                </a:solidFill>
                <a:latin typeface="Inter"/>
              </a:rPr>
              <a:t>Ở Việt Nam (Nước Thuộc Địa):</a:t>
            </a:r>
          </a:p>
        </p:txBody>
      </p:sp>
      <p:sp>
        <p:nvSpPr>
          <p:cNvPr id="28" name="TextBox 27"/>
          <p:cNvSpPr txBox="1"/>
          <p:nvPr/>
        </p:nvSpPr>
        <p:spPr>
          <a:xfrm>
            <a:off x="4519612" y="5654278"/>
            <a:ext cx="3976687" cy="214312"/>
          </a:xfrm>
          <a:prstGeom prst="rect">
            <a:avLst/>
          </a:prstGeom>
          <a:noFill/>
        </p:spPr>
        <p:txBody>
          <a:bodyPr wrap="none" lIns="0" rIns="0" tIns="0" bIns="0" anchor="t">
            <a:spAutoFit/>
          </a:bodyPr>
          <a:lstStyle/>
          <a:p>
            <a:pPr algn="l">
              <a:lnSpc>
                <a:spcPts val="1687"/>
              </a:lnSpc>
            </a:pPr>
            <a:r>
              <a:rPr b="1" sz="1125" i="0" u="none">
                <a:solidFill>
                  <a:srgbClr val="8B1523"/>
                </a:solidFill>
                <a:latin typeface="Inter"/>
              </a:rPr>
              <a:t>CN Mác-Lênin + PT Công nhân + PT Yêu nước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a:off x="609600" y="2781300"/>
            <a:ext cx="10972800" cy="1071562"/>
          </a:xfrm>
          <a:prstGeom prst="roundRect">
            <a:avLst>
              <a:gd name="adj" fmla="val 7111"/>
            </a:avLst>
          </a:prstGeom>
          <a:solidFill>
            <a:srgbClr val="292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2781300"/>
            <a:ext cx="38100" cy="10715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4043362"/>
            <a:ext cx="5391150" cy="1143000"/>
          </a:xfrm>
          <a:prstGeom prst="roundRect">
            <a:avLst>
              <a:gd name="adj" fmla="val 6666"/>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4043362"/>
            <a:ext cx="5391150" cy="1143000"/>
          </a:xfrm>
          <a:prstGeom prst="roundRect">
            <a:avLst>
              <a:gd name="adj" fmla="val 6666"/>
            </a:avLst>
          </a:prstGeom>
          <a:solidFill>
            <a:srgbClr val="FB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5176837"/>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4043362"/>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4043362"/>
            <a:ext cx="38100" cy="1143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91225" y="4043362"/>
            <a:ext cx="9525" cy="1143000"/>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1250" y="5176837"/>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1250" y="4043362"/>
            <a:ext cx="5391150" cy="9525"/>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1250" y="4043362"/>
            <a:ext cx="38100" cy="1143000"/>
          </a:xfrm>
          <a:prstGeom prst="rect">
            <a:avLst/>
          </a:prstGeom>
          <a:solidFill>
            <a:srgbClr val="8B1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72875" y="4043362"/>
            <a:ext cx="9525" cy="1143000"/>
          </a:xfrm>
          <a:prstGeom prst="rect">
            <a:avLst/>
          </a:prstGeom>
          <a:solidFill>
            <a:srgbClr val="E5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 y="457200"/>
            <a:ext cx="11582400" cy="161925"/>
          </a:xfrm>
          <a:prstGeom prst="rect">
            <a:avLst/>
          </a:prstGeom>
          <a:noFill/>
        </p:spPr>
        <p:txBody>
          <a:bodyPr wrap="none" lIns="0" rIns="0" tIns="0" bIns="0" anchor="t">
            <a:spAutoFit/>
          </a:bodyPr>
          <a:lstStyle/>
          <a:p>
            <a:pPr algn="l"/>
            <a:r>
              <a:rPr b="1" sz="1050" i="0" u="none">
                <a:solidFill>
                  <a:srgbClr val="8B1523"/>
                </a:solidFill>
                <a:latin typeface="Inter"/>
              </a:rPr>
              <a:t>SÁNG TẠO LÝ LUẬN</a:t>
            </a:r>
          </a:p>
        </p:txBody>
      </p:sp>
      <p:sp>
        <p:nvSpPr>
          <p:cNvPr id="15" name="TextBox 14"/>
          <p:cNvSpPr txBox="1"/>
          <p:nvPr/>
        </p:nvSpPr>
        <p:spPr>
          <a:xfrm>
            <a:off x="609600" y="695325"/>
            <a:ext cx="11582400"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Đặc Thù &amp; Sự Sáng Tạo Của Cách Mạng Việt Nam</a:t>
            </a:r>
          </a:p>
        </p:txBody>
      </p:sp>
      <p:sp>
        <p:nvSpPr>
          <p:cNvPr id="16" name="TextBox 15"/>
          <p:cNvSpPr txBox="1"/>
          <p:nvPr/>
        </p:nvSpPr>
        <p:spPr>
          <a:xfrm>
            <a:off x="609600" y="1109662"/>
            <a:ext cx="11582400" cy="228600"/>
          </a:xfrm>
          <a:prstGeom prst="rect">
            <a:avLst/>
          </a:prstGeom>
          <a:noFill/>
        </p:spPr>
        <p:txBody>
          <a:bodyPr wrap="none" lIns="0" rIns="0" tIns="0" bIns="0" anchor="t">
            <a:spAutoFit/>
          </a:bodyPr>
          <a:lstStyle/>
          <a:p>
            <a:pPr algn="l">
              <a:lnSpc>
                <a:spcPts val="1800"/>
              </a:lnSpc>
            </a:pPr>
            <a:r>
              <a:rPr b="0" sz="1200" i="0" u="none">
                <a:solidFill>
                  <a:srgbClr val="78716C"/>
                </a:solidFill>
                <a:latin typeface="Inter"/>
              </a:rPr>
              <a:t>Vận dụng sáng tạo chỉ dẫn của V.I. Lênin vào thực tiễn dân tộc</a:t>
            </a:r>
          </a:p>
        </p:txBody>
      </p:sp>
      <p:sp>
        <p:nvSpPr>
          <p:cNvPr id="17" name="TextBox 16"/>
          <p:cNvSpPr txBox="1"/>
          <p:nvPr/>
        </p:nvSpPr>
        <p:spPr>
          <a:xfrm>
            <a:off x="914400" y="2971800"/>
            <a:ext cx="10496550" cy="428625"/>
          </a:xfrm>
          <a:prstGeom prst="rect">
            <a:avLst/>
          </a:prstGeom>
          <a:noFill/>
        </p:spPr>
        <p:txBody>
          <a:bodyPr wrap="square" lIns="0" rIns="0" tIns="0" bIns="0" anchor="t">
            <a:spAutoFit/>
          </a:bodyPr>
          <a:lstStyle/>
          <a:p>
            <a:pPr algn="l">
              <a:lnSpc>
                <a:spcPts val="1687"/>
              </a:lnSpc>
            </a:pPr>
            <a:r>
              <a:rPr b="0" sz="1125" i="1" u="none">
                <a:solidFill>
                  <a:srgbClr val="F8FAFC"/>
                </a:solidFill>
                <a:latin typeface="Inter"/>
              </a:rPr>
              <a:t>"Sự kết hợp chủ nghĩa xã hội với phong trào công nhân ở mỗi nước đã được diễn ra với tính chất lịch sử, theo con đường riêng biệt, phụ thuộc vào những điều kiện địa phương và thời gian."</a:t>
            </a:r>
          </a:p>
        </p:txBody>
      </p:sp>
      <p:sp>
        <p:nvSpPr>
          <p:cNvPr id="18" name="TextBox 17"/>
          <p:cNvSpPr txBox="1"/>
          <p:nvPr/>
        </p:nvSpPr>
        <p:spPr>
          <a:xfrm>
            <a:off x="-1685925" y="3476625"/>
            <a:ext cx="13001625" cy="185737"/>
          </a:xfrm>
          <a:prstGeom prst="rect">
            <a:avLst/>
          </a:prstGeom>
          <a:noFill/>
        </p:spPr>
        <p:txBody>
          <a:bodyPr wrap="none" lIns="0" rIns="0" tIns="0" bIns="0" anchor="t">
            <a:spAutoFit/>
          </a:bodyPr>
          <a:lstStyle/>
          <a:p>
            <a:pPr algn="r">
              <a:lnSpc>
                <a:spcPts val="1462"/>
              </a:lnSpc>
            </a:pPr>
            <a:r>
              <a:rPr b="1" sz="975" i="0" u="none">
                <a:solidFill>
                  <a:srgbClr val="F59E0B"/>
                </a:solidFill>
                <a:latin typeface="Inter"/>
              </a:rPr>
              <a:t>— V.I. Lênin</a:t>
            </a:r>
          </a:p>
        </p:txBody>
      </p:sp>
      <p:sp>
        <p:nvSpPr>
          <p:cNvPr id="19" name="TextBox 18"/>
          <p:cNvSpPr txBox="1"/>
          <p:nvPr/>
        </p:nvSpPr>
        <p:spPr>
          <a:xfrm>
            <a:off x="876300" y="4281487"/>
            <a:ext cx="6413301" cy="209550"/>
          </a:xfrm>
          <a:prstGeom prst="rect">
            <a:avLst/>
          </a:prstGeom>
          <a:noFill/>
        </p:spPr>
        <p:txBody>
          <a:bodyPr wrap="none" lIns="0" rIns="0" tIns="0" bIns="0" anchor="t">
            <a:spAutoFit/>
          </a:bodyPr>
          <a:lstStyle/>
          <a:p>
            <a:pPr algn="l"/>
            <a:r>
              <a:rPr b="1" sz="1275" i="0" u="none">
                <a:solidFill>
                  <a:srgbClr val="B45309"/>
                </a:solidFill>
                <a:latin typeface="Merriweather"/>
              </a:rPr>
              <a:t>1. Vai Trò Của Phong Trào Yêu Nước</a:t>
            </a:r>
          </a:p>
        </p:txBody>
      </p:sp>
      <p:sp>
        <p:nvSpPr>
          <p:cNvPr id="20" name="TextBox 19"/>
          <p:cNvSpPr txBox="1"/>
          <p:nvPr/>
        </p:nvSpPr>
        <p:spPr>
          <a:xfrm>
            <a:off x="876300" y="4548187"/>
            <a:ext cx="4981575"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Có trước phong trào công nhân hàng ngàn năm. Là tinh hoa văn hóa, giá trị đạo đức tối cao kết tinh thành chủ nghĩa yêu nước Việt Nam.</a:t>
            </a:r>
          </a:p>
        </p:txBody>
      </p:sp>
      <p:sp>
        <p:nvSpPr>
          <p:cNvPr id="21" name="TextBox 20"/>
          <p:cNvSpPr txBox="1"/>
          <p:nvPr/>
        </p:nvSpPr>
        <p:spPr>
          <a:xfrm>
            <a:off x="6457950" y="4281487"/>
            <a:ext cx="5734050" cy="209550"/>
          </a:xfrm>
          <a:prstGeom prst="rect">
            <a:avLst/>
          </a:prstGeom>
          <a:noFill/>
        </p:spPr>
        <p:txBody>
          <a:bodyPr wrap="none" lIns="0" rIns="0" tIns="0" bIns="0" anchor="t">
            <a:spAutoFit/>
          </a:bodyPr>
          <a:lstStyle/>
          <a:p>
            <a:pPr algn="l"/>
            <a:r>
              <a:rPr b="1" sz="1275" i="0" u="none">
                <a:solidFill>
                  <a:srgbClr val="8B1523"/>
                </a:solidFill>
                <a:latin typeface="Merriweather"/>
              </a:rPr>
              <a:t>2. "Mẫu Số Chung" Giải Phóng Dân Tộc</a:t>
            </a:r>
          </a:p>
        </p:txBody>
      </p:sp>
      <p:sp>
        <p:nvSpPr>
          <p:cNvPr id="22" name="TextBox 21"/>
          <p:cNvSpPr txBox="1"/>
          <p:nvPr/>
        </p:nvSpPr>
        <p:spPr>
          <a:xfrm>
            <a:off x="6457950" y="4548187"/>
            <a:ext cx="4981575" cy="400050"/>
          </a:xfrm>
          <a:prstGeom prst="rect">
            <a:avLst/>
          </a:prstGeom>
          <a:noFill/>
        </p:spPr>
        <p:txBody>
          <a:bodyPr wrap="square" lIns="0" rIns="0" tIns="0" bIns="0" anchor="t">
            <a:spAutoFit/>
          </a:bodyPr>
          <a:lstStyle/>
          <a:p>
            <a:pPr algn="l">
              <a:lnSpc>
                <a:spcPts val="1575"/>
              </a:lnSpc>
            </a:pPr>
            <a:r>
              <a:rPr b="0" sz="1050" i="0" u="none">
                <a:solidFill>
                  <a:srgbClr val="292524"/>
                </a:solidFill>
                <a:latin typeface="Inter"/>
              </a:rPr>
              <a:t>Phong trào yêu nước không bài xích mà kết hợp tự nhiên với phong trào công nhân do có chung mục tiêu: Độc lập dân tộc &amp; Tự 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1917"/>
        </a:solidFill>
        <a:effectLst/>
      </p:bgPr>
    </p:bg>
    <p:spTree>
      <p:nvGrpSpPr>
        <p:cNvPr id="1" name=""/>
        <p:cNvGrpSpPr/>
        <p:nvPr/>
      </p:nvGrpSpPr>
      <p:grpSpPr/>
      <p:sp>
        <p:nvSpPr>
          <p:cNvPr id="2" name="Rounded Rectangle 1"/>
          <p:cNvSpPr/>
          <p:nvPr/>
        </p:nvSpPr>
        <p:spPr>
          <a:xfrm>
            <a:off x="2047875" y="3125985"/>
            <a:ext cx="8096250" cy="1504950"/>
          </a:xfrm>
          <a:prstGeom prst="roundRect">
            <a:avLst>
              <a:gd name="adj" fmla="val 5063"/>
            </a:avLst>
          </a:prstGeom>
          <a:solidFill>
            <a:srgbClr val="2A2421"/>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652367" y="1588889"/>
            <a:ext cx="2887265" cy="161925"/>
          </a:xfrm>
          <a:prstGeom prst="rect">
            <a:avLst/>
          </a:prstGeom>
          <a:noFill/>
        </p:spPr>
        <p:txBody>
          <a:bodyPr wrap="none" lIns="0" rIns="0" tIns="0" bIns="0" anchor="t">
            <a:spAutoFit/>
          </a:bodyPr>
          <a:lstStyle/>
          <a:p>
            <a:pPr algn="ctr"/>
            <a:r>
              <a:rPr b="1" sz="1050" i="0" u="none">
                <a:solidFill>
                  <a:srgbClr val="F59E0B"/>
                </a:solidFill>
                <a:latin typeface="Inter"/>
              </a:rPr>
              <a:t>TỔNG KẾT BÀI THUYẾT TRÌNH</a:t>
            </a:r>
          </a:p>
        </p:txBody>
      </p:sp>
      <p:sp>
        <p:nvSpPr>
          <p:cNvPr id="4" name="TextBox 3"/>
          <p:cNvSpPr txBox="1"/>
          <p:nvPr/>
        </p:nvSpPr>
        <p:spPr>
          <a:xfrm>
            <a:off x="470296" y="2055614"/>
            <a:ext cx="11251406" cy="841771"/>
          </a:xfrm>
          <a:prstGeom prst="rect">
            <a:avLst/>
          </a:prstGeom>
          <a:noFill/>
        </p:spPr>
        <p:txBody>
          <a:bodyPr wrap="square" lIns="0" rIns="0" tIns="0" bIns="0" anchor="t">
            <a:spAutoFit/>
          </a:bodyPr>
          <a:lstStyle/>
          <a:p>
            <a:pPr algn="ctr">
              <a:lnSpc>
                <a:spcPts val="3315"/>
              </a:lnSpc>
            </a:pPr>
            <a:r>
              <a:rPr b="1" sz="2550" i="0" u="none">
                <a:solidFill>
                  <a:srgbClr val="FFFFFF"/>
                </a:solidFill>
                <a:latin typeface="Merriweather"/>
              </a:rPr>
              <a:t>MỐC SON CHÓI LỌI TRONG LỊCH SỬ XÂY DỰNG ĐẢNG KIỂU MỚI</a:t>
            </a:r>
          </a:p>
        </p:txBody>
      </p:sp>
      <p:sp>
        <p:nvSpPr>
          <p:cNvPr id="5" name="TextBox 4"/>
          <p:cNvSpPr txBox="1"/>
          <p:nvPr/>
        </p:nvSpPr>
        <p:spPr>
          <a:xfrm>
            <a:off x="1428750" y="3364110"/>
            <a:ext cx="9334500" cy="1028700"/>
          </a:xfrm>
          <a:prstGeom prst="rect">
            <a:avLst/>
          </a:prstGeom>
          <a:noFill/>
        </p:spPr>
        <p:txBody>
          <a:bodyPr wrap="square" lIns="0" rIns="0" tIns="0" bIns="0" anchor="t">
            <a:spAutoFit/>
          </a:bodyPr>
          <a:lstStyle/>
          <a:p>
            <a:pPr algn="ctr">
              <a:lnSpc>
                <a:spcPts val="2025"/>
              </a:lnSpc>
            </a:pPr>
            <a:r>
              <a:rPr b="0" sz="1350" i="1" u="none">
                <a:solidFill>
                  <a:srgbClr val="FEF08A"/>
                </a:solidFill>
                <a:latin typeface="Inter"/>
              </a:rPr>
              <a:t>"Quy luật hình thành Đảng Cộng sản Việt Nam là sự vận dụng sáng tạo chủ nghĩa Mác - Lênin vào hoàn cảnh cụ thể của Việt Nam, ghi một mốc son trong việc phát triển chủ nghĩa Mác - Lênin, đóng góp xuất sắc vào kho tàng lý luận về xây dựng Đảng kiểu mới của giai cấp công nhân."</a:t>
            </a:r>
          </a:p>
        </p:txBody>
      </p:sp>
      <p:sp>
        <p:nvSpPr>
          <p:cNvPr id="6" name="TextBox 5"/>
          <p:cNvSpPr txBox="1"/>
          <p:nvPr/>
        </p:nvSpPr>
        <p:spPr>
          <a:xfrm>
            <a:off x="4012406" y="5011935"/>
            <a:ext cx="4167187" cy="257175"/>
          </a:xfrm>
          <a:prstGeom prst="rect">
            <a:avLst/>
          </a:prstGeom>
          <a:noFill/>
        </p:spPr>
        <p:txBody>
          <a:bodyPr wrap="none" lIns="0" rIns="0" tIns="0" bIns="0" anchor="t">
            <a:spAutoFit/>
          </a:bodyPr>
          <a:lstStyle/>
          <a:p>
            <a:pPr algn="ctr">
              <a:lnSpc>
                <a:spcPts val="2025"/>
              </a:lnSpc>
            </a:pPr>
            <a:r>
              <a:rPr b="0" sz="1350" i="0" u="none">
                <a:solidFill>
                  <a:srgbClr val="A8A29E"/>
                </a:solidFill>
                <a:latin typeface="Inter"/>
              </a:rPr>
              <a:t>Cảm ơn Cô và các bạn đã chú ý theo dõi!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ectangle 1"/>
          <p:cNvSpPr/>
          <p:nvPr/>
        </p:nvSpPr>
        <p:spPr>
          <a:xfrm>
            <a:off x="1181100" y="1443037"/>
            <a:ext cx="98298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1100" y="2214562"/>
            <a:ext cx="98298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1100" y="2986087"/>
            <a:ext cx="98298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81100" y="3757612"/>
            <a:ext cx="98298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81100" y="2205037"/>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1100" y="2205037"/>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1100" y="2976562"/>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81100" y="2976562"/>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1100" y="3748087"/>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81100" y="3748087"/>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81100" y="4519612"/>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81100" y="4519612"/>
            <a:ext cx="98298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1181100" y="1585912"/>
            <a:ext cx="857250" cy="476250"/>
          </a:xfrm>
          <a:prstGeom prst="rect">
            <a:avLst/>
          </a:prstGeom>
        </p:spPr>
      </p:pic>
      <p:pic>
        <p:nvPicPr>
          <p:cNvPr id="15" name="Picture 14" descr="image.png"/>
          <p:cNvPicPr>
            <a:picLocks noChangeAspect="1"/>
          </p:cNvPicPr>
          <p:nvPr/>
        </p:nvPicPr>
        <p:blipFill>
          <a:blip r:embed="rId3"/>
          <a:stretch>
            <a:fillRect/>
          </a:stretch>
        </p:blipFill>
        <p:spPr>
          <a:xfrm>
            <a:off x="1181100" y="2357437"/>
            <a:ext cx="857250" cy="476250"/>
          </a:xfrm>
          <a:prstGeom prst="rect">
            <a:avLst/>
          </a:prstGeom>
        </p:spPr>
      </p:pic>
      <p:pic>
        <p:nvPicPr>
          <p:cNvPr id="16" name="Picture 15" descr="image.png"/>
          <p:cNvPicPr>
            <a:picLocks noChangeAspect="1"/>
          </p:cNvPicPr>
          <p:nvPr/>
        </p:nvPicPr>
        <p:blipFill>
          <a:blip r:embed="rId4"/>
          <a:stretch>
            <a:fillRect/>
          </a:stretch>
        </p:blipFill>
        <p:spPr>
          <a:xfrm>
            <a:off x="1181100" y="3128962"/>
            <a:ext cx="857250" cy="476250"/>
          </a:xfrm>
          <a:prstGeom prst="rect">
            <a:avLst/>
          </a:prstGeom>
        </p:spPr>
      </p:pic>
      <p:pic>
        <p:nvPicPr>
          <p:cNvPr id="17" name="Picture 16" descr="image.png"/>
          <p:cNvPicPr>
            <a:picLocks noChangeAspect="1"/>
          </p:cNvPicPr>
          <p:nvPr/>
        </p:nvPicPr>
        <p:blipFill>
          <a:blip r:embed="rId5"/>
          <a:stretch>
            <a:fillRect/>
          </a:stretch>
        </p:blipFill>
        <p:spPr>
          <a:xfrm>
            <a:off x="1181100" y="3900487"/>
            <a:ext cx="857250" cy="476250"/>
          </a:xfrm>
          <a:prstGeom prst="rect">
            <a:avLst/>
          </a:prstGeom>
        </p:spPr>
      </p:pic>
      <p:pic>
        <p:nvPicPr>
          <p:cNvPr id="18" name="Picture 17" descr="image.png"/>
          <p:cNvPicPr>
            <a:picLocks noChangeAspect="1"/>
          </p:cNvPicPr>
          <p:nvPr/>
        </p:nvPicPr>
        <p:blipFill>
          <a:blip r:embed="rId6"/>
          <a:stretch>
            <a:fillRect/>
          </a:stretch>
        </p:blipFill>
        <p:spPr>
          <a:xfrm>
            <a:off x="1181100" y="4672012"/>
            <a:ext cx="857250" cy="476250"/>
          </a:xfrm>
          <a:prstGeom prst="rect">
            <a:avLst/>
          </a:prstGeom>
        </p:spPr>
      </p:pic>
      <p:sp>
        <p:nvSpPr>
          <p:cNvPr id="19" name="TextBox 18"/>
          <p:cNvSpPr txBox="1"/>
          <p:nvPr/>
        </p:nvSpPr>
        <p:spPr>
          <a:xfrm>
            <a:off x="1181100" y="1028700"/>
            <a:ext cx="2687835" cy="357187"/>
          </a:xfrm>
          <a:prstGeom prst="rect">
            <a:avLst/>
          </a:prstGeom>
          <a:noFill/>
        </p:spPr>
        <p:txBody>
          <a:bodyPr wrap="none" lIns="0" rIns="0" tIns="0" bIns="0" anchor="t">
            <a:spAutoFit/>
          </a:bodyPr>
          <a:lstStyle/>
          <a:p>
            <a:pPr algn="l">
              <a:lnSpc>
                <a:spcPts val="2812"/>
              </a:lnSpc>
            </a:pPr>
            <a:r>
              <a:rPr b="1" sz="2250" i="0" u="none">
                <a:solidFill>
                  <a:srgbClr val="1C1917"/>
                </a:solidFill>
                <a:latin typeface="Merriweather"/>
              </a:rPr>
              <a:t>Image Sources</a:t>
            </a:r>
          </a:p>
        </p:txBody>
      </p:sp>
      <p:sp>
        <p:nvSpPr>
          <p:cNvPr id="20" name="TextBox 19"/>
          <p:cNvSpPr txBox="1"/>
          <p:nvPr/>
        </p:nvSpPr>
        <p:spPr>
          <a:xfrm>
            <a:off x="2276475" y="1593056"/>
            <a:ext cx="6560343" cy="185737"/>
          </a:xfrm>
          <a:prstGeom prst="rect">
            <a:avLst/>
          </a:prstGeom>
          <a:noFill/>
        </p:spPr>
        <p:txBody>
          <a:bodyPr wrap="none" lIns="0" rIns="0" tIns="0" bIns="0" anchor="t">
            <a:spAutoFit/>
          </a:bodyPr>
          <a:lstStyle/>
          <a:p>
            <a:pPr algn="l">
              <a:lnSpc>
                <a:spcPts val="1462"/>
              </a:lnSpc>
            </a:pPr>
            <a:r>
              <a:rPr b="0" sz="975" i="0" u="none">
                <a:solidFill>
                  <a:srgbClr val="292524"/>
                </a:solidFill>
                <a:latin typeface="Inter"/>
              </a:rPr>
              <a:t>https://media.baovanhoa.vn/zoom/1000/uploaded/dovandong/2025_12_25/naq_ZIWB.jpg</a:t>
            </a:r>
          </a:p>
        </p:txBody>
      </p:sp>
      <p:sp>
        <p:nvSpPr>
          <p:cNvPr id="21" name="TextBox 20"/>
          <p:cNvSpPr txBox="1"/>
          <p:nvPr/>
        </p:nvSpPr>
        <p:spPr>
          <a:xfrm>
            <a:off x="2276475" y="1826418"/>
            <a:ext cx="2024062" cy="228600"/>
          </a:xfrm>
          <a:prstGeom prst="rect">
            <a:avLst/>
          </a:prstGeom>
          <a:noFill/>
        </p:spPr>
        <p:txBody>
          <a:bodyPr wrap="none" lIns="0" rIns="0" tIns="0" bIns="0" anchor="t">
            <a:spAutoFit/>
          </a:bodyPr>
          <a:lstStyle/>
          <a:p>
            <a:pPr algn="l">
              <a:lnSpc>
                <a:spcPts val="1800"/>
              </a:lnSpc>
            </a:pPr>
            <a:r>
              <a:rPr b="0" sz="1200" i="0" u="none">
                <a:solidFill>
                  <a:srgbClr val="292524"/>
                </a:solidFill>
                <a:latin typeface="Inter"/>
              </a:rPr>
              <a:t>Source: </a:t>
            </a:r>
            <a:r>
              <a:rPr b="0" sz="1200" i="0" u="none">
                <a:solidFill>
                  <a:srgbClr val="4F46E5"/>
                </a:solidFill>
                <a:latin typeface="Inter"/>
              </a:rPr>
              <a:t>baovanhoa.vn</a:t>
            </a:r>
          </a:p>
        </p:txBody>
      </p:sp>
      <p:sp>
        <p:nvSpPr>
          <p:cNvPr id="22" name="TextBox 21"/>
          <p:cNvSpPr txBox="1"/>
          <p:nvPr/>
        </p:nvSpPr>
        <p:spPr>
          <a:xfrm>
            <a:off x="2276475" y="2364581"/>
            <a:ext cx="8834437" cy="185737"/>
          </a:xfrm>
          <a:prstGeom prst="rect">
            <a:avLst/>
          </a:prstGeom>
          <a:noFill/>
        </p:spPr>
        <p:txBody>
          <a:bodyPr wrap="none" lIns="0" rIns="0" tIns="0" bIns="0" anchor="t">
            <a:spAutoFit/>
          </a:bodyPr>
          <a:lstStyle/>
          <a:p>
            <a:pPr algn="l">
              <a:lnSpc>
                <a:spcPts val="1462"/>
              </a:lnSpc>
            </a:pPr>
            <a:r>
              <a:rPr b="0" sz="975" i="0" u="none">
                <a:solidFill>
                  <a:srgbClr val="292524"/>
                </a:solidFill>
                <a:latin typeface="Inter"/>
              </a:rPr>
              <a:t>https://congan.nghean.gov.vn/file/ff8081819cf45b91019f69c111ba32b6/dataimages/201711/original/images1390561_15.jpg</a:t>
            </a:r>
          </a:p>
        </p:txBody>
      </p:sp>
      <p:sp>
        <p:nvSpPr>
          <p:cNvPr id="23" name="TextBox 22"/>
          <p:cNvSpPr txBox="1"/>
          <p:nvPr/>
        </p:nvSpPr>
        <p:spPr>
          <a:xfrm>
            <a:off x="2276475" y="2597943"/>
            <a:ext cx="2797968" cy="228600"/>
          </a:xfrm>
          <a:prstGeom prst="rect">
            <a:avLst/>
          </a:prstGeom>
          <a:noFill/>
        </p:spPr>
        <p:txBody>
          <a:bodyPr wrap="none" lIns="0" rIns="0" tIns="0" bIns="0" anchor="t">
            <a:spAutoFit/>
          </a:bodyPr>
          <a:lstStyle/>
          <a:p>
            <a:pPr algn="l">
              <a:lnSpc>
                <a:spcPts val="1800"/>
              </a:lnSpc>
            </a:pPr>
            <a:r>
              <a:rPr b="0" sz="1200" i="0" u="none">
                <a:solidFill>
                  <a:srgbClr val="292524"/>
                </a:solidFill>
                <a:latin typeface="Inter"/>
              </a:rPr>
              <a:t>Source: </a:t>
            </a:r>
            <a:r>
              <a:rPr b="0" sz="1200" i="0" u="none">
                <a:solidFill>
                  <a:srgbClr val="4F46E5"/>
                </a:solidFill>
                <a:latin typeface="Inter"/>
              </a:rPr>
              <a:t>congan.nghean.gov.vn</a:t>
            </a:r>
          </a:p>
        </p:txBody>
      </p:sp>
      <p:sp>
        <p:nvSpPr>
          <p:cNvPr id="24" name="TextBox 23"/>
          <p:cNvSpPr txBox="1"/>
          <p:nvPr/>
        </p:nvSpPr>
        <p:spPr>
          <a:xfrm>
            <a:off x="2276475" y="3136106"/>
            <a:ext cx="7369968" cy="185737"/>
          </a:xfrm>
          <a:prstGeom prst="rect">
            <a:avLst/>
          </a:prstGeom>
          <a:noFill/>
        </p:spPr>
        <p:txBody>
          <a:bodyPr wrap="none" lIns="0" rIns="0" tIns="0" bIns="0" anchor="t">
            <a:spAutoFit/>
          </a:bodyPr>
          <a:lstStyle/>
          <a:p>
            <a:pPr algn="l">
              <a:lnSpc>
                <a:spcPts val="1462"/>
              </a:lnSpc>
            </a:pPr>
            <a:r>
              <a:rPr b="0" sz="975" i="0" u="none">
                <a:solidFill>
                  <a:srgbClr val="292524"/>
                </a:solidFill>
                <a:latin typeface="Inter"/>
              </a:rPr>
              <a:t>https://btgdvtukhanhhoa.vn/Media/Articles/200125084217/3954508958355-bv20012025123433.jpg</a:t>
            </a:r>
          </a:p>
        </p:txBody>
      </p:sp>
      <p:sp>
        <p:nvSpPr>
          <p:cNvPr id="25" name="TextBox 24"/>
          <p:cNvSpPr txBox="1"/>
          <p:nvPr/>
        </p:nvSpPr>
        <p:spPr>
          <a:xfrm>
            <a:off x="2276475" y="3369468"/>
            <a:ext cx="2583656" cy="228600"/>
          </a:xfrm>
          <a:prstGeom prst="rect">
            <a:avLst/>
          </a:prstGeom>
          <a:noFill/>
        </p:spPr>
        <p:txBody>
          <a:bodyPr wrap="none" lIns="0" rIns="0" tIns="0" bIns="0" anchor="t">
            <a:spAutoFit/>
          </a:bodyPr>
          <a:lstStyle/>
          <a:p>
            <a:pPr algn="l">
              <a:lnSpc>
                <a:spcPts val="1800"/>
              </a:lnSpc>
            </a:pPr>
            <a:r>
              <a:rPr b="0" sz="1200" i="0" u="none">
                <a:solidFill>
                  <a:srgbClr val="292524"/>
                </a:solidFill>
                <a:latin typeface="Inter"/>
              </a:rPr>
              <a:t>Source: </a:t>
            </a:r>
            <a:r>
              <a:rPr b="0" sz="1200" i="0" u="none">
                <a:solidFill>
                  <a:srgbClr val="4F46E5"/>
                </a:solidFill>
                <a:latin typeface="Inter"/>
              </a:rPr>
              <a:t>btgdvtukhanhhoa.vn</a:t>
            </a:r>
          </a:p>
        </p:txBody>
      </p:sp>
      <p:sp>
        <p:nvSpPr>
          <p:cNvPr id="26" name="TextBox 25"/>
          <p:cNvSpPr txBox="1"/>
          <p:nvPr/>
        </p:nvSpPr>
        <p:spPr>
          <a:xfrm>
            <a:off x="2276475" y="3907631"/>
            <a:ext cx="9036843" cy="185737"/>
          </a:xfrm>
          <a:prstGeom prst="rect">
            <a:avLst/>
          </a:prstGeom>
          <a:noFill/>
        </p:spPr>
        <p:txBody>
          <a:bodyPr wrap="none" lIns="0" rIns="0" tIns="0" bIns="0" anchor="t">
            <a:spAutoFit/>
          </a:bodyPr>
          <a:lstStyle/>
          <a:p>
            <a:pPr algn="l">
              <a:lnSpc>
                <a:spcPts val="1462"/>
              </a:lnSpc>
            </a:pPr>
            <a:r>
              <a:rPr b="0" sz="975" i="0" u="none">
                <a:solidFill>
                  <a:srgbClr val="292524"/>
                </a:solidFill>
                <a:latin typeface="Inter"/>
              </a:rPr>
              <a:t>https://imgnvsk.vnanet.vn/MediaUpload/Medium/2023/07/10/cau-3-hoi-nghi-thanh-lap-dang-10-16-20-13510-8-54-22.jpg</a:t>
            </a:r>
          </a:p>
        </p:txBody>
      </p:sp>
      <p:sp>
        <p:nvSpPr>
          <p:cNvPr id="27" name="TextBox 26"/>
          <p:cNvSpPr txBox="1"/>
          <p:nvPr/>
        </p:nvSpPr>
        <p:spPr>
          <a:xfrm>
            <a:off x="2276475" y="4140993"/>
            <a:ext cx="2095500" cy="228600"/>
          </a:xfrm>
          <a:prstGeom prst="rect">
            <a:avLst/>
          </a:prstGeom>
          <a:noFill/>
        </p:spPr>
        <p:txBody>
          <a:bodyPr wrap="none" lIns="0" rIns="0" tIns="0" bIns="0" anchor="t">
            <a:spAutoFit/>
          </a:bodyPr>
          <a:lstStyle/>
          <a:p>
            <a:pPr algn="l">
              <a:lnSpc>
                <a:spcPts val="1800"/>
              </a:lnSpc>
            </a:pPr>
            <a:r>
              <a:rPr b="0" sz="1200" i="0" u="none">
                <a:solidFill>
                  <a:srgbClr val="292524"/>
                </a:solidFill>
                <a:latin typeface="Inter"/>
              </a:rPr>
              <a:t>Source: </a:t>
            </a:r>
            <a:r>
              <a:rPr b="0" sz="1200" i="0" u="none">
                <a:solidFill>
                  <a:srgbClr val="4F46E5"/>
                </a:solidFill>
                <a:latin typeface="Inter"/>
              </a:rPr>
              <a:t>nvsk.vnanet.vn</a:t>
            </a:r>
          </a:p>
        </p:txBody>
      </p:sp>
      <p:sp>
        <p:nvSpPr>
          <p:cNvPr id="28" name="TextBox 27"/>
          <p:cNvSpPr txBox="1"/>
          <p:nvPr/>
        </p:nvSpPr>
        <p:spPr>
          <a:xfrm>
            <a:off x="2276475" y="4679156"/>
            <a:ext cx="5941218" cy="185737"/>
          </a:xfrm>
          <a:prstGeom prst="rect">
            <a:avLst/>
          </a:prstGeom>
          <a:noFill/>
        </p:spPr>
        <p:txBody>
          <a:bodyPr wrap="none" lIns="0" rIns="0" tIns="0" bIns="0" anchor="t">
            <a:spAutoFit/>
          </a:bodyPr>
          <a:lstStyle/>
          <a:p>
            <a:pPr algn="l">
              <a:lnSpc>
                <a:spcPts val="1462"/>
              </a:lnSpc>
            </a:pPr>
            <a:r>
              <a:rPr b="0" sz="975" i="0" u="none">
                <a:solidFill>
                  <a:srgbClr val="292524"/>
                </a:solidFill>
                <a:latin typeface="Inter"/>
              </a:rPr>
              <a:t>https://baotanglichsu.vn/DataFiles/News/Tintuc_cgs_vn_2013122414h35m37s.jpg</a:t>
            </a:r>
          </a:p>
        </p:txBody>
      </p:sp>
      <p:sp>
        <p:nvSpPr>
          <p:cNvPr id="29" name="TextBox 28"/>
          <p:cNvSpPr txBox="1"/>
          <p:nvPr/>
        </p:nvSpPr>
        <p:spPr>
          <a:xfrm>
            <a:off x="2276475" y="4912518"/>
            <a:ext cx="2274093" cy="228600"/>
          </a:xfrm>
          <a:prstGeom prst="rect">
            <a:avLst/>
          </a:prstGeom>
          <a:noFill/>
        </p:spPr>
        <p:txBody>
          <a:bodyPr wrap="none" lIns="0" rIns="0" tIns="0" bIns="0" anchor="t">
            <a:spAutoFit/>
          </a:bodyPr>
          <a:lstStyle/>
          <a:p>
            <a:pPr algn="l">
              <a:lnSpc>
                <a:spcPts val="1800"/>
              </a:lnSpc>
            </a:pPr>
            <a:r>
              <a:rPr b="0" sz="1200" i="0" u="none">
                <a:solidFill>
                  <a:srgbClr val="292524"/>
                </a:solidFill>
                <a:latin typeface="Inter"/>
              </a:rPr>
              <a:t>Source: </a:t>
            </a:r>
            <a:r>
              <a:rPr b="0" sz="1200" i="0" u="none">
                <a:solidFill>
                  <a:srgbClr val="4F46E5"/>
                </a:solidFill>
                <a:latin typeface="Inter"/>
              </a:rPr>
              <a:t>baotanglichsu.vn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
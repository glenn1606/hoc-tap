
<file path=[Content_Types].xml><?xml version="1.0" encoding="utf-8"?>
<ns0:Types xmlns:ns0="http://schemas.openxmlformats.org/package/2006/content-types">
  <ns0:Default Extension="bin" ContentType="application/vnd.openxmlformats-officedocument.presentationml.printerSettings"/>
  <ns0:Default Extension="jpeg" ContentType="image/jpeg"/>
  <ns0:Default Extension="png" ContentType="image/png"/>
  <ns0:Default Extension="rels" ContentType="application/vnd.openxmlformats-package.relationships+xml"/>
  <ns0:Default Extension="xml" ContentType="application/xml"/>
  <ns0:Override PartName="/docProps/app.xml" ContentType="application/vnd.openxmlformats-officedocument.extended-properties+xml"/>
  <ns0:Override PartName="/docProps/core.xml" ContentType="application/vnd.openxmlformats-package.core-properties+xml"/>
  <ns0:Override PartName="/ppt/presProps.xml" ContentType="application/vnd.openxmlformats-officedocument.presentationml.presProps+xml"/>
  <ns0:Override PartName="/ppt/presentation.xml" ContentType="application/vnd.openxmlformats-officedocument.presentationml.presentation.main+xml"/>
  <ns0:Override PartName="/ppt/slideLayouts/slideLayout1.xml" ContentType="application/vnd.openxmlformats-officedocument.presentationml.slideLayout+xml"/>
  <ns0:Override PartName="/ppt/slideLayouts/slideLayout10.xml" ContentType="application/vnd.openxmlformats-officedocument.presentationml.slideLayout+xml"/>
  <ns0:Override PartName="/ppt/slideLayouts/slideLayout11.xml" ContentType="application/vnd.openxmlformats-officedocument.presentationml.slideLayout+xml"/>
  <ns0:Override PartName="/ppt/slideLayouts/slideLayout2.xml" ContentType="application/vnd.openxmlformats-officedocument.presentationml.slideLayout+xml"/>
  <ns0:Override PartName="/ppt/slideLayouts/slideLayout3.xml" ContentType="application/vnd.openxmlformats-officedocument.presentationml.slideLayout+xml"/>
  <ns0:Override PartName="/ppt/slideLayouts/slideLayout4.xml" ContentType="application/vnd.openxmlformats-officedocument.presentationml.slideLayout+xml"/>
  <ns0:Override PartName="/ppt/slideLayouts/slideLayout5.xml" ContentType="application/vnd.openxmlformats-officedocument.presentationml.slideLayout+xml"/>
  <ns0:Override PartName="/ppt/slideLayouts/slideLayout6.xml" ContentType="application/vnd.openxmlformats-officedocument.presentationml.slideLayout+xml"/>
  <ns0:Override PartName="/ppt/slideLayouts/slideLayout7.xml" ContentType="application/vnd.openxmlformats-officedocument.presentationml.slideLayout+xml"/>
  <ns0:Override PartName="/ppt/slideLayouts/slideLayout8.xml" ContentType="application/vnd.openxmlformats-officedocument.presentationml.slideLayout+xml"/>
  <ns0:Override PartName="/ppt/slideLayouts/slideLayout9.xml" ContentType="application/vnd.openxmlformats-officedocument.presentationml.slideLayout+xml"/>
  <ns0:Override PartName="/ppt/slideMasters/slideMaster1.xml" ContentType="application/vnd.openxmlformats-officedocument.presentationml.slideMaster+xml"/>
  <ns0:Override PartName="/ppt/slides/slide1.xml" ContentType="application/vnd.openxmlformats-officedocument.presentationml.slide+xml"/>
  <ns0:Override PartName="/ppt/slides/slide10.xml" ContentType="application/vnd.openxmlformats-officedocument.presentationml.slide+xml"/>
  <ns0:Override PartName="/ppt/slides/slide11.xml" ContentType="application/vnd.openxmlformats-officedocument.presentationml.slide+xml"/>
  <ns0:Override PartName="/ppt/slides/slide12.xml" ContentType="application/vnd.openxmlformats-officedocument.presentationml.slide+xml"/>
  <ns0:Override PartName="/ppt/slides/slide13.xml" ContentType="application/vnd.openxmlformats-officedocument.presentationml.slide+xml"/>
  <ns0:Override PartName="/ppt/slides/slide14.xml" ContentType="application/vnd.openxmlformats-officedocument.presentationml.slide+xml"/>
  <ns0:Override PartName="/ppt/slides/slide15.xml" ContentType="application/vnd.openxmlformats-officedocument.presentationml.slide+xml"/>
  <ns0:Override PartName="/ppt/slides/slide16.xml" ContentType="application/vnd.openxmlformats-officedocument.presentationml.slide+xml"/>
  <ns0:Override PartName="/ppt/slides/slide17.xml" ContentType="application/vnd.openxmlformats-officedocument.presentationml.slide+xml"/>
  <ns0:Override PartName="/ppt/slides/slide18.xml" ContentType="application/vnd.openxmlformats-officedocument.presentationml.slide+xml"/>
  <ns0:Override PartName="/ppt/slides/slide19.xml" ContentType="application/vnd.openxmlformats-officedocument.presentationml.slide+xml"/>
  <ns0:Override PartName="/ppt/slides/slide2.xml" ContentType="application/vnd.openxmlformats-officedocument.presentationml.slide+xml"/>
  <ns0:Override PartName="/ppt/slides/slide3.xml" ContentType="application/vnd.openxmlformats-officedocument.presentationml.slide+xml"/>
  <ns0:Override PartName="/ppt/slides/slide4.xml" ContentType="application/vnd.openxmlformats-officedocument.presentationml.slide+xml"/>
  <ns0:Override PartName="/ppt/slides/slide5.xml" ContentType="application/vnd.openxmlformats-officedocument.presentationml.slide+xml"/>
  <ns0:Override PartName="/ppt/slides/slide6.xml" ContentType="application/vnd.openxmlformats-officedocument.presentationml.slide+xml"/>
  <ns0:Override PartName="/ppt/slides/slide7.xml" ContentType="application/vnd.openxmlformats-officedocument.presentationml.slide+xml"/>
  <ns0:Override PartName="/ppt/slides/slide8.xml" ContentType="application/vnd.openxmlformats-officedocument.presentationml.slide+xml"/>
  <ns0:Override PartName="/ppt/slides/slide9.xml" ContentType="application/vnd.openxmlformats-officedocument.presentationml.slide+xml"/>
  <ns0:Override PartName="/ppt/tableStyles.xml" ContentType="application/vnd.openxmlformats-officedocument.presentationml.tableStyles+xml"/>
  <ns0:Override PartName="/ppt/theme/theme1.xml" ContentType="application/vnd.openxmlformats-officedocument.theme+xml"/>
  <ns0:Override PartName="/ppt/viewProps.xml" ContentType="application/vnd.openxmlformats-officedocument.presentationml.viewProps+xml"/>
  <ns0:Default Extension="fntdata" ContentType="application/x-fontdata"/>
</ns0: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ns0:presentation xmlns:ns0="http://schemas.openxmlformats.org/presentationml/2006/main" xmlns:ns1="http://schemas.openxmlformats.org/officeDocument/2006/relationships" xmlns:ns2="http://schemas.openxmlformats.org/drawingml/2006/main" saveSubsetFonts="1" autoCompressPictures="0" embedTrueTypeFonts="1">
  <ns0:sldMasterIdLst>
    <ns0:sldMasterId id="2147483648" ns1:id="rId1"/>
  </ns0:sldMasterIdLst>
  <ns0:sldIdLst>
    <ns0:sldId id="256" ns1:id="rId7"/>
    <ns0:sldId id="257" ns1:id="rId8"/>
    <ns0:sldId id="258" ns1:id="rId9"/>
    <ns0:sldId id="259" ns1:id="rId10"/>
    <ns0:sldId id="260" ns1:id="rId11"/>
    <ns0:sldId id="261" ns1:id="rId12"/>
    <ns0:sldId id="262" ns1:id="rId13"/>
    <ns0:sldId id="263" ns1:id="rId14"/>
    <ns0:sldId id="264" ns1:id="rId15"/>
    <ns0:sldId id="265" ns1:id="rId16"/>
    <ns0:sldId id="266" ns1:id="rId17"/>
    <ns0:sldId id="267" ns1:id="rId18"/>
    <ns0:sldId id="268" ns1:id="rId19"/>
    <ns0:sldId id="269" ns1:id="rId20"/>
    <ns0:sldId id="270" ns1:id="rId21"/>
    <ns0:sldId id="271" ns1:id="rId22"/>
    <ns0:sldId id="272" ns1:id="rId23"/>
    <ns0:sldId id="273" ns1:id="rId24"/>
    <ns0:sldId id="274" ns1:id="rId25"/>
  </ns0:sldIdLst>
  <ns0:sldSz cx="12192000" cy="6858000" type="screen4x3"/>
  <ns0:notesSz cx="6858000" cy="9144000"/>
  <ns0:embeddedFontLst>
    <ns0:embeddedFont>
      <ns0:font typeface="Inter"/>
      <ns0:bold ns1:id="rIdFont26"/>
      <ns0:boldItalic ns1:id="rIdFont27"/>
      <ns0:regular ns1:id="rIdFont28"/>
    </ns0:embeddedFont>
    <ns0:embeddedFont>
      <ns0:font typeface="Merriweather"/>
      <ns0:italic ns1:id="rIdFont29"/>
      <ns0:bold ns1:id="rIdFont30"/>
    </ns0:embeddedFont>
  </ns0:embeddedFontLst>
  <ns0:defaultTextStyle>
    <ns2:defPPr>
      <ns2:defRPr lang="en-US"/>
    </ns2:defPPr>
    <ns2:lvl1pPr marL="0" algn="l" defTabSz="457200" rtl="0" eaLnBrk="1" latinLnBrk="0" hangingPunct="1">
      <ns2:defRPr sz="1800" kern="1200">
        <ns2:solidFill>
          <ns2:schemeClr val="tx1"/>
        </ns2:solidFill>
        <ns2:latin typeface="+mn-lt"/>
        <ns2:ea typeface="+mn-ea"/>
        <ns2:cs typeface="+mn-cs"/>
      </ns2:defRPr>
    </ns2:lvl1pPr>
    <ns2:lvl2pPr marL="457200" algn="l" defTabSz="457200" rtl="0" eaLnBrk="1" latinLnBrk="0" hangingPunct="1">
      <ns2:defRPr sz="1800" kern="1200">
        <ns2:solidFill>
          <ns2:schemeClr val="tx1"/>
        </ns2:solidFill>
        <ns2:latin typeface="+mn-lt"/>
        <ns2:ea typeface="+mn-ea"/>
        <ns2:cs typeface="+mn-cs"/>
      </ns2:defRPr>
    </ns2:lvl2pPr>
    <ns2:lvl3pPr marL="914400" algn="l" defTabSz="457200" rtl="0" eaLnBrk="1" latinLnBrk="0" hangingPunct="1">
      <ns2:defRPr sz="1800" kern="1200">
        <ns2:solidFill>
          <ns2:schemeClr val="tx1"/>
        </ns2:solidFill>
        <ns2:latin typeface="+mn-lt"/>
        <ns2:ea typeface="+mn-ea"/>
        <ns2:cs typeface="+mn-cs"/>
      </ns2:defRPr>
    </ns2:lvl3pPr>
    <ns2:lvl4pPr marL="1371600" algn="l" defTabSz="457200" rtl="0" eaLnBrk="1" latinLnBrk="0" hangingPunct="1">
      <ns2:defRPr sz="1800" kern="1200">
        <ns2:solidFill>
          <ns2:schemeClr val="tx1"/>
        </ns2:solidFill>
        <ns2:latin typeface="+mn-lt"/>
        <ns2:ea typeface="+mn-ea"/>
        <ns2:cs typeface="+mn-cs"/>
      </ns2:defRPr>
    </ns2:lvl4pPr>
    <ns2:lvl5pPr marL="1828800" algn="l" defTabSz="457200" rtl="0" eaLnBrk="1" latinLnBrk="0" hangingPunct="1">
      <ns2:defRPr sz="1800" kern="1200">
        <ns2:solidFill>
          <ns2:schemeClr val="tx1"/>
        </ns2:solidFill>
        <ns2:latin typeface="+mn-lt"/>
        <ns2:ea typeface="+mn-ea"/>
        <ns2:cs typeface="+mn-cs"/>
      </ns2:defRPr>
    </ns2:lvl5pPr>
    <ns2:lvl6pPr marL="2286000" algn="l" defTabSz="457200" rtl="0" eaLnBrk="1" latinLnBrk="0" hangingPunct="1">
      <ns2:defRPr sz="1800" kern="1200">
        <ns2:solidFill>
          <ns2:schemeClr val="tx1"/>
        </ns2:solidFill>
        <ns2:latin typeface="+mn-lt"/>
        <ns2:ea typeface="+mn-ea"/>
        <ns2:cs typeface="+mn-cs"/>
      </ns2:defRPr>
    </ns2:lvl6pPr>
    <ns2:lvl7pPr marL="2743200" algn="l" defTabSz="457200" rtl="0" eaLnBrk="1" latinLnBrk="0" hangingPunct="1">
      <ns2:defRPr sz="1800" kern="1200">
        <ns2:solidFill>
          <ns2:schemeClr val="tx1"/>
        </ns2:solidFill>
        <ns2:latin typeface="+mn-lt"/>
        <ns2:ea typeface="+mn-ea"/>
        <ns2:cs typeface="+mn-cs"/>
      </ns2:defRPr>
    </ns2:lvl7pPr>
    <ns2:lvl8pPr marL="3200400" algn="l" defTabSz="457200" rtl="0" eaLnBrk="1" latinLnBrk="0" hangingPunct="1">
      <ns2:defRPr sz="1800" kern="1200">
        <ns2:solidFill>
          <ns2:schemeClr val="tx1"/>
        </ns2:solidFill>
        <ns2:latin typeface="+mn-lt"/>
        <ns2:ea typeface="+mn-ea"/>
        <ns2:cs typeface="+mn-cs"/>
      </ns2:defRPr>
    </ns2:lvl8pPr>
    <ns2:lvl9pPr marL="3657600" algn="l" defTabSz="457200" rtl="0" eaLnBrk="1" latinLnBrk="0" hangingPunct="1">
      <ns2:defRPr sz="1800" kern="1200">
        <ns2:solidFill>
          <ns2:schemeClr val="tx1"/>
        </ns2:solidFill>
        <ns2:latin typeface="+mn-lt"/>
        <ns2:ea typeface="+mn-ea"/>
        <ns2:cs typeface="+mn-cs"/>
      </ns2:defRPr>
    </ns2:lvl9pPr>
  </ns0:defaultTextStyle>
</ns0: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ns0:Relationships xmlns:ns0="http://schemas.openxmlformats.org/package/2006/relationships"><ns0:Relationship Id="rId1" Type="http://schemas.openxmlformats.org/officeDocument/2006/relationships/slideMaster" Target="slideMasters/slideMaster1.xml" /><ns0:Relationship Id="rId2" Type="http://schemas.openxmlformats.org/officeDocument/2006/relationships/printerSettings" Target="printerSettings/printerSettings1.bin" /><ns0:Relationship Id="rId3" Type="http://schemas.openxmlformats.org/officeDocument/2006/relationships/presProps" Target="presProps.xml" /><ns0:Relationship Id="rId4" Type="http://schemas.openxmlformats.org/officeDocument/2006/relationships/viewProps" Target="viewProps.xml" /><ns0:Relationship Id="rId5" Type="http://schemas.openxmlformats.org/officeDocument/2006/relationships/theme" Target="theme/theme1.xml" /><ns0:Relationship Id="rId6" Type="http://schemas.openxmlformats.org/officeDocument/2006/relationships/tableStyles" Target="tableStyles.xml" /><ns0:Relationship Id="rId7" Type="http://schemas.openxmlformats.org/officeDocument/2006/relationships/slide" Target="slides/slide1.xml" /><ns0:Relationship Id="rId8" Type="http://schemas.openxmlformats.org/officeDocument/2006/relationships/slide" Target="slides/slide2.xml" /><ns0:Relationship Id="rId9" Type="http://schemas.openxmlformats.org/officeDocument/2006/relationships/slide" Target="slides/slide3.xml" /><ns0:Relationship Id="rId10" Type="http://schemas.openxmlformats.org/officeDocument/2006/relationships/slide" Target="slides/slide4.xml" /><ns0:Relationship Id="rId11" Type="http://schemas.openxmlformats.org/officeDocument/2006/relationships/slide" Target="slides/slide5.xml" /><ns0:Relationship Id="rId12" Type="http://schemas.openxmlformats.org/officeDocument/2006/relationships/slide" Target="slides/slide6.xml" /><ns0:Relationship Id="rId13" Type="http://schemas.openxmlformats.org/officeDocument/2006/relationships/slide" Target="slides/slide7.xml" /><ns0:Relationship Id="rId14" Type="http://schemas.openxmlformats.org/officeDocument/2006/relationships/slide" Target="slides/slide8.xml" /><ns0:Relationship Id="rId15" Type="http://schemas.openxmlformats.org/officeDocument/2006/relationships/slide" Target="slides/slide9.xml" /><ns0:Relationship Id="rId16" Type="http://schemas.openxmlformats.org/officeDocument/2006/relationships/slide" Target="slides/slide10.xml" /><ns0:Relationship Id="rId17" Type="http://schemas.openxmlformats.org/officeDocument/2006/relationships/slide" Target="slides/slide11.xml" /><ns0:Relationship Id="rId18" Type="http://schemas.openxmlformats.org/officeDocument/2006/relationships/slide" Target="slides/slide12.xml" /><ns0:Relationship Id="rId19" Type="http://schemas.openxmlformats.org/officeDocument/2006/relationships/slide" Target="slides/slide13.xml" /><ns0:Relationship Id="rId20" Type="http://schemas.openxmlformats.org/officeDocument/2006/relationships/slide" Target="slides/slide14.xml" /><ns0:Relationship Id="rId21" Type="http://schemas.openxmlformats.org/officeDocument/2006/relationships/slide" Target="slides/slide15.xml" /><ns0:Relationship Id="rId22" Type="http://schemas.openxmlformats.org/officeDocument/2006/relationships/slide" Target="slides/slide16.xml" /><ns0:Relationship Id="rId23" Type="http://schemas.openxmlformats.org/officeDocument/2006/relationships/slide" Target="slides/slide17.xml" /><ns0:Relationship Id="rId24" Type="http://schemas.openxmlformats.org/officeDocument/2006/relationships/slide" Target="slides/slide18.xml" /><ns0:Relationship Id="rId25" Type="http://schemas.openxmlformats.org/officeDocument/2006/relationships/slide" Target="slides/slide19.xml" /><ns0:Relationship Id="rIdFont26" Type="http://schemas.openxmlformats.org/officeDocument/2006/relationships/font" Target="fonts/a6ef1faa-8410-4b20-8b8c-5943859143eb.fntdata" /><ns0:Relationship Id="rIdFont27" Type="http://schemas.openxmlformats.org/officeDocument/2006/relationships/font" Target="fonts/8f313a79-2ea8-4018-b147-ea0b01c3180c.fntdata" /><ns0:Relationship Id="rIdFont28" Type="http://schemas.openxmlformats.org/officeDocument/2006/relationships/font" Target="fonts/384d5692-85ee-4a9a-8b07-b76aba8dccfb.fntdata" /><ns0:Relationship Id="rIdFont29" Type="http://schemas.openxmlformats.org/officeDocument/2006/relationships/font" Target="fonts/d22e5488-4b76-4e3e-a4c4-e86733ef33eb.fntdata" /><ns0:Relationship Id="rIdFont30" Type="http://schemas.openxmlformats.org/officeDocument/2006/relationships/font" Target="fonts/3e634c03-b6fa-40de-ae2c-813c3c2fe701.fntdata" /></ns0: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267200" cy="685800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67200" y="0"/>
            <a:ext cx="792480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4565153"/>
            <a:ext cx="609600" cy="38100"/>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4876800" y="2421135"/>
            <a:ext cx="6705600" cy="3238500"/>
          </a:xfrm>
          <a:prstGeom prst="rect">
            <a:avLst/>
          </a:prstGeom>
        </p:spPr>
      </p:pic>
      <p:sp>
        <p:nvSpPr>
          <p:cNvPr id="6" name="TextBox 5"/>
          <p:cNvSpPr txBox="1"/>
          <p:nvPr/>
        </p:nvSpPr>
        <p:spPr>
          <a:xfrm>
            <a:off x="609600" y="1454646"/>
            <a:ext cx="3810000" cy="200025"/>
          </a:xfrm>
          <a:prstGeom prst="rect">
            <a:avLst/>
          </a:prstGeom>
          <a:noFill/>
        </p:spPr>
        <p:txBody>
          <a:bodyPr wrap="none" lIns="0" rIns="0" tIns="0" bIns="0" anchor="t">
            <a:spAutoFit/>
          </a:bodyPr>
          <a:lstStyle/>
          <a:p>
            <a:pPr algn="l"/>
            <a:r>
              <a:rPr b="1" sz="1350" i="0" u="none">
                <a:solidFill>
                  <a:srgbClr val="FAFAF9"/>
                </a:solidFill>
                <a:latin typeface="Inter"/>
              </a:rPr>
              <a:t>CHỦ ĐỀ THUYẾT TRÌNH</a:t>
            </a:r>
          </a:p>
        </p:txBody>
      </p:sp>
      <p:sp>
        <p:nvSpPr>
          <p:cNvPr id="7" name="TextBox 6"/>
          <p:cNvSpPr txBox="1"/>
          <p:nvPr/>
        </p:nvSpPr>
        <p:spPr>
          <a:xfrm>
            <a:off x="609600" y="1883271"/>
            <a:ext cx="3300412" cy="2377082"/>
          </a:xfrm>
          <a:prstGeom prst="rect">
            <a:avLst/>
          </a:prstGeom>
          <a:noFill/>
        </p:spPr>
        <p:txBody>
          <a:bodyPr wrap="square" lIns="0" rIns="0" tIns="0" bIns="0" anchor="t">
            <a:spAutoFit/>
          </a:bodyPr>
          <a:lstStyle/>
          <a:p>
            <a:pPr algn="l">
              <a:lnSpc>
                <a:spcPts val="4680"/>
              </a:lnSpc>
            </a:pPr>
            <a:r>
              <a:rPr b="1" sz="3600" i="0" u="none">
                <a:solidFill>
                  <a:srgbClr val="FAFAF9"/>
                </a:solidFill>
                <a:latin typeface="Merriweather"/>
              </a:rPr>
              <a:t>Quy luật ra đời của Đảng Cộng sản Việt Nam</a:t>
            </a:r>
          </a:p>
        </p:txBody>
      </p:sp>
      <p:sp>
        <p:nvSpPr>
          <p:cNvPr id="8" name="TextBox 7"/>
          <p:cNvSpPr txBox="1"/>
          <p:nvPr/>
        </p:nvSpPr>
        <p:spPr>
          <a:xfrm>
            <a:off x="609600" y="4908053"/>
            <a:ext cx="3143250" cy="495300"/>
          </a:xfrm>
          <a:prstGeom prst="rect">
            <a:avLst/>
          </a:prstGeom>
          <a:noFill/>
        </p:spPr>
        <p:txBody>
          <a:bodyPr wrap="square" lIns="0" rIns="0" tIns="0" bIns="0" anchor="t">
            <a:spAutoFit/>
          </a:bodyPr>
          <a:lstStyle/>
          <a:p>
            <a:pPr algn="l"/>
            <a:r>
              <a:rPr b="0" sz="1650" i="0" u="none">
                <a:solidFill>
                  <a:srgbClr val="FAFAF9"/>
                </a:solidFill>
                <a:latin typeface="Inter"/>
              </a:rPr>
              <a:t>Và sự đối chiếu với châu Âu, châu Á - Thái Bình Dương</a:t>
            </a:r>
          </a:p>
        </p:txBody>
      </p:sp>
      <p:sp>
        <p:nvSpPr>
          <p:cNvPr id="9" name="TextBox 8"/>
          <p:cNvSpPr txBox="1"/>
          <p:nvPr/>
        </p:nvSpPr>
        <p:spPr>
          <a:xfrm>
            <a:off x="4152900" y="5924401"/>
            <a:ext cx="8153400" cy="323850"/>
          </a:xfrm>
          <a:prstGeom prst="rect">
            <a:avLst/>
          </a:prstGeom>
          <a:noFill/>
        </p:spPr>
        <p:txBody>
          <a:bodyPr wrap="square" lIns="0" rIns="0" tIns="0" bIns="0" anchor="t">
            <a:spAutoFit/>
          </a:bodyPr>
          <a:lstStyle/>
          <a:p>
            <a:pPr algn="ctr"/>
            <a:r>
              <a:rPr b="0" sz="1050" i="0" u="none">
                <a:solidFill>
                  <a:srgbClr val="57534E"/>
                </a:solidFill>
                <a:latin typeface="Inter"/>
              </a:rPr>
              <a:t>Nguyễn Ái Quốc phát biểu tại Đại hội Tours của Đảng Xã hội Pháp, tháng 12/1920 (Nguồn: Giáo trình, Chương 1)</a:t>
            </a:r>
          </a:p>
        </p:txBody>
      </p:sp>
      <p:sp>
        <p:nvSpPr>
          <p:cNvPr id="10" name="TextBox 9"/>
          <p:cNvSpPr txBox="1"/>
          <p:nvPr/>
        </p:nvSpPr>
        <p:spPr>
          <a:xfrm>
            <a:off x="4876800" y="609600"/>
            <a:ext cx="6800850" cy="457200"/>
          </a:xfrm>
          <a:prstGeom prst="rect">
            <a:avLst/>
          </a:prstGeom>
          <a:noFill/>
        </p:spPr>
        <p:txBody>
          <a:bodyPr wrap="square" lIns="0" rIns="0" tIns="0" bIns="0" anchor="t">
            <a:spAutoFit/>
          </a:bodyPr>
          <a:lstStyle/>
          <a:p>
            <a:pPr algn="l"/>
            <a:r>
              <a:rPr b="1" sz="1500" i="1" u="none">
                <a:solidFill>
                  <a:srgbClr val="B91C1C"/>
                </a:solidFill>
                <a:latin typeface="Inter"/>
              </a:rPr>
              <a:t>"Tại sao năm 1920 Nguyễn Ái Quốc tham gia sáng lập ĐCS Pháp, nhưng mất 10 năm mới thành lập ĐCS Việt Nam?"</a:t>
            </a:r>
          </a:p>
        </p:txBody>
      </p:sp>
      <p:sp>
        <p:nvSpPr>
          <p:cNvPr id="11" name="TextBox 10"/>
          <p:cNvSpPr txBox="1"/>
          <p:nvPr/>
        </p:nvSpPr>
        <p:spPr>
          <a:xfrm>
            <a:off x="4876800" y="1219200"/>
            <a:ext cx="6800850" cy="822870"/>
          </a:xfrm>
          <a:prstGeom prst="rect">
            <a:avLst/>
          </a:prstGeom>
          <a:noFill/>
        </p:spPr>
        <p:txBody>
          <a:bodyPr wrap="square" lIns="0" rIns="0" tIns="0" bIns="0" anchor="t">
            <a:spAutoFit/>
          </a:bodyPr>
          <a:lstStyle/>
          <a:p>
            <a:pPr algn="l">
              <a:lnSpc>
                <a:spcPts val="2160"/>
              </a:lnSpc>
            </a:pPr>
            <a:r>
              <a:rPr b="0" sz="1350" i="0" u="none">
                <a:solidFill>
                  <a:srgbClr val="57534E"/>
                </a:solidFill>
                <a:latin typeface="Inter"/>
              </a:rPr>
              <a:t>Để trả lời vì sao có độ trễ 10 năm đó, và điều gì tạo nên khác biệt trong con đường thành lập Đảng của Việt Nam so với các nước châu Âu hay châu Á - Thái Bình Dương, xin mời cô và các bạn cùng đi vào nội dung chi tiết!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1762125"/>
            <a:ext cx="457200" cy="457200"/>
          </a:xfrm>
          <a:prstGeom prst="roundRect">
            <a:avLst>
              <a:gd name="adj" fmla="val 50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2647950"/>
            <a:ext cx="457200" cy="457200"/>
          </a:xfrm>
          <a:prstGeom prst="roundRect">
            <a:avLst>
              <a:gd name="adj" fmla="val 50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09600" y="3533775"/>
            <a:ext cx="457200" cy="457200"/>
          </a:xfrm>
          <a:prstGeom prst="roundRect">
            <a:avLst>
              <a:gd name="adj" fmla="val 50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1295400" y="3900487"/>
            <a:ext cx="171450" cy="200025"/>
          </a:xfrm>
          <a:prstGeom prst="rect">
            <a:avLst/>
          </a:prstGeom>
        </p:spPr>
      </p:pic>
      <p:pic>
        <p:nvPicPr>
          <p:cNvPr id="6" name="Picture 5" descr="image.png"/>
          <p:cNvPicPr>
            <a:picLocks noChangeAspect="1"/>
          </p:cNvPicPr>
          <p:nvPr/>
        </p:nvPicPr>
        <p:blipFill>
          <a:blip r:embed="rId2"/>
          <a:stretch>
            <a:fillRect/>
          </a:stretch>
        </p:blipFill>
        <p:spPr>
          <a:xfrm>
            <a:off x="3257550" y="3900487"/>
            <a:ext cx="171450" cy="200025"/>
          </a:xfrm>
          <a:prstGeom prst="rect">
            <a:avLst/>
          </a:prstGeom>
        </p:spPr>
      </p:pic>
      <p:pic>
        <p:nvPicPr>
          <p:cNvPr id="7" name="Picture 6" descr="image.png"/>
          <p:cNvPicPr>
            <a:picLocks noChangeAspect="1"/>
          </p:cNvPicPr>
          <p:nvPr/>
        </p:nvPicPr>
        <p:blipFill>
          <a:blip r:embed="rId2"/>
          <a:stretch>
            <a:fillRect/>
          </a:stretch>
        </p:blipFill>
        <p:spPr>
          <a:xfrm>
            <a:off x="5600700" y="3900487"/>
            <a:ext cx="171450" cy="200025"/>
          </a:xfrm>
          <a:prstGeom prst="rect">
            <a:avLst/>
          </a:prstGeom>
        </p:spPr>
      </p:pic>
      <p:pic>
        <p:nvPicPr>
          <p:cNvPr id="8" name="Picture 7" descr="image.png"/>
          <p:cNvPicPr>
            <a:picLocks noChangeAspect="1"/>
          </p:cNvPicPr>
          <p:nvPr/>
        </p:nvPicPr>
        <p:blipFill>
          <a:blip r:embed="rId2"/>
          <a:stretch>
            <a:fillRect/>
          </a:stretch>
        </p:blipFill>
        <p:spPr>
          <a:xfrm>
            <a:off x="7267575" y="3900487"/>
            <a:ext cx="171450" cy="200025"/>
          </a:xfrm>
          <a:prstGeom prst="rect">
            <a:avLst/>
          </a:prstGeom>
        </p:spPr>
      </p:pic>
      <p:sp>
        <p:nvSpPr>
          <p:cNvPr id="9" name="TextBox 8"/>
          <p:cNvSpPr txBox="1"/>
          <p:nvPr/>
        </p:nvSpPr>
        <p:spPr>
          <a:xfrm>
            <a:off x="609600" y="609600"/>
            <a:ext cx="11582400" cy="190500"/>
          </a:xfrm>
          <a:prstGeom prst="rect">
            <a:avLst/>
          </a:prstGeom>
          <a:noFill/>
        </p:spPr>
        <p:txBody>
          <a:bodyPr wrap="none" lIns="0" rIns="0" tIns="0" bIns="0" anchor="t">
            <a:spAutoFit/>
          </a:bodyPr>
          <a:lstStyle/>
          <a:p>
            <a:pPr algn="l"/>
            <a:r>
              <a:rPr b="1" sz="1200" i="0" u="none">
                <a:solidFill>
                  <a:srgbClr val="B91C1C"/>
                </a:solidFill>
                <a:latin typeface="Inter"/>
              </a:rPr>
              <a:t>PHẦN 1: CƠ SỞ LÝ LUẬN</a:t>
            </a:r>
          </a:p>
        </p:txBody>
      </p:sp>
      <p:sp>
        <p:nvSpPr>
          <p:cNvPr id="10" name="TextBox 9"/>
          <p:cNvSpPr txBox="1"/>
          <p:nvPr/>
        </p:nvSpPr>
        <p:spPr>
          <a:xfrm>
            <a:off x="609600" y="876300"/>
            <a:ext cx="11582400" cy="428625"/>
          </a:xfrm>
          <a:prstGeom prst="rect">
            <a:avLst/>
          </a:prstGeom>
          <a:noFill/>
        </p:spPr>
        <p:txBody>
          <a:bodyPr wrap="none" lIns="0" rIns="0" tIns="0" bIns="0" anchor="t">
            <a:spAutoFit/>
          </a:bodyPr>
          <a:lstStyle/>
          <a:p>
            <a:pPr algn="l"/>
            <a:r>
              <a:rPr b="1" sz="2700" i="0" u="none">
                <a:solidFill>
                  <a:srgbClr val="1C1917"/>
                </a:solidFill>
                <a:latin typeface="Merriweather"/>
              </a:rPr>
              <a:t>Khung lý luận về quy luật ra đời</a:t>
            </a:r>
          </a:p>
        </p:txBody>
      </p:sp>
      <p:sp>
        <p:nvSpPr>
          <p:cNvPr id="11" name="TextBox 10"/>
          <p:cNvSpPr txBox="1"/>
          <p:nvPr/>
        </p:nvSpPr>
        <p:spPr>
          <a:xfrm>
            <a:off x="466725" y="1762125"/>
            <a:ext cx="742950" cy="457200"/>
          </a:xfrm>
          <a:prstGeom prst="rect">
            <a:avLst/>
          </a:prstGeom>
          <a:noFill/>
        </p:spPr>
        <p:txBody>
          <a:bodyPr wrap="square" lIns="0" rIns="0" tIns="0" bIns="0" anchor="ctr">
            <a:spAutoFit/>
          </a:bodyPr>
          <a:lstStyle/>
          <a:p>
            <a:pPr algn="ctr"/>
            <a:r>
              <a:rPr b="1" sz="1500" i="0" u="none">
                <a:solidFill>
                  <a:srgbClr val="B91C1C"/>
                </a:solidFill>
                <a:latin typeface="Inter"/>
              </a:rPr>
              <a:t>1</a:t>
            </a:r>
          </a:p>
        </p:txBody>
      </p:sp>
      <p:sp>
        <p:nvSpPr>
          <p:cNvPr id="12" name="TextBox 11"/>
          <p:cNvSpPr txBox="1"/>
          <p:nvPr/>
        </p:nvSpPr>
        <p:spPr>
          <a:xfrm>
            <a:off x="466725" y="2647950"/>
            <a:ext cx="742950" cy="457200"/>
          </a:xfrm>
          <a:prstGeom prst="rect">
            <a:avLst/>
          </a:prstGeom>
          <a:noFill/>
        </p:spPr>
        <p:txBody>
          <a:bodyPr wrap="square" lIns="0" rIns="0" tIns="0" bIns="0" anchor="ctr">
            <a:spAutoFit/>
          </a:bodyPr>
          <a:lstStyle/>
          <a:p>
            <a:pPr algn="ctr"/>
            <a:r>
              <a:rPr b="1" sz="1500" i="0" u="none">
                <a:solidFill>
                  <a:srgbClr val="B91C1C"/>
                </a:solidFill>
                <a:latin typeface="Inter"/>
              </a:rPr>
              <a:t>2</a:t>
            </a:r>
          </a:p>
        </p:txBody>
      </p:sp>
      <p:sp>
        <p:nvSpPr>
          <p:cNvPr id="13" name="TextBox 12"/>
          <p:cNvSpPr txBox="1"/>
          <p:nvPr/>
        </p:nvSpPr>
        <p:spPr>
          <a:xfrm>
            <a:off x="466725" y="3533775"/>
            <a:ext cx="742950" cy="457200"/>
          </a:xfrm>
          <a:prstGeom prst="rect">
            <a:avLst/>
          </a:prstGeom>
          <a:noFill/>
        </p:spPr>
        <p:txBody>
          <a:bodyPr wrap="square" lIns="0" rIns="0" tIns="0" bIns="0" anchor="ctr">
            <a:spAutoFit/>
          </a:bodyPr>
          <a:lstStyle/>
          <a:p>
            <a:pPr algn="ctr"/>
            <a:r>
              <a:rPr b="1" sz="1500" i="0" u="none">
                <a:solidFill>
                  <a:srgbClr val="B91C1C"/>
                </a:solidFill>
                <a:latin typeface="Inter"/>
              </a:rPr>
              <a:t>3</a:t>
            </a:r>
          </a:p>
        </p:txBody>
      </p:sp>
      <p:sp>
        <p:nvSpPr>
          <p:cNvPr id="14" name="TextBox 13"/>
          <p:cNvSpPr txBox="1"/>
          <p:nvPr/>
        </p:nvSpPr>
        <p:spPr>
          <a:xfrm>
            <a:off x="1295400" y="1762125"/>
            <a:ext cx="10896600" cy="276225"/>
          </a:xfrm>
          <a:prstGeom prst="rect">
            <a:avLst/>
          </a:prstGeom>
          <a:noFill/>
        </p:spPr>
        <p:txBody>
          <a:bodyPr wrap="none" lIns="0" rIns="0" tIns="0" bIns="0" anchor="t">
            <a:spAutoFit/>
          </a:bodyPr>
          <a:lstStyle/>
          <a:p>
            <a:pPr algn="l"/>
            <a:r>
              <a:rPr b="1" sz="1800" i="0" u="none">
                <a:solidFill>
                  <a:srgbClr val="1C1917"/>
                </a:solidFill>
                <a:latin typeface="Inter"/>
              </a:rPr>
              <a:t>Quy luật cốt lõi</a:t>
            </a:r>
          </a:p>
        </p:txBody>
      </p:sp>
      <p:sp>
        <p:nvSpPr>
          <p:cNvPr id="15" name="TextBox 14"/>
          <p:cNvSpPr txBox="1"/>
          <p:nvPr/>
        </p:nvSpPr>
        <p:spPr>
          <a:xfrm>
            <a:off x="1295400" y="2114550"/>
            <a:ext cx="10896600" cy="228600"/>
          </a:xfrm>
          <a:prstGeom prst="rect">
            <a:avLst/>
          </a:prstGeom>
          <a:noFill/>
        </p:spPr>
        <p:txBody>
          <a:bodyPr wrap="none" lIns="0" rIns="0" tIns="0" bIns="0" anchor="t">
            <a:spAutoFit/>
          </a:bodyPr>
          <a:lstStyle/>
          <a:p>
            <a:pPr algn="l"/>
            <a:r>
              <a:rPr b="0" sz="1500" i="0" u="none">
                <a:solidFill>
                  <a:srgbClr val="57534E"/>
                </a:solidFill>
                <a:latin typeface="Inter"/>
              </a:rPr>
              <a:t>Đảng Cộng sản Việt Nam = </a:t>
            </a:r>
            <a:r>
              <a:rPr b="1" sz="1500" i="0" u="none">
                <a:solidFill>
                  <a:srgbClr val="57534E"/>
                </a:solidFill>
                <a:latin typeface="Inter"/>
              </a:rPr>
              <a:t>Chủ nghĩa Mác - Lênin</a:t>
            </a:r>
            <a:r>
              <a:rPr b="0" sz="1500" i="0" u="none">
                <a:solidFill>
                  <a:srgbClr val="57534E"/>
                </a:solidFill>
                <a:latin typeface="Inter"/>
              </a:rPr>
              <a:t> + </a:t>
            </a:r>
            <a:r>
              <a:rPr b="1" sz="1500" i="0" u="none">
                <a:solidFill>
                  <a:srgbClr val="57534E"/>
                </a:solidFill>
                <a:latin typeface="Inter"/>
              </a:rPr>
              <a:t>Phong trào công nhân</a:t>
            </a:r>
            <a:r>
              <a:rPr b="0" sz="1500" i="0" u="none">
                <a:solidFill>
                  <a:srgbClr val="57534E"/>
                </a:solidFill>
                <a:latin typeface="Inter"/>
              </a:rPr>
              <a:t> + </a:t>
            </a:r>
            <a:r>
              <a:rPr b="1" sz="1500" i="0" u="none">
                <a:solidFill>
                  <a:srgbClr val="57534E"/>
                </a:solidFill>
                <a:latin typeface="Inter"/>
              </a:rPr>
              <a:t>Phong trào yêu nước</a:t>
            </a:r>
            <a:r>
              <a:rPr b="0" sz="1500" i="0" u="none">
                <a:solidFill>
                  <a:srgbClr val="57534E"/>
                </a:solidFill>
                <a:latin typeface="Inter"/>
              </a:rPr>
              <a:t>.</a:t>
            </a:r>
          </a:p>
        </p:txBody>
      </p:sp>
      <p:sp>
        <p:nvSpPr>
          <p:cNvPr id="16" name="TextBox 15"/>
          <p:cNvSpPr txBox="1"/>
          <p:nvPr/>
        </p:nvSpPr>
        <p:spPr>
          <a:xfrm>
            <a:off x="1295400" y="2647950"/>
            <a:ext cx="10738842" cy="276225"/>
          </a:xfrm>
          <a:prstGeom prst="rect">
            <a:avLst/>
          </a:prstGeom>
          <a:noFill/>
        </p:spPr>
        <p:txBody>
          <a:bodyPr wrap="none" lIns="0" rIns="0" tIns="0" bIns="0" anchor="t">
            <a:spAutoFit/>
          </a:bodyPr>
          <a:lstStyle/>
          <a:p>
            <a:pPr algn="l"/>
            <a:r>
              <a:rPr b="1" sz="1800" i="0" u="none">
                <a:solidFill>
                  <a:srgbClr val="1C1917"/>
                </a:solidFill>
                <a:latin typeface="Inter"/>
              </a:rPr>
              <a:t>Nền tảng tư tưởng</a:t>
            </a:r>
          </a:p>
        </p:txBody>
      </p:sp>
      <p:sp>
        <p:nvSpPr>
          <p:cNvPr id="17" name="TextBox 16"/>
          <p:cNvSpPr txBox="1"/>
          <p:nvPr/>
        </p:nvSpPr>
        <p:spPr>
          <a:xfrm>
            <a:off x="1295400" y="3000375"/>
            <a:ext cx="10227468" cy="228600"/>
          </a:xfrm>
          <a:prstGeom prst="rect">
            <a:avLst/>
          </a:prstGeom>
          <a:noFill/>
        </p:spPr>
        <p:txBody>
          <a:bodyPr wrap="none" lIns="0" rIns="0" tIns="0" bIns="0" anchor="t">
            <a:spAutoFit/>
          </a:bodyPr>
          <a:lstStyle/>
          <a:p>
            <a:pPr algn="l"/>
            <a:r>
              <a:rPr b="0" sz="1500" i="0" u="none">
                <a:solidFill>
                  <a:srgbClr val="57534E"/>
                </a:solidFill>
                <a:latin typeface="Inter"/>
              </a:rPr>
              <a:t>Lấy chủ nghĩa Mác - Lênin và tư tưởng Hồ Chí Minh làm nền tảng, kim chỉ nam hành động.</a:t>
            </a:r>
          </a:p>
        </p:txBody>
      </p:sp>
      <p:sp>
        <p:nvSpPr>
          <p:cNvPr id="18" name="TextBox 17"/>
          <p:cNvSpPr txBox="1"/>
          <p:nvPr/>
        </p:nvSpPr>
        <p:spPr>
          <a:xfrm>
            <a:off x="1295400" y="3533775"/>
            <a:ext cx="10676334" cy="276225"/>
          </a:xfrm>
          <a:prstGeom prst="rect">
            <a:avLst/>
          </a:prstGeom>
          <a:noFill/>
        </p:spPr>
        <p:txBody>
          <a:bodyPr wrap="none" lIns="0" rIns="0" tIns="0" bIns="0" anchor="t">
            <a:spAutoFit/>
          </a:bodyPr>
          <a:lstStyle/>
          <a:p>
            <a:pPr algn="l"/>
            <a:r>
              <a:rPr b="1" sz="1800" i="0" u="none">
                <a:solidFill>
                  <a:srgbClr val="1C1917"/>
                </a:solidFill>
                <a:latin typeface="Inter"/>
              </a:rPr>
              <a:t>Tiêu chí phân tích quốc tế</a:t>
            </a:r>
          </a:p>
        </p:txBody>
      </p:sp>
      <p:sp>
        <p:nvSpPr>
          <p:cNvPr id="19" name="TextBox 18"/>
          <p:cNvSpPr txBox="1"/>
          <p:nvPr/>
        </p:nvSpPr>
        <p:spPr>
          <a:xfrm>
            <a:off x="1295400" y="3886200"/>
            <a:ext cx="2166937" cy="228600"/>
          </a:xfrm>
          <a:prstGeom prst="rect">
            <a:avLst/>
          </a:prstGeom>
          <a:noFill/>
        </p:spPr>
        <p:txBody>
          <a:bodyPr wrap="none" lIns="247650" rIns="0" tIns="0" bIns="0" anchor="t">
            <a:spAutoFit/>
          </a:bodyPr>
          <a:lstStyle/>
          <a:p>
            <a:pPr algn="l"/>
            <a:r>
              <a:rPr b="0" sz="1500" i="0" u="none">
                <a:solidFill>
                  <a:srgbClr val="57534E"/>
                </a:solidFill>
                <a:latin typeface="Inter"/>
              </a:rPr>
              <a:t>Bối cảnh lịch sử</a:t>
            </a:r>
          </a:p>
        </p:txBody>
      </p:sp>
      <p:sp>
        <p:nvSpPr>
          <p:cNvPr id="20" name="TextBox 19"/>
          <p:cNvSpPr txBox="1"/>
          <p:nvPr/>
        </p:nvSpPr>
        <p:spPr>
          <a:xfrm>
            <a:off x="3257550" y="3886200"/>
            <a:ext cx="2643187" cy="228600"/>
          </a:xfrm>
          <a:prstGeom prst="rect">
            <a:avLst/>
          </a:prstGeom>
          <a:noFill/>
        </p:spPr>
        <p:txBody>
          <a:bodyPr wrap="none" lIns="247650" rIns="0" tIns="0" bIns="0" anchor="t">
            <a:spAutoFit/>
          </a:bodyPr>
          <a:lstStyle/>
          <a:p>
            <a:pPr algn="l"/>
            <a:r>
              <a:rPr b="0" sz="1500" i="0" u="none">
                <a:solidFill>
                  <a:srgbClr val="57534E"/>
                </a:solidFill>
                <a:latin typeface="Inter"/>
              </a:rPr>
              <a:t>Quá trình &amp; Tổ chức</a:t>
            </a:r>
          </a:p>
        </p:txBody>
      </p:sp>
      <p:sp>
        <p:nvSpPr>
          <p:cNvPr id="21" name="TextBox 20"/>
          <p:cNvSpPr txBox="1"/>
          <p:nvPr/>
        </p:nvSpPr>
        <p:spPr>
          <a:xfrm>
            <a:off x="5600700" y="3886200"/>
            <a:ext cx="1797843" cy="228600"/>
          </a:xfrm>
          <a:prstGeom prst="rect">
            <a:avLst/>
          </a:prstGeom>
          <a:noFill/>
        </p:spPr>
        <p:txBody>
          <a:bodyPr wrap="none" lIns="247650" rIns="0" tIns="0" bIns="0" anchor="t">
            <a:spAutoFit/>
          </a:bodyPr>
          <a:lstStyle/>
          <a:p>
            <a:pPr algn="l"/>
            <a:r>
              <a:rPr b="0" sz="1500" i="0" u="none">
                <a:solidFill>
                  <a:srgbClr val="57534E"/>
                </a:solidFill>
                <a:latin typeface="Inter"/>
              </a:rPr>
              <a:t>Cơ sở xã hội</a:t>
            </a:r>
          </a:p>
        </p:txBody>
      </p:sp>
      <p:sp>
        <p:nvSpPr>
          <p:cNvPr id="22" name="TextBox 21"/>
          <p:cNvSpPr txBox="1"/>
          <p:nvPr/>
        </p:nvSpPr>
        <p:spPr>
          <a:xfrm>
            <a:off x="7267575" y="3886200"/>
            <a:ext cx="2702718" cy="228600"/>
          </a:xfrm>
          <a:prstGeom prst="rect">
            <a:avLst/>
          </a:prstGeom>
          <a:noFill/>
        </p:spPr>
        <p:txBody>
          <a:bodyPr wrap="none" lIns="247650" rIns="0" tIns="0" bIns="0" anchor="t">
            <a:spAutoFit/>
          </a:bodyPr>
          <a:lstStyle/>
          <a:p>
            <a:pPr algn="l"/>
            <a:r>
              <a:rPr b="0" sz="1500" i="0" u="none">
                <a:solidFill>
                  <a:srgbClr val="57534E"/>
                </a:solidFill>
                <a:latin typeface="Inter"/>
              </a:rPr>
              <a:t>Nhiệm vụ chiến lược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1419225"/>
            <a:ext cx="5295900" cy="1181100"/>
          </a:xfrm>
          <a:prstGeom prst="roundRect">
            <a:avLst>
              <a:gd name="adj" fmla="val 6451"/>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2828925"/>
            <a:ext cx="5295900" cy="1181100"/>
          </a:xfrm>
          <a:prstGeom prst="roundRect">
            <a:avLst>
              <a:gd name="adj" fmla="val 6451"/>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09600" y="4238625"/>
            <a:ext cx="5295900" cy="1181100"/>
          </a:xfrm>
          <a:prstGeom prst="roundRect">
            <a:avLst>
              <a:gd name="adj" fmla="val 6451"/>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6286500" y="1419225"/>
            <a:ext cx="5295900" cy="2300287"/>
          </a:xfrm>
          <a:prstGeom prst="rect">
            <a:avLst/>
          </a:prstGeom>
        </p:spPr>
      </p:pic>
      <p:pic>
        <p:nvPicPr>
          <p:cNvPr id="6" name="Picture 5" descr="image.png"/>
          <p:cNvPicPr>
            <a:picLocks noChangeAspect="1"/>
          </p:cNvPicPr>
          <p:nvPr/>
        </p:nvPicPr>
        <p:blipFill>
          <a:blip r:embed="rId3"/>
          <a:stretch>
            <a:fillRect/>
          </a:stretch>
        </p:blipFill>
        <p:spPr>
          <a:xfrm>
            <a:off x="6286500" y="3948112"/>
            <a:ext cx="5295900" cy="2300287"/>
          </a:xfrm>
          <a:prstGeom prst="rect">
            <a:avLst/>
          </a:prstGeom>
        </p:spPr>
      </p:pic>
      <p:pic>
        <p:nvPicPr>
          <p:cNvPr id="7" name="Picture 6" descr="image.png"/>
          <p:cNvPicPr>
            <a:picLocks noChangeAspect="1"/>
          </p:cNvPicPr>
          <p:nvPr/>
        </p:nvPicPr>
        <p:blipFill>
          <a:blip r:embed="rId4"/>
          <a:stretch>
            <a:fillRect/>
          </a:stretch>
        </p:blipFill>
        <p:spPr>
          <a:xfrm>
            <a:off x="6286500" y="1419225"/>
            <a:ext cx="5295900" cy="2300287"/>
          </a:xfrm>
          <a:prstGeom prst="rect">
            <a:avLst/>
          </a:prstGeom>
        </p:spPr>
      </p:pic>
      <p:pic>
        <p:nvPicPr>
          <p:cNvPr id="8" name="Picture 7" descr="image.png"/>
          <p:cNvPicPr>
            <a:picLocks noChangeAspect="1"/>
          </p:cNvPicPr>
          <p:nvPr/>
        </p:nvPicPr>
        <p:blipFill>
          <a:blip r:embed="rId5"/>
          <a:stretch>
            <a:fillRect/>
          </a:stretch>
        </p:blipFill>
        <p:spPr>
          <a:xfrm>
            <a:off x="6286500" y="3948112"/>
            <a:ext cx="1400175" cy="190500"/>
          </a:xfrm>
          <a:prstGeom prst="rect">
            <a:avLst/>
          </a:prstGeom>
        </p:spPr>
      </p:pic>
      <p:sp>
        <p:nvSpPr>
          <p:cNvPr id="9" name="TextBox 8"/>
          <p:cNvSpPr txBox="1"/>
          <p:nvPr/>
        </p:nvSpPr>
        <p:spPr>
          <a:xfrm>
            <a:off x="609600" y="609600"/>
            <a:ext cx="11582400" cy="428625"/>
          </a:xfrm>
          <a:prstGeom prst="rect">
            <a:avLst/>
          </a:prstGeom>
          <a:noFill/>
        </p:spPr>
        <p:txBody>
          <a:bodyPr wrap="none" lIns="0" rIns="0" tIns="0" bIns="0" anchor="t">
            <a:spAutoFit/>
          </a:bodyPr>
          <a:lstStyle/>
          <a:p>
            <a:pPr algn="l"/>
            <a:r>
              <a:rPr b="1" sz="2700" i="0" u="none">
                <a:solidFill>
                  <a:srgbClr val="1C1917"/>
                </a:solidFill>
                <a:latin typeface="Merriweather"/>
              </a:rPr>
              <a:t>Bối cảnh thế giới (Cuối TK XIX - Đầu TK XX)</a:t>
            </a:r>
          </a:p>
        </p:txBody>
      </p:sp>
      <p:sp>
        <p:nvSpPr>
          <p:cNvPr id="10" name="TextBox 9"/>
          <p:cNvSpPr txBox="1"/>
          <p:nvPr/>
        </p:nvSpPr>
        <p:spPr>
          <a:xfrm>
            <a:off x="838200" y="1647825"/>
            <a:ext cx="6350793" cy="247650"/>
          </a:xfrm>
          <a:prstGeom prst="rect">
            <a:avLst/>
          </a:prstGeom>
          <a:noFill/>
        </p:spPr>
        <p:txBody>
          <a:bodyPr wrap="none" lIns="0" rIns="0" tIns="0" bIns="0" anchor="t">
            <a:spAutoFit/>
          </a:bodyPr>
          <a:lstStyle/>
          <a:p>
            <a:pPr algn="l"/>
            <a:r>
              <a:rPr b="1" sz="1650" i="0" u="none">
                <a:solidFill>
                  <a:srgbClr val="1C1917"/>
                </a:solidFill>
                <a:latin typeface="Inter"/>
              </a:rPr>
              <a:t>Sự chuyển biến của CNTB</a:t>
            </a:r>
          </a:p>
        </p:txBody>
      </p:sp>
      <p:sp>
        <p:nvSpPr>
          <p:cNvPr id="11" name="TextBox 10"/>
          <p:cNvSpPr txBox="1"/>
          <p:nvPr/>
        </p:nvSpPr>
        <p:spPr>
          <a:xfrm>
            <a:off x="838200" y="1971675"/>
            <a:ext cx="4933950" cy="400050"/>
          </a:xfrm>
          <a:prstGeom prst="rect">
            <a:avLst/>
          </a:prstGeom>
          <a:noFill/>
        </p:spPr>
        <p:txBody>
          <a:bodyPr wrap="square" lIns="0" rIns="0" tIns="0" bIns="0" anchor="t">
            <a:spAutoFit/>
          </a:bodyPr>
          <a:lstStyle/>
          <a:p>
            <a:pPr algn="l"/>
            <a:r>
              <a:rPr b="0" sz="1350" i="0" u="none">
                <a:solidFill>
                  <a:srgbClr val="57534E"/>
                </a:solidFill>
                <a:latin typeface="Inter"/>
              </a:rPr>
              <a:t>Chuyển từ tự do sang độc quyền đế quốc. Xâm chiếm Á, Phi, Mỹ-Latinh. Mâu thuẫn dân tộc bùng nổ.</a:t>
            </a:r>
          </a:p>
        </p:txBody>
      </p:sp>
      <p:sp>
        <p:nvSpPr>
          <p:cNvPr id="12" name="TextBox 11"/>
          <p:cNvSpPr txBox="1"/>
          <p:nvPr/>
        </p:nvSpPr>
        <p:spPr>
          <a:xfrm>
            <a:off x="838200" y="3057525"/>
            <a:ext cx="6350793" cy="247650"/>
          </a:xfrm>
          <a:prstGeom prst="rect">
            <a:avLst/>
          </a:prstGeom>
          <a:noFill/>
        </p:spPr>
        <p:txBody>
          <a:bodyPr wrap="none" lIns="0" rIns="0" tIns="0" bIns="0" anchor="t">
            <a:spAutoFit/>
          </a:bodyPr>
          <a:lstStyle/>
          <a:p>
            <a:pPr algn="l"/>
            <a:r>
              <a:rPr b="1" sz="1650" i="0" u="none">
                <a:solidFill>
                  <a:srgbClr val="1C1917"/>
                </a:solidFill>
                <a:latin typeface="Inter"/>
              </a:rPr>
              <a:t>Cách mạng Tháng Mười Nga (1917)</a:t>
            </a:r>
          </a:p>
        </p:txBody>
      </p:sp>
      <p:sp>
        <p:nvSpPr>
          <p:cNvPr id="13" name="TextBox 12"/>
          <p:cNvSpPr txBox="1"/>
          <p:nvPr/>
        </p:nvSpPr>
        <p:spPr>
          <a:xfrm>
            <a:off x="838200" y="3381375"/>
            <a:ext cx="4933950" cy="400050"/>
          </a:xfrm>
          <a:prstGeom prst="rect">
            <a:avLst/>
          </a:prstGeom>
          <a:noFill/>
        </p:spPr>
        <p:txBody>
          <a:bodyPr wrap="square" lIns="0" rIns="0" tIns="0" bIns="0" anchor="t">
            <a:spAutoFit/>
          </a:bodyPr>
          <a:lstStyle/>
          <a:p>
            <a:pPr algn="l"/>
            <a:r>
              <a:rPr b="0" sz="1350" i="0" u="none">
                <a:solidFill>
                  <a:srgbClr val="57534E"/>
                </a:solidFill>
                <a:latin typeface="Inter"/>
              </a:rPr>
              <a:t>Biến đổi sâu sắc thế giới. Thức tỉnh các dân tộc thuộc địa đi theo con đường vô sản.</a:t>
            </a:r>
          </a:p>
        </p:txBody>
      </p:sp>
      <p:sp>
        <p:nvSpPr>
          <p:cNvPr id="14" name="TextBox 13"/>
          <p:cNvSpPr txBox="1"/>
          <p:nvPr/>
        </p:nvSpPr>
        <p:spPr>
          <a:xfrm>
            <a:off x="838200" y="4467225"/>
            <a:ext cx="6350793" cy="247650"/>
          </a:xfrm>
          <a:prstGeom prst="rect">
            <a:avLst/>
          </a:prstGeom>
          <a:noFill/>
        </p:spPr>
        <p:txBody>
          <a:bodyPr wrap="none" lIns="0" rIns="0" tIns="0" bIns="0" anchor="t">
            <a:spAutoFit/>
          </a:bodyPr>
          <a:lstStyle/>
          <a:p>
            <a:pPr algn="l"/>
            <a:r>
              <a:rPr b="1" sz="1650" i="0" u="none">
                <a:solidFill>
                  <a:srgbClr val="1C1917"/>
                </a:solidFill>
                <a:latin typeface="Inter"/>
              </a:rPr>
              <a:t>Quốc tế Cộng sản (1919)</a:t>
            </a:r>
          </a:p>
        </p:txBody>
      </p:sp>
      <p:sp>
        <p:nvSpPr>
          <p:cNvPr id="15" name="TextBox 14"/>
          <p:cNvSpPr txBox="1"/>
          <p:nvPr/>
        </p:nvSpPr>
        <p:spPr>
          <a:xfrm>
            <a:off x="838200" y="4791075"/>
            <a:ext cx="4933950" cy="400050"/>
          </a:xfrm>
          <a:prstGeom prst="rect">
            <a:avLst/>
          </a:prstGeom>
          <a:noFill/>
        </p:spPr>
        <p:txBody>
          <a:bodyPr wrap="square" lIns="0" rIns="0" tIns="0" bIns="0" anchor="t">
            <a:spAutoFit/>
          </a:bodyPr>
          <a:lstStyle/>
          <a:p>
            <a:pPr algn="l"/>
            <a:r>
              <a:rPr b="0" sz="1350" i="0" u="none">
                <a:solidFill>
                  <a:srgbClr val="57534E"/>
                </a:solidFill>
                <a:latin typeface="Inter"/>
              </a:rPr>
              <a:t>Lênin vạch đường hướng qua Luận cương (1920), thúc đẩy thành lập các Đảng Cộng sản toàn cầu.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1419225"/>
            <a:ext cx="3454449" cy="48291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368849" y="1419225"/>
            <a:ext cx="3454449" cy="48291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128099" y="1419225"/>
            <a:ext cx="3454449" cy="48291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1419225"/>
            <a:ext cx="3454449" cy="3810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68849" y="1419225"/>
            <a:ext cx="3454449" cy="3810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28099" y="1419225"/>
            <a:ext cx="3454449" cy="3810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28099" y="3143250"/>
            <a:ext cx="3454449" cy="419100"/>
          </a:xfrm>
          <a:prstGeom prst="rect">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28099" y="3143250"/>
            <a:ext cx="38100" cy="41910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600" y="609600"/>
            <a:ext cx="11582400" cy="428625"/>
          </a:xfrm>
          <a:prstGeom prst="rect">
            <a:avLst/>
          </a:prstGeom>
          <a:noFill/>
        </p:spPr>
        <p:txBody>
          <a:bodyPr wrap="none" lIns="0" rIns="0" tIns="0" bIns="0" anchor="t">
            <a:spAutoFit/>
          </a:bodyPr>
          <a:lstStyle/>
          <a:p>
            <a:pPr algn="l"/>
            <a:r>
              <a:rPr b="1" sz="2700" i="0" u="none">
                <a:solidFill>
                  <a:srgbClr val="1C1917"/>
                </a:solidFill>
                <a:latin typeface="Merriweather"/>
              </a:rPr>
              <a:t>Bối cảnh Việt Nam trước khi có Đảng</a:t>
            </a:r>
          </a:p>
        </p:txBody>
      </p:sp>
      <p:sp>
        <p:nvSpPr>
          <p:cNvPr id="11" name="TextBox 10"/>
          <p:cNvSpPr txBox="1"/>
          <p:nvPr/>
        </p:nvSpPr>
        <p:spPr>
          <a:xfrm>
            <a:off x="609600" y="1685925"/>
            <a:ext cx="4533965" cy="276225"/>
          </a:xfrm>
          <a:prstGeom prst="rect">
            <a:avLst/>
          </a:prstGeom>
          <a:noFill/>
        </p:spPr>
        <p:txBody>
          <a:bodyPr wrap="none" lIns="0" rIns="0" tIns="0" bIns="0" anchor="t">
            <a:spAutoFit/>
          </a:bodyPr>
          <a:lstStyle/>
          <a:p>
            <a:pPr algn="l"/>
            <a:r>
              <a:rPr b="1" sz="1800" i="0" u="none">
                <a:solidFill>
                  <a:srgbClr val="1C1917"/>
                </a:solidFill>
                <a:latin typeface="Inter"/>
              </a:rPr>
              <a:t>1. Cai trị của Pháp</a:t>
            </a:r>
          </a:p>
        </p:txBody>
      </p:sp>
      <p:sp>
        <p:nvSpPr>
          <p:cNvPr id="12" name="TextBox 11"/>
          <p:cNvSpPr txBox="1"/>
          <p:nvPr/>
        </p:nvSpPr>
        <p:spPr>
          <a:xfrm>
            <a:off x="4368849" y="1685925"/>
            <a:ext cx="4533965" cy="276225"/>
          </a:xfrm>
          <a:prstGeom prst="rect">
            <a:avLst/>
          </a:prstGeom>
          <a:noFill/>
        </p:spPr>
        <p:txBody>
          <a:bodyPr wrap="none" lIns="0" rIns="0" tIns="0" bIns="0" anchor="t">
            <a:spAutoFit/>
          </a:bodyPr>
          <a:lstStyle/>
          <a:p>
            <a:pPr algn="l"/>
            <a:r>
              <a:rPr b="1" sz="1800" i="0" u="none">
                <a:solidFill>
                  <a:srgbClr val="1C1917"/>
                </a:solidFill>
                <a:latin typeface="Inter"/>
              </a:rPr>
              <a:t>2. Phân hóa giai cấp</a:t>
            </a:r>
          </a:p>
        </p:txBody>
      </p:sp>
      <p:sp>
        <p:nvSpPr>
          <p:cNvPr id="13" name="TextBox 12"/>
          <p:cNvSpPr txBox="1"/>
          <p:nvPr/>
        </p:nvSpPr>
        <p:spPr>
          <a:xfrm>
            <a:off x="4368849" y="2114550"/>
            <a:ext cx="3549699" cy="400050"/>
          </a:xfrm>
          <a:prstGeom prst="rect">
            <a:avLst/>
          </a:prstGeom>
          <a:noFill/>
        </p:spPr>
        <p:txBody>
          <a:bodyPr wrap="square" lIns="0" rIns="0" tIns="0" bIns="0" anchor="t">
            <a:spAutoFit/>
          </a:bodyPr>
          <a:lstStyle/>
          <a:p>
            <a:pPr algn="l"/>
            <a:r>
              <a:rPr b="1" sz="1350" i="0" u="none">
                <a:solidFill>
                  <a:srgbClr val="57534E"/>
                </a:solidFill>
                <a:latin typeface="Inter"/>
              </a:rPr>
              <a:t>Công nhân:</a:t>
            </a:r>
            <a:r>
              <a:rPr b="0" sz="1350" i="0" u="none">
                <a:solidFill>
                  <a:srgbClr val="57534E"/>
                </a:solidFill>
                <a:latin typeface="Inter"/>
              </a:rPr>
              <a:t> Chịu 3 tầng áp bức (đế quốc, phong kiến, tư sản).</a:t>
            </a:r>
          </a:p>
        </p:txBody>
      </p:sp>
      <p:sp>
        <p:nvSpPr>
          <p:cNvPr id="14" name="TextBox 13"/>
          <p:cNvSpPr txBox="1"/>
          <p:nvPr/>
        </p:nvSpPr>
        <p:spPr>
          <a:xfrm>
            <a:off x="4368849" y="2590800"/>
            <a:ext cx="4318062" cy="200025"/>
          </a:xfrm>
          <a:prstGeom prst="rect">
            <a:avLst/>
          </a:prstGeom>
          <a:noFill/>
        </p:spPr>
        <p:txBody>
          <a:bodyPr wrap="none" lIns="0" rIns="0" tIns="0" bIns="0" anchor="t">
            <a:spAutoFit/>
          </a:bodyPr>
          <a:lstStyle/>
          <a:p>
            <a:pPr algn="l"/>
            <a:r>
              <a:rPr b="1" sz="1350" i="0" u="none">
                <a:solidFill>
                  <a:srgbClr val="57534E"/>
                </a:solidFill>
                <a:latin typeface="Inter"/>
              </a:rPr>
              <a:t>Nông dân:</a:t>
            </a:r>
            <a:r>
              <a:rPr b="0" sz="1350" i="0" u="none">
                <a:solidFill>
                  <a:srgbClr val="57534E"/>
                </a:solidFill>
                <a:latin typeface="Inter"/>
              </a:rPr>
              <a:t> Chiếm &gt;90% dân số.</a:t>
            </a:r>
          </a:p>
        </p:txBody>
      </p:sp>
      <p:sp>
        <p:nvSpPr>
          <p:cNvPr id="15" name="TextBox 14"/>
          <p:cNvSpPr txBox="1"/>
          <p:nvPr/>
        </p:nvSpPr>
        <p:spPr>
          <a:xfrm>
            <a:off x="4368849" y="2867025"/>
            <a:ext cx="3549699" cy="400050"/>
          </a:xfrm>
          <a:prstGeom prst="rect">
            <a:avLst/>
          </a:prstGeom>
          <a:noFill/>
        </p:spPr>
        <p:txBody>
          <a:bodyPr wrap="square" lIns="0" rIns="0" tIns="0" bIns="0" anchor="t">
            <a:spAutoFit/>
          </a:bodyPr>
          <a:lstStyle/>
          <a:p>
            <a:pPr algn="l"/>
            <a:r>
              <a:rPr b="1" sz="1350" i="0" u="none">
                <a:solidFill>
                  <a:srgbClr val="57534E"/>
                </a:solidFill>
                <a:latin typeface="Inter"/>
              </a:rPr>
              <a:t>Mâu thuẫn chính:</a:t>
            </a:r>
            <a:r>
              <a:rPr b="0" sz="1350" i="0" u="none">
                <a:solidFill>
                  <a:srgbClr val="57534E"/>
                </a:solidFill>
                <a:latin typeface="Inter"/>
              </a:rPr>
              <a:t> Toàn thể dân tộc VN &gt;&lt; Thực dân Pháp &amp; phong kiến.</a:t>
            </a:r>
          </a:p>
        </p:txBody>
      </p:sp>
      <p:sp>
        <p:nvSpPr>
          <p:cNvPr id="16" name="TextBox 15"/>
          <p:cNvSpPr txBox="1"/>
          <p:nvPr/>
        </p:nvSpPr>
        <p:spPr>
          <a:xfrm>
            <a:off x="8128099" y="1685925"/>
            <a:ext cx="4063900" cy="276225"/>
          </a:xfrm>
          <a:prstGeom prst="rect">
            <a:avLst/>
          </a:prstGeom>
          <a:noFill/>
        </p:spPr>
        <p:txBody>
          <a:bodyPr wrap="none" lIns="0" rIns="0" tIns="0" bIns="0" anchor="t">
            <a:spAutoFit/>
          </a:bodyPr>
          <a:lstStyle/>
          <a:p>
            <a:pPr algn="l"/>
            <a:r>
              <a:rPr b="1" sz="1800" i="0" u="none">
                <a:solidFill>
                  <a:srgbClr val="1C1917"/>
                </a:solidFill>
                <a:latin typeface="Inter"/>
              </a:rPr>
              <a:t>3. Thất bại phong trào</a:t>
            </a:r>
          </a:p>
        </p:txBody>
      </p:sp>
      <p:sp>
        <p:nvSpPr>
          <p:cNvPr id="17" name="TextBox 16"/>
          <p:cNvSpPr txBox="1"/>
          <p:nvPr/>
        </p:nvSpPr>
        <p:spPr>
          <a:xfrm>
            <a:off x="8128099" y="2114550"/>
            <a:ext cx="3549699" cy="400050"/>
          </a:xfrm>
          <a:prstGeom prst="rect">
            <a:avLst/>
          </a:prstGeom>
          <a:noFill/>
        </p:spPr>
        <p:txBody>
          <a:bodyPr wrap="square" lIns="0" rIns="0" tIns="0" bIns="0" anchor="t">
            <a:spAutoFit/>
          </a:bodyPr>
          <a:lstStyle/>
          <a:p>
            <a:pPr algn="l"/>
            <a:r>
              <a:rPr b="1" sz="1350" i="0" u="none">
                <a:solidFill>
                  <a:srgbClr val="57534E"/>
                </a:solidFill>
                <a:latin typeface="Inter"/>
              </a:rPr>
              <a:t>Phong kiến:</a:t>
            </a:r>
            <a:r>
              <a:rPr b="0" sz="1350" i="0" u="none">
                <a:solidFill>
                  <a:srgbClr val="57534E"/>
                </a:solidFill>
                <a:latin typeface="Inter"/>
              </a:rPr>
              <a:t> Cần Vương, Yên Thế (lỗi thời).</a:t>
            </a:r>
          </a:p>
        </p:txBody>
      </p:sp>
      <p:sp>
        <p:nvSpPr>
          <p:cNvPr id="18" name="TextBox 17"/>
          <p:cNvSpPr txBox="1"/>
          <p:nvPr/>
        </p:nvSpPr>
        <p:spPr>
          <a:xfrm>
            <a:off x="8128099" y="2590800"/>
            <a:ext cx="3549699" cy="400050"/>
          </a:xfrm>
          <a:prstGeom prst="rect">
            <a:avLst/>
          </a:prstGeom>
          <a:noFill/>
        </p:spPr>
        <p:txBody>
          <a:bodyPr wrap="square" lIns="0" rIns="0" tIns="0" bIns="0" anchor="t">
            <a:spAutoFit/>
          </a:bodyPr>
          <a:lstStyle/>
          <a:p>
            <a:pPr algn="l"/>
            <a:r>
              <a:rPr b="1" sz="1350" i="0" u="none">
                <a:solidFill>
                  <a:srgbClr val="57534E"/>
                </a:solidFill>
                <a:latin typeface="Inter"/>
              </a:rPr>
              <a:t>Dân chủ tư sản:</a:t>
            </a:r>
            <a:r>
              <a:rPr b="0" sz="1350" i="0" u="none">
                <a:solidFill>
                  <a:srgbClr val="57534E"/>
                </a:solidFill>
                <a:latin typeface="Inter"/>
              </a:rPr>
              <a:t> Đông Du, Duy Tân, Yên Bái. Đều thất bại.</a:t>
            </a:r>
          </a:p>
        </p:txBody>
      </p:sp>
      <p:sp>
        <p:nvSpPr>
          <p:cNvPr id="19" name="TextBox 18"/>
          <p:cNvSpPr txBox="1"/>
          <p:nvPr/>
        </p:nvSpPr>
        <p:spPr>
          <a:xfrm>
            <a:off x="704850" y="2114550"/>
            <a:ext cx="95250" cy="257175"/>
          </a:xfrm>
          <a:prstGeom prst="rect">
            <a:avLst/>
          </a:prstGeom>
          <a:noFill/>
        </p:spPr>
        <p:txBody>
          <a:bodyPr wrap="none" lIns="0" rIns="0" tIns="0" bIns="0" anchor="t">
            <a:spAutoFit/>
          </a:bodyPr>
          <a:lstStyle/>
          <a:p>
            <a:pPr algn="l"/>
            <a:r>
              <a:rPr b="0" sz="1350" i="0" u="none">
                <a:solidFill>
                  <a:srgbClr val="57534E"/>
                </a:solidFill>
                <a:latin typeface="Inter"/>
              </a:rPr>
              <a:t>•</a:t>
            </a:r>
          </a:p>
        </p:txBody>
      </p:sp>
      <p:sp>
        <p:nvSpPr>
          <p:cNvPr id="20" name="TextBox 19"/>
          <p:cNvSpPr txBox="1"/>
          <p:nvPr/>
        </p:nvSpPr>
        <p:spPr>
          <a:xfrm>
            <a:off x="800100" y="2114550"/>
            <a:ext cx="3359199" cy="514350"/>
          </a:xfrm>
          <a:prstGeom prst="rect">
            <a:avLst/>
          </a:prstGeom>
          <a:noFill/>
        </p:spPr>
        <p:txBody>
          <a:bodyPr wrap="square" lIns="95250" rIns="0" tIns="0" bIns="0" anchor="t">
            <a:spAutoFit/>
          </a:bodyPr>
          <a:lstStyle/>
          <a:p>
            <a:pPr algn="l">
              <a:lnSpc>
                <a:spcPts val="2025"/>
              </a:lnSpc>
            </a:pPr>
            <a:r>
              <a:rPr b="1" sz="1350" i="0" u="none">
                <a:solidFill>
                  <a:srgbClr val="57534E"/>
                </a:solidFill>
                <a:latin typeface="Inter"/>
              </a:rPr>
              <a:t>Chính trị:</a:t>
            </a:r>
            <a:r>
              <a:rPr b="0" sz="1350" i="0" u="none">
                <a:solidFill>
                  <a:srgbClr val="57534E"/>
                </a:solidFill>
                <a:latin typeface="Inter"/>
              </a:rPr>
              <a:t> Chuyên chế tàn bạo, "chia để trị".</a:t>
            </a:r>
          </a:p>
        </p:txBody>
      </p:sp>
      <p:sp>
        <p:nvSpPr>
          <p:cNvPr id="21" name="TextBox 20"/>
          <p:cNvSpPr txBox="1"/>
          <p:nvPr/>
        </p:nvSpPr>
        <p:spPr>
          <a:xfrm>
            <a:off x="704850" y="2705100"/>
            <a:ext cx="95250" cy="257175"/>
          </a:xfrm>
          <a:prstGeom prst="rect">
            <a:avLst/>
          </a:prstGeom>
          <a:noFill/>
        </p:spPr>
        <p:txBody>
          <a:bodyPr wrap="none" lIns="0" rIns="0" tIns="0" bIns="0" anchor="t">
            <a:spAutoFit/>
          </a:bodyPr>
          <a:lstStyle/>
          <a:p>
            <a:pPr algn="l"/>
            <a:r>
              <a:rPr b="0" sz="1350" i="0" u="none">
                <a:solidFill>
                  <a:srgbClr val="57534E"/>
                </a:solidFill>
                <a:latin typeface="Inter"/>
              </a:rPr>
              <a:t>•</a:t>
            </a:r>
          </a:p>
        </p:txBody>
      </p:sp>
      <p:sp>
        <p:nvSpPr>
          <p:cNvPr id="22" name="TextBox 21"/>
          <p:cNvSpPr txBox="1"/>
          <p:nvPr/>
        </p:nvSpPr>
        <p:spPr>
          <a:xfrm>
            <a:off x="800100" y="2705100"/>
            <a:ext cx="3359199" cy="514350"/>
          </a:xfrm>
          <a:prstGeom prst="rect">
            <a:avLst/>
          </a:prstGeom>
          <a:noFill/>
        </p:spPr>
        <p:txBody>
          <a:bodyPr wrap="square" lIns="95250" rIns="0" tIns="0" bIns="0" anchor="t">
            <a:spAutoFit/>
          </a:bodyPr>
          <a:lstStyle/>
          <a:p>
            <a:pPr algn="l">
              <a:lnSpc>
                <a:spcPts val="2025"/>
              </a:lnSpc>
            </a:pPr>
            <a:r>
              <a:rPr b="1" sz="1350" i="0" u="none">
                <a:solidFill>
                  <a:srgbClr val="57534E"/>
                </a:solidFill>
                <a:latin typeface="Inter"/>
              </a:rPr>
              <a:t>Kinh tế:</a:t>
            </a:r>
            <a:r>
              <a:rPr b="0" sz="1350" i="0" u="none">
                <a:solidFill>
                  <a:srgbClr val="57534E"/>
                </a:solidFill>
                <a:latin typeface="Inter"/>
              </a:rPr>
              <a:t> Khai thác thuộc địa vơ vét tài nguyên.</a:t>
            </a:r>
          </a:p>
        </p:txBody>
      </p:sp>
      <p:sp>
        <p:nvSpPr>
          <p:cNvPr id="23" name="TextBox 22"/>
          <p:cNvSpPr txBox="1"/>
          <p:nvPr/>
        </p:nvSpPr>
        <p:spPr>
          <a:xfrm>
            <a:off x="704850" y="3295650"/>
            <a:ext cx="95250" cy="257175"/>
          </a:xfrm>
          <a:prstGeom prst="rect">
            <a:avLst/>
          </a:prstGeom>
          <a:noFill/>
        </p:spPr>
        <p:txBody>
          <a:bodyPr wrap="none" lIns="0" rIns="0" tIns="0" bIns="0" anchor="t">
            <a:spAutoFit/>
          </a:bodyPr>
          <a:lstStyle/>
          <a:p>
            <a:pPr algn="l"/>
            <a:r>
              <a:rPr b="0" sz="1350" i="0" u="none">
                <a:solidFill>
                  <a:srgbClr val="57534E"/>
                </a:solidFill>
                <a:latin typeface="Inter"/>
              </a:rPr>
              <a:t>•</a:t>
            </a:r>
          </a:p>
        </p:txBody>
      </p:sp>
      <p:sp>
        <p:nvSpPr>
          <p:cNvPr id="24" name="TextBox 23"/>
          <p:cNvSpPr txBox="1"/>
          <p:nvPr/>
        </p:nvSpPr>
        <p:spPr>
          <a:xfrm>
            <a:off x="800100" y="3295650"/>
            <a:ext cx="3359199" cy="514350"/>
          </a:xfrm>
          <a:prstGeom prst="rect">
            <a:avLst/>
          </a:prstGeom>
          <a:noFill/>
        </p:spPr>
        <p:txBody>
          <a:bodyPr wrap="square" lIns="95250" rIns="0" tIns="0" bIns="0" anchor="t">
            <a:spAutoFit/>
          </a:bodyPr>
          <a:lstStyle/>
          <a:p>
            <a:pPr algn="l">
              <a:lnSpc>
                <a:spcPts val="2025"/>
              </a:lnSpc>
            </a:pPr>
            <a:r>
              <a:rPr b="1" sz="1350" i="0" u="none">
                <a:solidFill>
                  <a:srgbClr val="57534E"/>
                </a:solidFill>
                <a:latin typeface="Inter"/>
              </a:rPr>
              <a:t>Văn hóa:</a:t>
            </a:r>
            <a:r>
              <a:rPr b="0" sz="1350" i="0" u="none">
                <a:solidFill>
                  <a:srgbClr val="57534E"/>
                </a:solidFill>
                <a:latin typeface="Inter"/>
              </a:rPr>
              <a:t> Chính sách "ngu dân", lập nhà tù nhiều hơn trường học.</a:t>
            </a:r>
          </a:p>
        </p:txBody>
      </p:sp>
      <p:sp>
        <p:nvSpPr>
          <p:cNvPr id="25" name="TextBox 24"/>
          <p:cNvSpPr txBox="1"/>
          <p:nvPr/>
        </p:nvSpPr>
        <p:spPr>
          <a:xfrm>
            <a:off x="8280499" y="3257550"/>
            <a:ext cx="3911500" cy="190500"/>
          </a:xfrm>
          <a:prstGeom prst="rect">
            <a:avLst/>
          </a:prstGeom>
          <a:noFill/>
        </p:spPr>
        <p:txBody>
          <a:bodyPr wrap="none" lIns="0" rIns="0" tIns="0" bIns="0" anchor="t">
            <a:spAutoFit/>
          </a:bodyPr>
          <a:lstStyle/>
          <a:p>
            <a:pPr algn="l"/>
            <a:r>
              <a:rPr b="1" sz="1200" i="0" u="none">
                <a:solidFill>
                  <a:srgbClr val="1C1917"/>
                </a:solidFill>
                <a:latin typeface="Inter"/>
              </a:rPr>
              <a:t>Kết luận: Khủng hoảng bế tắc đường lối.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7010400" y="1419225"/>
            <a:ext cx="2209800" cy="1905000"/>
          </a:xfrm>
          <a:prstGeom prst="rect">
            <a:avLst/>
          </a:prstGeom>
        </p:spPr>
      </p:pic>
      <p:pic>
        <p:nvPicPr>
          <p:cNvPr id="3" name="Picture 2" descr="image.png"/>
          <p:cNvPicPr>
            <a:picLocks noChangeAspect="1"/>
          </p:cNvPicPr>
          <p:nvPr/>
        </p:nvPicPr>
        <p:blipFill>
          <a:blip r:embed="rId3"/>
          <a:stretch>
            <a:fillRect/>
          </a:stretch>
        </p:blipFill>
        <p:spPr>
          <a:xfrm>
            <a:off x="7010400" y="3476625"/>
            <a:ext cx="2209800" cy="1905000"/>
          </a:xfrm>
          <a:prstGeom prst="rect">
            <a:avLst/>
          </a:prstGeom>
        </p:spPr>
      </p:pic>
      <p:pic>
        <p:nvPicPr>
          <p:cNvPr id="4" name="Picture 3" descr="image.png"/>
          <p:cNvPicPr>
            <a:picLocks noChangeAspect="1"/>
          </p:cNvPicPr>
          <p:nvPr/>
        </p:nvPicPr>
        <p:blipFill>
          <a:blip r:embed="rId4"/>
          <a:stretch>
            <a:fillRect/>
          </a:stretch>
        </p:blipFill>
        <p:spPr>
          <a:xfrm>
            <a:off x="9372600" y="1419225"/>
            <a:ext cx="2209800" cy="4829175"/>
          </a:xfrm>
          <a:prstGeom prst="rect">
            <a:avLst/>
          </a:prstGeom>
        </p:spPr>
      </p:pic>
      <p:sp>
        <p:nvSpPr>
          <p:cNvPr id="5" name="TextBox 4"/>
          <p:cNvSpPr txBox="1"/>
          <p:nvPr/>
        </p:nvSpPr>
        <p:spPr>
          <a:xfrm>
            <a:off x="609600" y="609600"/>
            <a:ext cx="11582400" cy="428625"/>
          </a:xfrm>
          <a:prstGeom prst="rect">
            <a:avLst/>
          </a:prstGeom>
          <a:noFill/>
        </p:spPr>
        <p:txBody>
          <a:bodyPr wrap="none" lIns="0" rIns="0" tIns="0" bIns="0" anchor="t">
            <a:spAutoFit/>
          </a:bodyPr>
          <a:lstStyle/>
          <a:p>
            <a:pPr algn="l"/>
            <a:r>
              <a:rPr b="1" sz="2700" i="0" u="none">
                <a:solidFill>
                  <a:srgbClr val="1C1917"/>
                </a:solidFill>
                <a:latin typeface="Merriweather"/>
              </a:rPr>
              <a:t>Quá trình chuẩn bị của Nguyễn Ái Quốc</a:t>
            </a:r>
          </a:p>
        </p:txBody>
      </p:sp>
      <p:sp>
        <p:nvSpPr>
          <p:cNvPr id="6" name="TextBox 5"/>
          <p:cNvSpPr txBox="1"/>
          <p:nvPr/>
        </p:nvSpPr>
        <p:spPr>
          <a:xfrm>
            <a:off x="609600" y="2262187"/>
            <a:ext cx="8001000" cy="276225"/>
          </a:xfrm>
          <a:prstGeom prst="rect">
            <a:avLst/>
          </a:prstGeom>
          <a:noFill/>
        </p:spPr>
        <p:txBody>
          <a:bodyPr wrap="none" lIns="0" rIns="0" tIns="0" bIns="0" anchor="t">
            <a:spAutoFit/>
          </a:bodyPr>
          <a:lstStyle/>
          <a:p>
            <a:pPr algn="l"/>
            <a:r>
              <a:rPr b="1" sz="1800" i="0" u="none">
                <a:solidFill>
                  <a:srgbClr val="B91C1C"/>
                </a:solidFill>
                <a:latin typeface="Inter"/>
              </a:rPr>
              <a:t>1911–1920: Tìm đường cứu nước</a:t>
            </a:r>
          </a:p>
        </p:txBody>
      </p:sp>
      <p:sp>
        <p:nvSpPr>
          <p:cNvPr id="7" name="TextBox 6"/>
          <p:cNvSpPr txBox="1"/>
          <p:nvPr/>
        </p:nvSpPr>
        <p:spPr>
          <a:xfrm>
            <a:off x="609600" y="2614612"/>
            <a:ext cx="6191250" cy="400050"/>
          </a:xfrm>
          <a:prstGeom prst="rect">
            <a:avLst/>
          </a:prstGeom>
          <a:noFill/>
        </p:spPr>
        <p:txBody>
          <a:bodyPr wrap="square" lIns="0" rIns="0" tIns="0" bIns="0" anchor="t">
            <a:spAutoFit/>
          </a:bodyPr>
          <a:lstStyle/>
          <a:p>
            <a:pPr algn="l"/>
            <a:r>
              <a:rPr b="0" sz="1350" i="0" u="none">
                <a:solidFill>
                  <a:srgbClr val="57534E"/>
                </a:solidFill>
                <a:latin typeface="Inter"/>
              </a:rPr>
              <a:t>Đọc Luận cương Lênin (1920). Tham gia sáng lập ĐCS Pháp tại Tours (12-1920).</a:t>
            </a:r>
          </a:p>
        </p:txBody>
      </p:sp>
      <p:sp>
        <p:nvSpPr>
          <p:cNvPr id="8" name="TextBox 7"/>
          <p:cNvSpPr txBox="1"/>
          <p:nvPr/>
        </p:nvSpPr>
        <p:spPr>
          <a:xfrm>
            <a:off x="609600" y="3243262"/>
            <a:ext cx="8001000" cy="276225"/>
          </a:xfrm>
          <a:prstGeom prst="rect">
            <a:avLst/>
          </a:prstGeom>
          <a:noFill/>
        </p:spPr>
        <p:txBody>
          <a:bodyPr wrap="none" lIns="0" rIns="0" tIns="0" bIns="0" anchor="t">
            <a:spAutoFit/>
          </a:bodyPr>
          <a:lstStyle/>
          <a:p>
            <a:pPr algn="l"/>
            <a:r>
              <a:rPr b="1" sz="1800" i="0" u="none">
                <a:solidFill>
                  <a:srgbClr val="B91C1C"/>
                </a:solidFill>
                <a:latin typeface="Inter"/>
              </a:rPr>
              <a:t>1921–1929: Ba mặt chuẩn bị</a:t>
            </a:r>
          </a:p>
        </p:txBody>
      </p:sp>
      <p:sp>
        <p:nvSpPr>
          <p:cNvPr id="9" name="TextBox 8"/>
          <p:cNvSpPr txBox="1"/>
          <p:nvPr/>
        </p:nvSpPr>
        <p:spPr>
          <a:xfrm>
            <a:off x="609600" y="4852987"/>
            <a:ext cx="8001000" cy="276225"/>
          </a:xfrm>
          <a:prstGeom prst="rect">
            <a:avLst/>
          </a:prstGeom>
          <a:noFill/>
        </p:spPr>
        <p:txBody>
          <a:bodyPr wrap="none" lIns="0" rIns="0" tIns="0" bIns="0" anchor="t">
            <a:spAutoFit/>
          </a:bodyPr>
          <a:lstStyle/>
          <a:p>
            <a:pPr algn="l"/>
            <a:r>
              <a:rPr b="1" sz="1800" i="0" u="none">
                <a:solidFill>
                  <a:srgbClr val="B91C1C"/>
                </a:solidFill>
                <a:latin typeface="Inter"/>
              </a:rPr>
              <a:t>Đầu 1930: Thành lập Đảng</a:t>
            </a:r>
          </a:p>
        </p:txBody>
      </p:sp>
      <p:sp>
        <p:nvSpPr>
          <p:cNvPr id="10" name="TextBox 9"/>
          <p:cNvSpPr txBox="1"/>
          <p:nvPr/>
        </p:nvSpPr>
        <p:spPr>
          <a:xfrm>
            <a:off x="609600" y="5205412"/>
            <a:ext cx="7620000" cy="200025"/>
          </a:xfrm>
          <a:prstGeom prst="rect">
            <a:avLst/>
          </a:prstGeom>
          <a:noFill/>
        </p:spPr>
        <p:txBody>
          <a:bodyPr wrap="none" lIns="0" rIns="0" tIns="0" bIns="0" anchor="t">
            <a:spAutoFit/>
          </a:bodyPr>
          <a:lstStyle/>
          <a:p>
            <a:pPr algn="l"/>
            <a:r>
              <a:rPr b="0" sz="1350" i="0" u="none">
                <a:solidFill>
                  <a:srgbClr val="57534E"/>
                </a:solidFill>
                <a:latin typeface="Inter"/>
              </a:rPr>
              <a:t>Hợp nhất 3 tổ chức, thông qua Cương lĩnh chính trị đầu tiên.</a:t>
            </a:r>
          </a:p>
        </p:txBody>
      </p:sp>
      <p:sp>
        <p:nvSpPr>
          <p:cNvPr id="11" name="TextBox 10"/>
          <p:cNvSpPr txBox="1"/>
          <p:nvPr/>
        </p:nvSpPr>
        <p:spPr>
          <a:xfrm>
            <a:off x="704850" y="3595687"/>
            <a:ext cx="95250" cy="257175"/>
          </a:xfrm>
          <a:prstGeom prst="rect">
            <a:avLst/>
          </a:prstGeom>
          <a:noFill/>
        </p:spPr>
        <p:txBody>
          <a:bodyPr wrap="none" lIns="0" rIns="0" tIns="0" bIns="0" anchor="t">
            <a:spAutoFit/>
          </a:bodyPr>
          <a:lstStyle/>
          <a:p>
            <a:pPr algn="l"/>
            <a:r>
              <a:rPr b="0" sz="1350" i="0" u="none">
                <a:solidFill>
                  <a:srgbClr val="57534E"/>
                </a:solidFill>
                <a:latin typeface="Inter"/>
              </a:rPr>
              <a:t>•</a:t>
            </a:r>
          </a:p>
        </p:txBody>
      </p:sp>
      <p:sp>
        <p:nvSpPr>
          <p:cNvPr id="12" name="TextBox 11"/>
          <p:cNvSpPr txBox="1"/>
          <p:nvPr/>
        </p:nvSpPr>
        <p:spPr>
          <a:xfrm>
            <a:off x="800100" y="3595687"/>
            <a:ext cx="7381875" cy="257175"/>
          </a:xfrm>
          <a:prstGeom prst="rect">
            <a:avLst/>
          </a:prstGeom>
          <a:noFill/>
        </p:spPr>
        <p:txBody>
          <a:bodyPr wrap="none" lIns="95250" rIns="0" tIns="0" bIns="0" anchor="t">
            <a:spAutoFit/>
          </a:bodyPr>
          <a:lstStyle/>
          <a:p>
            <a:pPr algn="l">
              <a:lnSpc>
                <a:spcPts val="2025"/>
              </a:lnSpc>
            </a:pPr>
            <a:r>
              <a:rPr b="1" sz="1350" i="0" u="none">
                <a:solidFill>
                  <a:srgbClr val="57534E"/>
                </a:solidFill>
                <a:latin typeface="Inter"/>
              </a:rPr>
              <a:t>Tư tưởng:</a:t>
            </a:r>
            <a:r>
              <a:rPr b="0" sz="1350" i="0" u="none">
                <a:solidFill>
                  <a:srgbClr val="57534E"/>
                </a:solidFill>
                <a:latin typeface="Inter"/>
              </a:rPr>
              <a:t> Báo Le Paria, lên án thực dân.</a:t>
            </a:r>
          </a:p>
        </p:txBody>
      </p:sp>
      <p:sp>
        <p:nvSpPr>
          <p:cNvPr id="13" name="TextBox 12"/>
          <p:cNvSpPr txBox="1"/>
          <p:nvPr/>
        </p:nvSpPr>
        <p:spPr>
          <a:xfrm>
            <a:off x="704850" y="3852862"/>
            <a:ext cx="95250" cy="257175"/>
          </a:xfrm>
          <a:prstGeom prst="rect">
            <a:avLst/>
          </a:prstGeom>
          <a:noFill/>
        </p:spPr>
        <p:txBody>
          <a:bodyPr wrap="none" lIns="0" rIns="0" tIns="0" bIns="0" anchor="t">
            <a:spAutoFit/>
          </a:bodyPr>
          <a:lstStyle/>
          <a:p>
            <a:pPr algn="l"/>
            <a:r>
              <a:rPr b="0" sz="1350" i="0" u="none">
                <a:solidFill>
                  <a:srgbClr val="57534E"/>
                </a:solidFill>
                <a:latin typeface="Inter"/>
              </a:rPr>
              <a:t>•</a:t>
            </a:r>
          </a:p>
        </p:txBody>
      </p:sp>
      <p:sp>
        <p:nvSpPr>
          <p:cNvPr id="14" name="TextBox 13"/>
          <p:cNvSpPr txBox="1"/>
          <p:nvPr/>
        </p:nvSpPr>
        <p:spPr>
          <a:xfrm>
            <a:off x="800100" y="3852862"/>
            <a:ext cx="7381875" cy="257175"/>
          </a:xfrm>
          <a:prstGeom prst="rect">
            <a:avLst/>
          </a:prstGeom>
          <a:noFill/>
        </p:spPr>
        <p:txBody>
          <a:bodyPr wrap="none" lIns="95250" rIns="0" tIns="0" bIns="0" anchor="t">
            <a:spAutoFit/>
          </a:bodyPr>
          <a:lstStyle/>
          <a:p>
            <a:pPr algn="l">
              <a:lnSpc>
                <a:spcPts val="2025"/>
              </a:lnSpc>
            </a:pPr>
            <a:r>
              <a:rPr b="1" sz="1350" i="0" u="none">
                <a:solidFill>
                  <a:srgbClr val="57534E"/>
                </a:solidFill>
                <a:latin typeface="Inter"/>
              </a:rPr>
              <a:t>Chính trị:</a:t>
            </a:r>
            <a:r>
              <a:rPr b="0" sz="1350" i="0" u="none">
                <a:solidFill>
                  <a:srgbClr val="57534E"/>
                </a:solidFill>
                <a:latin typeface="Inter"/>
              </a:rPr>
              <a:t> Xuất bản "Đường Kách mệnh" (1927).</a:t>
            </a:r>
          </a:p>
        </p:txBody>
      </p:sp>
      <p:sp>
        <p:nvSpPr>
          <p:cNvPr id="15" name="TextBox 14"/>
          <p:cNvSpPr txBox="1"/>
          <p:nvPr/>
        </p:nvSpPr>
        <p:spPr>
          <a:xfrm>
            <a:off x="704850" y="4110037"/>
            <a:ext cx="95250" cy="257175"/>
          </a:xfrm>
          <a:prstGeom prst="rect">
            <a:avLst/>
          </a:prstGeom>
          <a:noFill/>
        </p:spPr>
        <p:txBody>
          <a:bodyPr wrap="none" lIns="0" rIns="0" tIns="0" bIns="0" anchor="t">
            <a:spAutoFit/>
          </a:bodyPr>
          <a:lstStyle/>
          <a:p>
            <a:pPr algn="l"/>
            <a:r>
              <a:rPr b="0" sz="1350" i="0" u="none">
                <a:solidFill>
                  <a:srgbClr val="57534E"/>
                </a:solidFill>
                <a:latin typeface="Inter"/>
              </a:rPr>
              <a:t>•</a:t>
            </a:r>
          </a:p>
        </p:txBody>
      </p:sp>
      <p:sp>
        <p:nvSpPr>
          <p:cNvPr id="16" name="TextBox 15"/>
          <p:cNvSpPr txBox="1"/>
          <p:nvPr/>
        </p:nvSpPr>
        <p:spPr>
          <a:xfrm>
            <a:off x="800100" y="4110037"/>
            <a:ext cx="6000750" cy="514350"/>
          </a:xfrm>
          <a:prstGeom prst="rect">
            <a:avLst/>
          </a:prstGeom>
          <a:noFill/>
        </p:spPr>
        <p:txBody>
          <a:bodyPr wrap="square" lIns="95250" rIns="0" tIns="0" bIns="0" anchor="t">
            <a:spAutoFit/>
          </a:bodyPr>
          <a:lstStyle/>
          <a:p>
            <a:pPr algn="l">
              <a:lnSpc>
                <a:spcPts val="2025"/>
              </a:lnSpc>
            </a:pPr>
            <a:r>
              <a:rPr b="1" sz="1350" i="0" u="none">
                <a:solidFill>
                  <a:srgbClr val="57534E"/>
                </a:solidFill>
                <a:latin typeface="Inter"/>
              </a:rPr>
              <a:t>Tổ chức:</a:t>
            </a:r>
            <a:r>
              <a:rPr b="0" sz="1350" i="0" u="none">
                <a:solidFill>
                  <a:srgbClr val="57534E"/>
                </a:solidFill>
                <a:latin typeface="Inter"/>
              </a:rPr>
              <a:t> Lập Hội VNCM Thanh niên (1925), phong trào Vô sản hóa (1928).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4462462"/>
            <a:ext cx="10972800" cy="933450"/>
          </a:xfrm>
          <a:prstGeom prst="roundRect">
            <a:avLst>
              <a:gd name="adj" fmla="val 8163"/>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939230" y="1462087"/>
            <a:ext cx="8313539" cy="428625"/>
          </a:xfrm>
          <a:prstGeom prst="rect">
            <a:avLst/>
          </a:prstGeom>
          <a:noFill/>
        </p:spPr>
        <p:txBody>
          <a:bodyPr wrap="none" lIns="0" rIns="0" tIns="0" bIns="0" anchor="t">
            <a:spAutoFit/>
          </a:bodyPr>
          <a:lstStyle/>
          <a:p>
            <a:pPr algn="ctr"/>
            <a:r>
              <a:rPr b="1" sz="2700" i="0" u="none">
                <a:solidFill>
                  <a:srgbClr val="1C1917"/>
                </a:solidFill>
                <a:latin typeface="Merriweather"/>
              </a:rPr>
              <a:t>10 Năm Hội Tụ Ba Yếu Tố (1920–1930)</a:t>
            </a:r>
          </a:p>
        </p:txBody>
      </p:sp>
      <p:sp>
        <p:nvSpPr>
          <p:cNvPr id="4" name="TextBox 3"/>
          <p:cNvSpPr txBox="1"/>
          <p:nvPr/>
        </p:nvSpPr>
        <p:spPr>
          <a:xfrm>
            <a:off x="1333500" y="2043112"/>
            <a:ext cx="9525000" cy="457200"/>
          </a:xfrm>
          <a:prstGeom prst="rect">
            <a:avLst/>
          </a:prstGeom>
          <a:noFill/>
        </p:spPr>
        <p:txBody>
          <a:bodyPr wrap="square" lIns="0" rIns="0" tIns="0" bIns="0" anchor="t">
            <a:spAutoFit/>
          </a:bodyPr>
          <a:lstStyle/>
          <a:p>
            <a:pPr algn="ctr"/>
            <a:r>
              <a:rPr b="0" sz="1500" i="0" u="none">
                <a:solidFill>
                  <a:srgbClr val="57534E"/>
                </a:solidFill>
                <a:latin typeface="Inter"/>
              </a:rPr>
              <a:t>Sự phát triển cao và thống nhất của phong trào công nhân và phong trào yêu nước, soi sáng bởi chủ nghĩa Mác-Lênin.</a:t>
            </a:r>
          </a:p>
        </p:txBody>
      </p:sp>
      <p:sp>
        <p:nvSpPr>
          <p:cNvPr id="5" name="TextBox 4"/>
          <p:cNvSpPr txBox="1"/>
          <p:nvPr/>
        </p:nvSpPr>
        <p:spPr>
          <a:xfrm>
            <a:off x="-238125" y="4691062"/>
            <a:ext cx="12668250" cy="476250"/>
          </a:xfrm>
          <a:prstGeom prst="rect">
            <a:avLst/>
          </a:prstGeom>
          <a:noFill/>
        </p:spPr>
        <p:txBody>
          <a:bodyPr wrap="square" lIns="0" rIns="0" tIns="0" bIns="0" anchor="t">
            <a:spAutoFit/>
          </a:bodyPr>
          <a:lstStyle/>
          <a:p>
            <a:pPr algn="ctr"/>
            <a:r>
              <a:rPr b="0" sz="1500" i="1" u="none">
                <a:solidFill>
                  <a:srgbClr val="B91C1C"/>
                </a:solidFill>
                <a:latin typeface="Merriweather"/>
              </a:rPr>
              <a:t>“Chủ nghĩa Mác-Lênin kết hợp với phong trào công nhân và phong trào yêu nước đã dẫn tới việc thành lập Đảng” (Hồ Chí Minh)</a:t>
            </a:r>
          </a:p>
        </p:txBody>
      </p:sp>
      <p:sp>
        <p:nvSpPr>
          <p:cNvPr id="6" name="Rectangle 5"/>
          <p:cNvSpPr/>
          <p:nvPr/>
        </p:nvSpPr>
        <p:spPr>
          <a:xfrm>
            <a:off x="1158180" y="3186112"/>
            <a:ext cx="9875639" cy="38100"/>
          </a:xfrm>
          <a:prstGeom prst="rect">
            <a:avLst/>
          </a:prstGeom>
          <a:solidFill>
            <a:srgbClr val="E7E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143000" y="2957512"/>
            <a:ext cx="457200" cy="457200"/>
          </a:xfrm>
          <a:prstGeom prst="roundRect">
            <a:avLst>
              <a:gd name="adj" fmla="val 50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505200" y="2957512"/>
            <a:ext cx="457200" cy="457200"/>
          </a:xfrm>
          <a:prstGeom prst="roundRect">
            <a:avLst>
              <a:gd name="adj" fmla="val 50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867400" y="2957512"/>
            <a:ext cx="457200" cy="457200"/>
          </a:xfrm>
          <a:prstGeom prst="roundRect">
            <a:avLst>
              <a:gd name="adj" fmla="val 50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29600" y="2957512"/>
            <a:ext cx="457200" cy="457200"/>
          </a:xfrm>
          <a:prstGeom prst="roundRect">
            <a:avLst>
              <a:gd name="adj" fmla="val 50000"/>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591800" y="2957512"/>
            <a:ext cx="457200" cy="457200"/>
          </a:xfrm>
          <a:prstGeom prst="roundRect">
            <a:avLst>
              <a:gd name="adj" fmla="val 50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0125" y="2957512"/>
            <a:ext cx="742950" cy="457200"/>
          </a:xfrm>
          <a:prstGeom prst="rect">
            <a:avLst/>
          </a:prstGeom>
          <a:noFill/>
        </p:spPr>
        <p:txBody>
          <a:bodyPr wrap="square" lIns="0" rIns="0" tIns="0" bIns="0" anchor="ctr">
            <a:spAutoFit/>
          </a:bodyPr>
          <a:lstStyle/>
          <a:p>
            <a:pPr algn="ctr"/>
            <a:r>
              <a:rPr b="1" sz="1200" i="0" u="none">
                <a:solidFill>
                  <a:srgbClr val="FFFFFF"/>
                </a:solidFill>
                <a:latin typeface="Inter"/>
              </a:rPr>
              <a:t>20</a:t>
            </a:r>
          </a:p>
        </p:txBody>
      </p:sp>
      <p:sp>
        <p:nvSpPr>
          <p:cNvPr id="13" name="TextBox 12"/>
          <p:cNvSpPr txBox="1"/>
          <p:nvPr/>
        </p:nvSpPr>
        <p:spPr>
          <a:xfrm>
            <a:off x="371475" y="3567112"/>
            <a:ext cx="2000250" cy="200025"/>
          </a:xfrm>
          <a:prstGeom prst="rect">
            <a:avLst/>
          </a:prstGeom>
          <a:noFill/>
        </p:spPr>
        <p:txBody>
          <a:bodyPr wrap="none" lIns="0" rIns="0" tIns="0" bIns="0" anchor="t">
            <a:spAutoFit/>
          </a:bodyPr>
          <a:lstStyle/>
          <a:p>
            <a:pPr algn="ctr"/>
            <a:r>
              <a:rPr b="1" sz="1350" i="0" u="none">
                <a:solidFill>
                  <a:srgbClr val="1C1917"/>
                </a:solidFill>
                <a:latin typeface="Inter"/>
              </a:rPr>
              <a:t>Tư tưởng</a:t>
            </a:r>
          </a:p>
        </p:txBody>
      </p:sp>
      <p:sp>
        <p:nvSpPr>
          <p:cNvPr id="14" name="TextBox 13"/>
          <p:cNvSpPr txBox="1"/>
          <p:nvPr/>
        </p:nvSpPr>
        <p:spPr>
          <a:xfrm>
            <a:off x="419100" y="3843337"/>
            <a:ext cx="1905000" cy="161925"/>
          </a:xfrm>
          <a:prstGeom prst="rect">
            <a:avLst/>
          </a:prstGeom>
          <a:noFill/>
        </p:spPr>
        <p:txBody>
          <a:bodyPr wrap="none" lIns="0" rIns="0" tIns="0" bIns="0" anchor="t">
            <a:spAutoFit/>
          </a:bodyPr>
          <a:lstStyle/>
          <a:p>
            <a:pPr algn="ctr"/>
            <a:r>
              <a:rPr b="0" sz="1050" i="0" u="none">
                <a:solidFill>
                  <a:srgbClr val="57534E"/>
                </a:solidFill>
                <a:latin typeface="Inter"/>
              </a:rPr>
              <a:t>Chọn đường vô sản.</a:t>
            </a:r>
          </a:p>
        </p:txBody>
      </p:sp>
      <p:sp>
        <p:nvSpPr>
          <p:cNvPr id="15" name="TextBox 14"/>
          <p:cNvSpPr txBox="1"/>
          <p:nvPr/>
        </p:nvSpPr>
        <p:spPr>
          <a:xfrm>
            <a:off x="3362325" y="2957512"/>
            <a:ext cx="742950" cy="457200"/>
          </a:xfrm>
          <a:prstGeom prst="rect">
            <a:avLst/>
          </a:prstGeom>
          <a:noFill/>
        </p:spPr>
        <p:txBody>
          <a:bodyPr wrap="square" lIns="0" rIns="0" tIns="0" bIns="0" anchor="ctr">
            <a:spAutoFit/>
          </a:bodyPr>
          <a:lstStyle/>
          <a:p>
            <a:pPr algn="ctr"/>
            <a:r>
              <a:rPr b="1" sz="1200" i="0" u="none">
                <a:solidFill>
                  <a:srgbClr val="FFFFFF"/>
                </a:solidFill>
                <a:latin typeface="Inter"/>
              </a:rPr>
              <a:t>21-24</a:t>
            </a:r>
          </a:p>
        </p:txBody>
      </p:sp>
      <p:sp>
        <p:nvSpPr>
          <p:cNvPr id="16" name="TextBox 15"/>
          <p:cNvSpPr txBox="1"/>
          <p:nvPr/>
        </p:nvSpPr>
        <p:spPr>
          <a:xfrm>
            <a:off x="2733675" y="3567112"/>
            <a:ext cx="2000250" cy="200025"/>
          </a:xfrm>
          <a:prstGeom prst="rect">
            <a:avLst/>
          </a:prstGeom>
          <a:noFill/>
        </p:spPr>
        <p:txBody>
          <a:bodyPr wrap="none" lIns="0" rIns="0" tIns="0" bIns="0" anchor="t">
            <a:spAutoFit/>
          </a:bodyPr>
          <a:lstStyle/>
          <a:p>
            <a:pPr algn="ctr"/>
            <a:r>
              <a:rPr b="1" sz="1350" i="0" u="none">
                <a:solidFill>
                  <a:srgbClr val="1C1917"/>
                </a:solidFill>
                <a:latin typeface="Inter"/>
              </a:rPr>
              <a:t>Truyền bá</a:t>
            </a:r>
          </a:p>
        </p:txBody>
      </p:sp>
      <p:sp>
        <p:nvSpPr>
          <p:cNvPr id="17" name="TextBox 16"/>
          <p:cNvSpPr txBox="1"/>
          <p:nvPr/>
        </p:nvSpPr>
        <p:spPr>
          <a:xfrm>
            <a:off x="2781300" y="3843337"/>
            <a:ext cx="1905000" cy="161925"/>
          </a:xfrm>
          <a:prstGeom prst="rect">
            <a:avLst/>
          </a:prstGeom>
          <a:noFill/>
        </p:spPr>
        <p:txBody>
          <a:bodyPr wrap="none" lIns="0" rIns="0" tIns="0" bIns="0" anchor="t">
            <a:spAutoFit/>
          </a:bodyPr>
          <a:lstStyle/>
          <a:p>
            <a:pPr algn="ctr"/>
            <a:r>
              <a:rPr b="0" sz="1050" i="0" u="none">
                <a:solidFill>
                  <a:srgbClr val="57534E"/>
                </a:solidFill>
                <a:latin typeface="Inter"/>
              </a:rPr>
              <a:t>Báo chí, hội đoàn.</a:t>
            </a:r>
          </a:p>
        </p:txBody>
      </p:sp>
      <p:sp>
        <p:nvSpPr>
          <p:cNvPr id="18" name="TextBox 17"/>
          <p:cNvSpPr txBox="1"/>
          <p:nvPr/>
        </p:nvSpPr>
        <p:spPr>
          <a:xfrm>
            <a:off x="5724525" y="2957512"/>
            <a:ext cx="742950" cy="457200"/>
          </a:xfrm>
          <a:prstGeom prst="rect">
            <a:avLst/>
          </a:prstGeom>
          <a:noFill/>
        </p:spPr>
        <p:txBody>
          <a:bodyPr wrap="square" lIns="0" rIns="0" tIns="0" bIns="0" anchor="ctr">
            <a:spAutoFit/>
          </a:bodyPr>
          <a:lstStyle/>
          <a:p>
            <a:pPr algn="ctr"/>
            <a:r>
              <a:rPr b="1" sz="1200" i="0" u="none">
                <a:solidFill>
                  <a:srgbClr val="FFFFFF"/>
                </a:solidFill>
                <a:latin typeface="Inter"/>
              </a:rPr>
              <a:t>25-27</a:t>
            </a:r>
          </a:p>
        </p:txBody>
      </p:sp>
      <p:sp>
        <p:nvSpPr>
          <p:cNvPr id="19" name="TextBox 18"/>
          <p:cNvSpPr txBox="1"/>
          <p:nvPr/>
        </p:nvSpPr>
        <p:spPr>
          <a:xfrm>
            <a:off x="5095875" y="3567112"/>
            <a:ext cx="2000250" cy="200025"/>
          </a:xfrm>
          <a:prstGeom prst="rect">
            <a:avLst/>
          </a:prstGeom>
          <a:noFill/>
        </p:spPr>
        <p:txBody>
          <a:bodyPr wrap="none" lIns="0" rIns="0" tIns="0" bIns="0" anchor="t">
            <a:spAutoFit/>
          </a:bodyPr>
          <a:lstStyle/>
          <a:p>
            <a:pPr algn="ctr"/>
            <a:r>
              <a:rPr b="1" sz="1350" i="0" u="none">
                <a:solidFill>
                  <a:srgbClr val="1C1917"/>
                </a:solidFill>
                <a:latin typeface="Inter"/>
              </a:rPr>
              <a:t>Tổ chức</a:t>
            </a:r>
          </a:p>
        </p:txBody>
      </p:sp>
      <p:sp>
        <p:nvSpPr>
          <p:cNvPr id="20" name="TextBox 19"/>
          <p:cNvSpPr txBox="1"/>
          <p:nvPr/>
        </p:nvSpPr>
        <p:spPr>
          <a:xfrm>
            <a:off x="5143500" y="3843337"/>
            <a:ext cx="1905000" cy="161925"/>
          </a:xfrm>
          <a:prstGeom prst="rect">
            <a:avLst/>
          </a:prstGeom>
          <a:noFill/>
        </p:spPr>
        <p:txBody>
          <a:bodyPr wrap="none" lIns="0" rIns="0" tIns="0" bIns="0" anchor="t">
            <a:spAutoFit/>
          </a:bodyPr>
          <a:lstStyle/>
          <a:p>
            <a:pPr algn="ctr"/>
            <a:r>
              <a:rPr b="0" sz="1050" i="0" u="none">
                <a:solidFill>
                  <a:srgbClr val="57534E"/>
                </a:solidFill>
                <a:latin typeface="Inter"/>
              </a:rPr>
              <a:t>Hội VNCMTN.</a:t>
            </a:r>
          </a:p>
        </p:txBody>
      </p:sp>
      <p:sp>
        <p:nvSpPr>
          <p:cNvPr id="21" name="TextBox 20"/>
          <p:cNvSpPr txBox="1"/>
          <p:nvPr/>
        </p:nvSpPr>
        <p:spPr>
          <a:xfrm>
            <a:off x="8086725" y="2957512"/>
            <a:ext cx="742950" cy="457200"/>
          </a:xfrm>
          <a:prstGeom prst="rect">
            <a:avLst/>
          </a:prstGeom>
          <a:noFill/>
        </p:spPr>
        <p:txBody>
          <a:bodyPr wrap="square" lIns="0" rIns="0" tIns="0" bIns="0" anchor="ctr">
            <a:spAutoFit/>
          </a:bodyPr>
          <a:lstStyle/>
          <a:p>
            <a:pPr algn="ctr"/>
            <a:r>
              <a:rPr b="1" sz="1200" i="0" u="none">
                <a:solidFill>
                  <a:srgbClr val="FFFFFF"/>
                </a:solidFill>
                <a:latin typeface="Inter"/>
              </a:rPr>
              <a:t>28-29</a:t>
            </a:r>
          </a:p>
        </p:txBody>
      </p:sp>
      <p:sp>
        <p:nvSpPr>
          <p:cNvPr id="22" name="TextBox 21"/>
          <p:cNvSpPr txBox="1"/>
          <p:nvPr/>
        </p:nvSpPr>
        <p:spPr>
          <a:xfrm>
            <a:off x="7458075" y="3567112"/>
            <a:ext cx="2000250" cy="200025"/>
          </a:xfrm>
          <a:prstGeom prst="rect">
            <a:avLst/>
          </a:prstGeom>
          <a:noFill/>
        </p:spPr>
        <p:txBody>
          <a:bodyPr wrap="none" lIns="0" rIns="0" tIns="0" bIns="0" anchor="t">
            <a:spAutoFit/>
          </a:bodyPr>
          <a:lstStyle/>
          <a:p>
            <a:pPr algn="ctr"/>
            <a:r>
              <a:rPr b="1" sz="1350" i="0" u="none">
                <a:solidFill>
                  <a:srgbClr val="1C1917"/>
                </a:solidFill>
                <a:latin typeface="Inter"/>
              </a:rPr>
              <a:t>Đỉnh cao</a:t>
            </a:r>
          </a:p>
        </p:txBody>
      </p:sp>
      <p:sp>
        <p:nvSpPr>
          <p:cNvPr id="23" name="TextBox 22"/>
          <p:cNvSpPr txBox="1"/>
          <p:nvPr/>
        </p:nvSpPr>
        <p:spPr>
          <a:xfrm>
            <a:off x="7505700" y="3843337"/>
            <a:ext cx="1905000" cy="161925"/>
          </a:xfrm>
          <a:prstGeom prst="rect">
            <a:avLst/>
          </a:prstGeom>
          <a:noFill/>
        </p:spPr>
        <p:txBody>
          <a:bodyPr wrap="none" lIns="0" rIns="0" tIns="0" bIns="0" anchor="t">
            <a:spAutoFit/>
          </a:bodyPr>
          <a:lstStyle/>
          <a:p>
            <a:pPr algn="ctr"/>
            <a:r>
              <a:rPr b="0" sz="1050" i="0" u="none">
                <a:solidFill>
                  <a:srgbClr val="57534E"/>
                </a:solidFill>
                <a:latin typeface="Inter"/>
              </a:rPr>
              <a:t>Ba tổ chức ra đời.</a:t>
            </a:r>
          </a:p>
        </p:txBody>
      </p:sp>
      <p:sp>
        <p:nvSpPr>
          <p:cNvPr id="24" name="TextBox 23"/>
          <p:cNvSpPr txBox="1"/>
          <p:nvPr/>
        </p:nvSpPr>
        <p:spPr>
          <a:xfrm>
            <a:off x="10448925" y="2957512"/>
            <a:ext cx="742950" cy="457200"/>
          </a:xfrm>
          <a:prstGeom prst="rect">
            <a:avLst/>
          </a:prstGeom>
          <a:noFill/>
        </p:spPr>
        <p:txBody>
          <a:bodyPr wrap="square" lIns="0" rIns="0" tIns="0" bIns="0" anchor="ctr">
            <a:spAutoFit/>
          </a:bodyPr>
          <a:lstStyle/>
          <a:p>
            <a:pPr algn="ctr"/>
            <a:r>
              <a:rPr b="1" sz="1200" i="0" u="none">
                <a:solidFill>
                  <a:srgbClr val="1C1917"/>
                </a:solidFill>
                <a:latin typeface="Inter"/>
              </a:rPr>
              <a:t>30</a:t>
            </a:r>
          </a:p>
        </p:txBody>
      </p:sp>
      <p:sp>
        <p:nvSpPr>
          <p:cNvPr id="25" name="TextBox 24"/>
          <p:cNvSpPr txBox="1"/>
          <p:nvPr/>
        </p:nvSpPr>
        <p:spPr>
          <a:xfrm>
            <a:off x="9820275" y="3567112"/>
            <a:ext cx="2000250" cy="200025"/>
          </a:xfrm>
          <a:prstGeom prst="rect">
            <a:avLst/>
          </a:prstGeom>
          <a:noFill/>
        </p:spPr>
        <p:txBody>
          <a:bodyPr wrap="none" lIns="0" rIns="0" tIns="0" bIns="0" anchor="t">
            <a:spAutoFit/>
          </a:bodyPr>
          <a:lstStyle/>
          <a:p>
            <a:pPr algn="ctr"/>
            <a:r>
              <a:rPr b="1" sz="1350" i="0" u="none">
                <a:solidFill>
                  <a:srgbClr val="1C1917"/>
                </a:solidFill>
                <a:latin typeface="Inter"/>
              </a:rPr>
              <a:t>Hợp nhất</a:t>
            </a:r>
          </a:p>
        </p:txBody>
      </p:sp>
      <p:sp>
        <p:nvSpPr>
          <p:cNvPr id="26" name="TextBox 25"/>
          <p:cNvSpPr txBox="1"/>
          <p:nvPr/>
        </p:nvSpPr>
        <p:spPr>
          <a:xfrm>
            <a:off x="9867900" y="3843337"/>
            <a:ext cx="1905000" cy="161925"/>
          </a:xfrm>
          <a:prstGeom prst="rect">
            <a:avLst/>
          </a:prstGeom>
          <a:noFill/>
        </p:spPr>
        <p:txBody>
          <a:bodyPr wrap="none" lIns="0" rIns="0" tIns="0" bIns="0" anchor="t">
            <a:spAutoFit/>
          </a:bodyPr>
          <a:lstStyle/>
          <a:p>
            <a:pPr algn="ctr"/>
            <a:r>
              <a:rPr b="0" sz="1050" i="0" u="none">
                <a:solidFill>
                  <a:srgbClr val="57534E"/>
                </a:solidFill>
                <a:latin typeface="Inter"/>
              </a:rPr>
              <a:t>Đảng ra đời.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1857375"/>
            <a:ext cx="5257800" cy="1905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2105025"/>
            <a:ext cx="38100" cy="714375"/>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324600" y="2105025"/>
            <a:ext cx="5257800" cy="1419225"/>
          </a:xfrm>
          <a:prstGeom prst="roundRect">
            <a:avLst>
              <a:gd name="adj" fmla="val 5369"/>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324600" y="1857375"/>
            <a:ext cx="5257800" cy="1905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9600" y="609600"/>
            <a:ext cx="11582400" cy="428625"/>
          </a:xfrm>
          <a:prstGeom prst="rect">
            <a:avLst/>
          </a:prstGeom>
          <a:noFill/>
        </p:spPr>
        <p:txBody>
          <a:bodyPr wrap="none" lIns="0" rIns="0" tIns="0" bIns="0" anchor="t">
            <a:spAutoFit/>
          </a:bodyPr>
          <a:lstStyle/>
          <a:p>
            <a:pPr algn="l"/>
            <a:r>
              <a:rPr b="1" sz="2700" i="0" u="none">
                <a:solidFill>
                  <a:srgbClr val="1C1917"/>
                </a:solidFill>
                <a:latin typeface="Merriweather"/>
              </a:rPr>
              <a:t>Nền tảng &amp; Lực lượng Tiên phong</a:t>
            </a:r>
          </a:p>
        </p:txBody>
      </p:sp>
      <p:sp>
        <p:nvSpPr>
          <p:cNvPr id="7" name="TextBox 6"/>
          <p:cNvSpPr txBox="1"/>
          <p:nvPr/>
        </p:nvSpPr>
        <p:spPr>
          <a:xfrm>
            <a:off x="609600" y="1419225"/>
            <a:ext cx="5620702" cy="342900"/>
          </a:xfrm>
          <a:prstGeom prst="rect">
            <a:avLst/>
          </a:prstGeom>
          <a:noFill/>
        </p:spPr>
        <p:txBody>
          <a:bodyPr wrap="square" lIns="0" rIns="0" tIns="0" bIns="0" anchor="t">
            <a:spAutoFit/>
          </a:bodyPr>
          <a:lstStyle/>
          <a:p>
            <a:pPr algn="l"/>
            <a:r>
              <a:rPr b="1" sz="2100" i="0" u="none">
                <a:solidFill>
                  <a:srgbClr val="1C1917"/>
                </a:solidFill>
                <a:latin typeface="Inter"/>
              </a:rPr>
              <a:t>Chủ nghĩa Mác - Lênin</a:t>
            </a:r>
          </a:p>
        </p:txBody>
      </p:sp>
      <p:sp>
        <p:nvSpPr>
          <p:cNvPr id="8" name="TextBox 7"/>
          <p:cNvSpPr txBox="1"/>
          <p:nvPr/>
        </p:nvSpPr>
        <p:spPr>
          <a:xfrm>
            <a:off x="762000" y="2105025"/>
            <a:ext cx="5200650" cy="714375"/>
          </a:xfrm>
          <a:prstGeom prst="rect">
            <a:avLst/>
          </a:prstGeom>
          <a:noFill/>
        </p:spPr>
        <p:txBody>
          <a:bodyPr wrap="square" lIns="0" rIns="0" tIns="0" bIns="0" anchor="t">
            <a:spAutoFit/>
          </a:bodyPr>
          <a:lstStyle/>
          <a:p>
            <a:pPr algn="l"/>
            <a:r>
              <a:rPr b="0" sz="1500" i="1" u="none">
                <a:solidFill>
                  <a:srgbClr val="57534E"/>
                </a:solidFill>
                <a:latin typeface="Merriweather"/>
              </a:rPr>
              <a:t>"Đảng muốn vững phải có chủ nghĩa làm cốt... Đảng mà không có chủ nghĩa cũng giống như người không có trí khôn, tàu không có bàn chỉ nam."</a:t>
            </a:r>
          </a:p>
        </p:txBody>
      </p:sp>
      <p:sp>
        <p:nvSpPr>
          <p:cNvPr id="9" name="TextBox 8"/>
          <p:cNvSpPr txBox="1"/>
          <p:nvPr/>
        </p:nvSpPr>
        <p:spPr>
          <a:xfrm>
            <a:off x="6324600" y="1419225"/>
            <a:ext cx="5620702" cy="342900"/>
          </a:xfrm>
          <a:prstGeom prst="rect">
            <a:avLst/>
          </a:prstGeom>
          <a:noFill/>
        </p:spPr>
        <p:txBody>
          <a:bodyPr wrap="square" lIns="0" rIns="0" tIns="0" bIns="0" anchor="t">
            <a:spAutoFit/>
          </a:bodyPr>
          <a:lstStyle/>
          <a:p>
            <a:pPr algn="l"/>
            <a:r>
              <a:rPr b="1" sz="2100" i="0" u="none">
                <a:solidFill>
                  <a:srgbClr val="1C1917"/>
                </a:solidFill>
                <a:latin typeface="Inter"/>
              </a:rPr>
              <a:t>Phong trào Công nhân</a:t>
            </a:r>
          </a:p>
        </p:txBody>
      </p:sp>
      <p:sp>
        <p:nvSpPr>
          <p:cNvPr id="10" name="TextBox 9"/>
          <p:cNvSpPr txBox="1"/>
          <p:nvPr/>
        </p:nvSpPr>
        <p:spPr>
          <a:xfrm>
            <a:off x="733425" y="3048000"/>
            <a:ext cx="104775" cy="304800"/>
          </a:xfrm>
          <a:prstGeom prst="rect">
            <a:avLst/>
          </a:prstGeom>
          <a:noFill/>
        </p:spPr>
        <p:txBody>
          <a:bodyPr wrap="none" lIns="0" rIns="0" tIns="0" bIns="0" anchor="t">
            <a:spAutoFit/>
          </a:bodyPr>
          <a:lstStyle/>
          <a:p>
            <a:pPr algn="l"/>
            <a:r>
              <a:rPr b="0" sz="1500" i="0" u="none">
                <a:solidFill>
                  <a:srgbClr val="1C1917"/>
                </a:solidFill>
                <a:latin typeface="Inter"/>
              </a:rPr>
              <a:t>•</a:t>
            </a:r>
          </a:p>
        </p:txBody>
      </p:sp>
      <p:sp>
        <p:nvSpPr>
          <p:cNvPr id="11" name="TextBox 10"/>
          <p:cNvSpPr txBox="1"/>
          <p:nvPr/>
        </p:nvSpPr>
        <p:spPr>
          <a:xfrm>
            <a:off x="838200" y="3048000"/>
            <a:ext cx="6286500" cy="304800"/>
          </a:xfrm>
          <a:prstGeom prst="rect">
            <a:avLst/>
          </a:prstGeom>
          <a:noFill/>
        </p:spPr>
        <p:txBody>
          <a:bodyPr wrap="none" lIns="104775" rIns="0" tIns="0" bIns="0" anchor="t">
            <a:spAutoFit/>
          </a:bodyPr>
          <a:lstStyle/>
          <a:p>
            <a:pPr algn="l">
              <a:lnSpc>
                <a:spcPts val="2400"/>
              </a:lnSpc>
            </a:pPr>
            <a:r>
              <a:rPr b="0" sz="1500" i="0" u="none">
                <a:solidFill>
                  <a:srgbClr val="1C1917"/>
                </a:solidFill>
                <a:latin typeface="Inter"/>
              </a:rPr>
              <a:t>Đóng vai trò "trí khôn", soi sáng cách mạng.</a:t>
            </a:r>
          </a:p>
        </p:txBody>
      </p:sp>
      <p:sp>
        <p:nvSpPr>
          <p:cNvPr id="12" name="TextBox 11"/>
          <p:cNvSpPr txBox="1"/>
          <p:nvPr/>
        </p:nvSpPr>
        <p:spPr>
          <a:xfrm>
            <a:off x="733425" y="3467100"/>
            <a:ext cx="104775" cy="304800"/>
          </a:xfrm>
          <a:prstGeom prst="rect">
            <a:avLst/>
          </a:prstGeom>
          <a:noFill/>
        </p:spPr>
        <p:txBody>
          <a:bodyPr wrap="none" lIns="0" rIns="0" tIns="0" bIns="0" anchor="t">
            <a:spAutoFit/>
          </a:bodyPr>
          <a:lstStyle/>
          <a:p>
            <a:pPr algn="l"/>
            <a:r>
              <a:rPr b="0" sz="1500" i="0" u="none">
                <a:solidFill>
                  <a:srgbClr val="1C1917"/>
                </a:solidFill>
                <a:latin typeface="Inter"/>
              </a:rPr>
              <a:t>•</a:t>
            </a:r>
          </a:p>
        </p:txBody>
      </p:sp>
      <p:sp>
        <p:nvSpPr>
          <p:cNvPr id="13" name="TextBox 12"/>
          <p:cNvSpPr txBox="1"/>
          <p:nvPr/>
        </p:nvSpPr>
        <p:spPr>
          <a:xfrm>
            <a:off x="838200" y="3467100"/>
            <a:ext cx="6286500" cy="304800"/>
          </a:xfrm>
          <a:prstGeom prst="rect">
            <a:avLst/>
          </a:prstGeom>
          <a:noFill/>
        </p:spPr>
        <p:txBody>
          <a:bodyPr wrap="none" lIns="104775" rIns="0" tIns="0" bIns="0" anchor="t">
            <a:spAutoFit/>
          </a:bodyPr>
          <a:lstStyle/>
          <a:p>
            <a:pPr algn="l">
              <a:lnSpc>
                <a:spcPts val="2400"/>
              </a:lnSpc>
            </a:pPr>
            <a:r>
              <a:rPr b="0" sz="1500" i="0" u="none">
                <a:solidFill>
                  <a:srgbClr val="1C1917"/>
                </a:solidFill>
                <a:latin typeface="Inter"/>
              </a:rPr>
              <a:t>Vận dụng sáng tạo qua Cương lĩnh.</a:t>
            </a:r>
          </a:p>
        </p:txBody>
      </p:sp>
      <p:sp>
        <p:nvSpPr>
          <p:cNvPr id="14" name="TextBox 13"/>
          <p:cNvSpPr txBox="1"/>
          <p:nvPr/>
        </p:nvSpPr>
        <p:spPr>
          <a:xfrm>
            <a:off x="733425" y="3771900"/>
            <a:ext cx="104775" cy="304800"/>
          </a:xfrm>
          <a:prstGeom prst="rect">
            <a:avLst/>
          </a:prstGeom>
          <a:noFill/>
        </p:spPr>
        <p:txBody>
          <a:bodyPr wrap="none" lIns="0" rIns="0" tIns="0" bIns="0" anchor="t">
            <a:spAutoFit/>
          </a:bodyPr>
          <a:lstStyle/>
          <a:p>
            <a:pPr algn="l"/>
            <a:r>
              <a:rPr b="0" sz="1500" i="0" u="none">
                <a:solidFill>
                  <a:srgbClr val="1C1917"/>
                </a:solidFill>
                <a:latin typeface="Inter"/>
              </a:rPr>
              <a:t>•</a:t>
            </a:r>
          </a:p>
        </p:txBody>
      </p:sp>
      <p:sp>
        <p:nvSpPr>
          <p:cNvPr id="15" name="TextBox 14"/>
          <p:cNvSpPr txBox="1"/>
          <p:nvPr/>
        </p:nvSpPr>
        <p:spPr>
          <a:xfrm>
            <a:off x="838200" y="3771900"/>
            <a:ext cx="6286500" cy="304800"/>
          </a:xfrm>
          <a:prstGeom prst="rect">
            <a:avLst/>
          </a:prstGeom>
          <a:noFill/>
        </p:spPr>
        <p:txBody>
          <a:bodyPr wrap="none" lIns="104775" rIns="0" tIns="0" bIns="0" anchor="t">
            <a:spAutoFit/>
          </a:bodyPr>
          <a:lstStyle/>
          <a:p>
            <a:pPr algn="l">
              <a:lnSpc>
                <a:spcPts val="2400"/>
              </a:lnSpc>
            </a:pPr>
            <a:r>
              <a:rPr b="0" sz="1500" i="0" u="none">
                <a:solidFill>
                  <a:srgbClr val="1C1917"/>
                </a:solidFill>
                <a:latin typeface="Inter"/>
              </a:rPr>
              <a:t>Chống đế quốc là nhiệm vụ hàng đầu.</a:t>
            </a:r>
          </a:p>
        </p:txBody>
      </p:sp>
      <p:sp>
        <p:nvSpPr>
          <p:cNvPr id="16" name="TextBox 15"/>
          <p:cNvSpPr txBox="1"/>
          <p:nvPr/>
        </p:nvSpPr>
        <p:spPr>
          <a:xfrm>
            <a:off x="6048375" y="2409825"/>
            <a:ext cx="5810250" cy="533400"/>
          </a:xfrm>
          <a:prstGeom prst="rect">
            <a:avLst/>
          </a:prstGeom>
          <a:noFill/>
        </p:spPr>
        <p:txBody>
          <a:bodyPr wrap="none" lIns="0" rIns="0" tIns="0" bIns="0" anchor="t">
            <a:spAutoFit/>
          </a:bodyPr>
          <a:lstStyle/>
          <a:p>
            <a:pPr algn="ctr">
              <a:lnSpc>
                <a:spcPts val="4200"/>
              </a:lnSpc>
            </a:pPr>
            <a:r>
              <a:rPr b="1" sz="4200" i="0" u="none">
                <a:solidFill>
                  <a:srgbClr val="B91C1C"/>
                </a:solidFill>
                <a:latin typeface="Inter"/>
              </a:rPr>
              <a:t>22 vạn</a:t>
            </a:r>
          </a:p>
        </p:txBody>
      </p:sp>
      <p:sp>
        <p:nvSpPr>
          <p:cNvPr id="17" name="TextBox 16"/>
          <p:cNvSpPr txBox="1"/>
          <p:nvPr/>
        </p:nvSpPr>
        <p:spPr>
          <a:xfrm>
            <a:off x="6048375" y="3019425"/>
            <a:ext cx="5810250" cy="200025"/>
          </a:xfrm>
          <a:prstGeom prst="rect">
            <a:avLst/>
          </a:prstGeom>
          <a:noFill/>
        </p:spPr>
        <p:txBody>
          <a:bodyPr wrap="none" lIns="0" rIns="0" tIns="0" bIns="0" anchor="t">
            <a:spAutoFit/>
          </a:bodyPr>
          <a:lstStyle/>
          <a:p>
            <a:pPr algn="ctr"/>
            <a:r>
              <a:rPr b="0" sz="1350" i="0" u="none">
                <a:solidFill>
                  <a:srgbClr val="57534E"/>
                </a:solidFill>
                <a:latin typeface="Inter"/>
              </a:rPr>
              <a:t>Công nhân cuối năm 1929 (&gt;1.2% dân số)</a:t>
            </a:r>
          </a:p>
        </p:txBody>
      </p:sp>
      <p:sp>
        <p:nvSpPr>
          <p:cNvPr id="18" name="TextBox 17"/>
          <p:cNvSpPr txBox="1"/>
          <p:nvPr/>
        </p:nvSpPr>
        <p:spPr>
          <a:xfrm>
            <a:off x="6448425" y="3752850"/>
            <a:ext cx="104775" cy="304800"/>
          </a:xfrm>
          <a:prstGeom prst="rect">
            <a:avLst/>
          </a:prstGeom>
          <a:noFill/>
        </p:spPr>
        <p:txBody>
          <a:bodyPr wrap="none" lIns="0" rIns="0" tIns="0" bIns="0" anchor="t">
            <a:spAutoFit/>
          </a:bodyPr>
          <a:lstStyle/>
          <a:p>
            <a:pPr algn="l"/>
            <a:r>
              <a:rPr b="0" sz="1500" i="0" u="none">
                <a:solidFill>
                  <a:srgbClr val="1C1917"/>
                </a:solidFill>
                <a:latin typeface="Inter"/>
              </a:rPr>
              <a:t>•</a:t>
            </a:r>
          </a:p>
        </p:txBody>
      </p:sp>
      <p:sp>
        <p:nvSpPr>
          <p:cNvPr id="19" name="TextBox 18"/>
          <p:cNvSpPr txBox="1"/>
          <p:nvPr/>
        </p:nvSpPr>
        <p:spPr>
          <a:xfrm>
            <a:off x="6553200" y="3752850"/>
            <a:ext cx="5638800" cy="304800"/>
          </a:xfrm>
          <a:prstGeom prst="rect">
            <a:avLst/>
          </a:prstGeom>
          <a:noFill/>
        </p:spPr>
        <p:txBody>
          <a:bodyPr wrap="none" lIns="104775" rIns="0" tIns="0" bIns="0" anchor="t">
            <a:spAutoFit/>
          </a:bodyPr>
          <a:lstStyle/>
          <a:p>
            <a:pPr algn="l">
              <a:lnSpc>
                <a:spcPts val="2400"/>
              </a:lnSpc>
            </a:pPr>
            <a:r>
              <a:rPr b="0" sz="1500" i="0" u="none">
                <a:solidFill>
                  <a:srgbClr val="1C1917"/>
                </a:solidFill>
                <a:latin typeface="Inter"/>
              </a:rPr>
              <a:t>Tiếp nhận sớm tư tưởng tiên tiến.</a:t>
            </a:r>
          </a:p>
        </p:txBody>
      </p:sp>
      <p:sp>
        <p:nvSpPr>
          <p:cNvPr id="20" name="TextBox 19"/>
          <p:cNvSpPr txBox="1"/>
          <p:nvPr/>
        </p:nvSpPr>
        <p:spPr>
          <a:xfrm>
            <a:off x="6448425" y="4171950"/>
            <a:ext cx="104775" cy="304800"/>
          </a:xfrm>
          <a:prstGeom prst="rect">
            <a:avLst/>
          </a:prstGeom>
          <a:noFill/>
        </p:spPr>
        <p:txBody>
          <a:bodyPr wrap="none" lIns="0" rIns="0" tIns="0" bIns="0" anchor="t">
            <a:spAutoFit/>
          </a:bodyPr>
          <a:lstStyle/>
          <a:p>
            <a:pPr algn="l"/>
            <a:r>
              <a:rPr b="0" sz="1500" i="0" u="none">
                <a:solidFill>
                  <a:srgbClr val="1C1917"/>
                </a:solidFill>
                <a:latin typeface="Inter"/>
              </a:rPr>
              <a:t>•</a:t>
            </a:r>
          </a:p>
        </p:txBody>
      </p:sp>
      <p:sp>
        <p:nvSpPr>
          <p:cNvPr id="21" name="TextBox 20"/>
          <p:cNvSpPr txBox="1"/>
          <p:nvPr/>
        </p:nvSpPr>
        <p:spPr>
          <a:xfrm>
            <a:off x="6553200" y="4171950"/>
            <a:ext cx="5638800" cy="304800"/>
          </a:xfrm>
          <a:prstGeom prst="rect">
            <a:avLst/>
          </a:prstGeom>
          <a:noFill/>
        </p:spPr>
        <p:txBody>
          <a:bodyPr wrap="none" lIns="104775" rIns="0" tIns="0" bIns="0" anchor="t">
            <a:spAutoFit/>
          </a:bodyPr>
          <a:lstStyle/>
          <a:p>
            <a:pPr algn="l">
              <a:lnSpc>
                <a:spcPts val="2400"/>
              </a:lnSpc>
            </a:pPr>
            <a:r>
              <a:rPr b="0" sz="1500" i="0" u="none">
                <a:solidFill>
                  <a:srgbClr val="1C1917"/>
                </a:solidFill>
                <a:latin typeface="Inter"/>
              </a:rPr>
              <a:t>Chuyển từ "tự phát" đến "tự giác".</a:t>
            </a:r>
          </a:p>
        </p:txBody>
      </p:sp>
      <p:sp>
        <p:nvSpPr>
          <p:cNvPr id="22" name="TextBox 21"/>
          <p:cNvSpPr txBox="1"/>
          <p:nvPr/>
        </p:nvSpPr>
        <p:spPr>
          <a:xfrm>
            <a:off x="6448425" y="4476750"/>
            <a:ext cx="104775" cy="304800"/>
          </a:xfrm>
          <a:prstGeom prst="rect">
            <a:avLst/>
          </a:prstGeom>
          <a:noFill/>
        </p:spPr>
        <p:txBody>
          <a:bodyPr wrap="none" lIns="0" rIns="0" tIns="0" bIns="0" anchor="t">
            <a:spAutoFit/>
          </a:bodyPr>
          <a:lstStyle/>
          <a:p>
            <a:pPr algn="l"/>
            <a:r>
              <a:rPr b="0" sz="1500" i="0" u="none">
                <a:solidFill>
                  <a:srgbClr val="1C1917"/>
                </a:solidFill>
                <a:latin typeface="Inter"/>
              </a:rPr>
              <a:t>•</a:t>
            </a:r>
          </a:p>
        </p:txBody>
      </p:sp>
      <p:sp>
        <p:nvSpPr>
          <p:cNvPr id="23" name="TextBox 22"/>
          <p:cNvSpPr txBox="1"/>
          <p:nvPr/>
        </p:nvSpPr>
        <p:spPr>
          <a:xfrm>
            <a:off x="6553200" y="4476750"/>
            <a:ext cx="5638800" cy="304800"/>
          </a:xfrm>
          <a:prstGeom prst="rect">
            <a:avLst/>
          </a:prstGeom>
          <a:noFill/>
        </p:spPr>
        <p:txBody>
          <a:bodyPr wrap="none" lIns="104775" rIns="0" tIns="0" bIns="0" anchor="t">
            <a:spAutoFit/>
          </a:bodyPr>
          <a:lstStyle/>
          <a:p>
            <a:pPr algn="l">
              <a:lnSpc>
                <a:spcPts val="2400"/>
              </a:lnSpc>
            </a:pPr>
            <a:r>
              <a:rPr b="0" sz="1500" i="0" u="none">
                <a:solidFill>
                  <a:srgbClr val="1C1917"/>
                </a:solidFill>
                <a:latin typeface="Inter"/>
              </a:rPr>
              <a:t>Đủ năng lực lãnh đạo cách mạng.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1419225"/>
            <a:ext cx="10972800" cy="1581150"/>
          </a:xfrm>
          <a:prstGeom prst="roundRect">
            <a:avLst>
              <a:gd name="adj" fmla="val 4819"/>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23925" y="2466975"/>
            <a:ext cx="38100" cy="219075"/>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09600" y="3305175"/>
            <a:ext cx="5334000" cy="1200150"/>
          </a:xfrm>
          <a:prstGeom prst="roundRect">
            <a:avLst>
              <a:gd name="adj" fmla="val 6349"/>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248400" y="3305175"/>
            <a:ext cx="5334000" cy="1200150"/>
          </a:xfrm>
          <a:prstGeom prst="roundRect">
            <a:avLst>
              <a:gd name="adj" fmla="val 6349"/>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9600" y="609600"/>
            <a:ext cx="11582400" cy="428625"/>
          </a:xfrm>
          <a:prstGeom prst="rect">
            <a:avLst/>
          </a:prstGeom>
          <a:noFill/>
        </p:spPr>
        <p:txBody>
          <a:bodyPr wrap="none" lIns="0" rIns="0" tIns="0" bIns="0" anchor="t">
            <a:spAutoFit/>
          </a:bodyPr>
          <a:lstStyle/>
          <a:p>
            <a:pPr algn="l"/>
            <a:r>
              <a:rPr b="1" sz="2700" i="0" u="none">
                <a:solidFill>
                  <a:srgbClr val="1C1917"/>
                </a:solidFill>
                <a:latin typeface="Merriweather"/>
              </a:rPr>
              <a:t>Yếu tố đặc thù: Phong trào Yêu nước</a:t>
            </a:r>
          </a:p>
        </p:txBody>
      </p:sp>
      <p:sp>
        <p:nvSpPr>
          <p:cNvPr id="7" name="TextBox 6"/>
          <p:cNvSpPr txBox="1"/>
          <p:nvPr/>
        </p:nvSpPr>
        <p:spPr>
          <a:xfrm>
            <a:off x="923925" y="1733550"/>
            <a:ext cx="11268075" cy="276225"/>
          </a:xfrm>
          <a:prstGeom prst="rect">
            <a:avLst/>
          </a:prstGeom>
          <a:noFill/>
        </p:spPr>
        <p:txBody>
          <a:bodyPr wrap="none" lIns="0" rIns="0" tIns="0" bIns="0" anchor="t">
            <a:spAutoFit/>
          </a:bodyPr>
          <a:lstStyle/>
          <a:p>
            <a:pPr algn="l"/>
            <a:r>
              <a:rPr b="1" sz="1800" i="0" u="none">
                <a:solidFill>
                  <a:srgbClr val="B91C1C"/>
                </a:solidFill>
                <a:latin typeface="Inter"/>
              </a:rPr>
              <a:t>Nông dân: Lực lượng đông đảo nhất</a:t>
            </a:r>
          </a:p>
        </p:txBody>
      </p:sp>
      <p:sp>
        <p:nvSpPr>
          <p:cNvPr id="8" name="TextBox 7"/>
          <p:cNvSpPr txBox="1"/>
          <p:nvPr/>
        </p:nvSpPr>
        <p:spPr>
          <a:xfrm>
            <a:off x="923925" y="2124075"/>
            <a:ext cx="11268075" cy="228600"/>
          </a:xfrm>
          <a:prstGeom prst="rect">
            <a:avLst/>
          </a:prstGeom>
          <a:noFill/>
        </p:spPr>
        <p:txBody>
          <a:bodyPr wrap="none" lIns="0" rIns="0" tIns="0" bIns="0" anchor="t">
            <a:spAutoFit/>
          </a:bodyPr>
          <a:lstStyle/>
          <a:p>
            <a:pPr algn="l"/>
            <a:r>
              <a:rPr b="0" sz="1500" i="0" u="none">
                <a:solidFill>
                  <a:srgbClr val="57534E"/>
                </a:solidFill>
                <a:latin typeface="Inter"/>
              </a:rPr>
              <a:t>Chiếm &gt;90% dân số, bị bóc lột nặng nề nhất. Gắn bó sâu sắc quê hương.</a:t>
            </a:r>
          </a:p>
        </p:txBody>
      </p:sp>
      <p:sp>
        <p:nvSpPr>
          <p:cNvPr id="9" name="TextBox 8"/>
          <p:cNvSpPr txBox="1"/>
          <p:nvPr/>
        </p:nvSpPr>
        <p:spPr>
          <a:xfrm>
            <a:off x="1038225" y="2466975"/>
            <a:ext cx="11153775" cy="219075"/>
          </a:xfrm>
          <a:prstGeom prst="rect">
            <a:avLst/>
          </a:prstGeom>
          <a:noFill/>
        </p:spPr>
        <p:txBody>
          <a:bodyPr wrap="none" lIns="0" rIns="0" tIns="0" bIns="0" anchor="t">
            <a:spAutoFit/>
          </a:bodyPr>
          <a:lstStyle/>
          <a:p>
            <a:pPr algn="l"/>
            <a:r>
              <a:rPr b="0" sz="1350" i="1" u="none">
                <a:solidFill>
                  <a:srgbClr val="1C1917"/>
                </a:solidFill>
                <a:latin typeface="Merriweather"/>
              </a:rPr>
              <a:t>"Công nông là gốc của cách mệnh; còn học trò nhà buôn nhỏ... là bầu bạn." (Nguyễn Ái Quốc)</a:t>
            </a:r>
          </a:p>
        </p:txBody>
      </p:sp>
      <p:sp>
        <p:nvSpPr>
          <p:cNvPr id="10" name="TextBox 9"/>
          <p:cNvSpPr txBox="1"/>
          <p:nvPr/>
        </p:nvSpPr>
        <p:spPr>
          <a:xfrm>
            <a:off x="838200" y="3533775"/>
            <a:ext cx="6400800" cy="228600"/>
          </a:xfrm>
          <a:prstGeom prst="rect">
            <a:avLst/>
          </a:prstGeom>
          <a:noFill/>
        </p:spPr>
        <p:txBody>
          <a:bodyPr wrap="none" lIns="0" rIns="0" tIns="0" bIns="0" anchor="t">
            <a:spAutoFit/>
          </a:bodyPr>
          <a:lstStyle/>
          <a:p>
            <a:pPr algn="l"/>
            <a:r>
              <a:rPr b="1" sz="1500" i="0" u="none">
                <a:solidFill>
                  <a:srgbClr val="1C1917"/>
                </a:solidFill>
                <a:latin typeface="Inter"/>
              </a:rPr>
              <a:t>Các tầng lớp khác</a:t>
            </a:r>
          </a:p>
        </p:txBody>
      </p:sp>
      <p:sp>
        <p:nvSpPr>
          <p:cNvPr id="11" name="TextBox 10"/>
          <p:cNvSpPr txBox="1"/>
          <p:nvPr/>
        </p:nvSpPr>
        <p:spPr>
          <a:xfrm>
            <a:off x="838200" y="3876675"/>
            <a:ext cx="4972050" cy="400050"/>
          </a:xfrm>
          <a:prstGeom prst="rect">
            <a:avLst/>
          </a:prstGeom>
          <a:noFill/>
        </p:spPr>
        <p:txBody>
          <a:bodyPr wrap="square" lIns="0" rIns="0" tIns="0" bIns="0" anchor="t">
            <a:spAutoFit/>
          </a:bodyPr>
          <a:lstStyle/>
          <a:p>
            <a:pPr algn="l"/>
            <a:r>
              <a:rPr b="0" sz="1350" i="0" u="none">
                <a:solidFill>
                  <a:srgbClr val="57534E"/>
                </a:solidFill>
                <a:latin typeface="Inter"/>
              </a:rPr>
              <a:t>Tiểu tư sản nhạy cảm chính trị. Tư sản dân tộc và một bộ phận sĩ phu phong kiến có tinh thần chống Pháp.</a:t>
            </a:r>
          </a:p>
        </p:txBody>
      </p:sp>
      <p:sp>
        <p:nvSpPr>
          <p:cNvPr id="12" name="TextBox 11"/>
          <p:cNvSpPr txBox="1"/>
          <p:nvPr/>
        </p:nvSpPr>
        <p:spPr>
          <a:xfrm>
            <a:off x="6477000" y="3533775"/>
            <a:ext cx="5715000" cy="228600"/>
          </a:xfrm>
          <a:prstGeom prst="rect">
            <a:avLst/>
          </a:prstGeom>
          <a:noFill/>
        </p:spPr>
        <p:txBody>
          <a:bodyPr wrap="none" lIns="0" rIns="0" tIns="0" bIns="0" anchor="t">
            <a:spAutoFit/>
          </a:bodyPr>
          <a:lstStyle/>
          <a:p>
            <a:pPr algn="l"/>
            <a:r>
              <a:rPr b="1" sz="1500" i="0" u="none">
                <a:solidFill>
                  <a:srgbClr val="1C1917"/>
                </a:solidFill>
                <a:latin typeface="Inter"/>
              </a:rPr>
              <a:t>Sự chuyển hóa</a:t>
            </a:r>
          </a:p>
        </p:txBody>
      </p:sp>
      <p:sp>
        <p:nvSpPr>
          <p:cNvPr id="13" name="TextBox 12"/>
          <p:cNvSpPr txBox="1"/>
          <p:nvPr/>
        </p:nvSpPr>
        <p:spPr>
          <a:xfrm>
            <a:off x="6477000" y="3876675"/>
            <a:ext cx="4972050" cy="400050"/>
          </a:xfrm>
          <a:prstGeom prst="rect">
            <a:avLst/>
          </a:prstGeom>
          <a:noFill/>
        </p:spPr>
        <p:txBody>
          <a:bodyPr wrap="square" lIns="0" rIns="0" tIns="0" bIns="0" anchor="t">
            <a:spAutoFit/>
          </a:bodyPr>
          <a:lstStyle/>
          <a:p>
            <a:pPr algn="l"/>
            <a:r>
              <a:rPr b="0" sz="1350" i="0" u="none">
                <a:solidFill>
                  <a:srgbClr val="57534E"/>
                </a:solidFill>
                <a:latin typeface="Inter"/>
              </a:rPr>
              <a:t>Kết hợp thống nhất với PT Công nhân theo hướng vô sản, tạo đại đoàn kết.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044029" y="2490787"/>
            <a:ext cx="4937670" cy="876300"/>
          </a:xfrm>
          <a:prstGeom prst="roundRect">
            <a:avLst>
              <a:gd name="adj" fmla="val 13043"/>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210300" y="2490787"/>
            <a:ext cx="4937670" cy="876300"/>
          </a:xfrm>
          <a:prstGeom prst="roundRect">
            <a:avLst>
              <a:gd name="adj" fmla="val 13043"/>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44029" y="3595687"/>
            <a:ext cx="4937670" cy="876300"/>
          </a:xfrm>
          <a:prstGeom prst="roundRect">
            <a:avLst>
              <a:gd name="adj" fmla="val 13043"/>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210300" y="3595687"/>
            <a:ext cx="4937670" cy="876300"/>
          </a:xfrm>
          <a:prstGeom prst="roundRect">
            <a:avLst>
              <a:gd name="adj" fmla="val 13043"/>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1000" y="1604962"/>
            <a:ext cx="12954000" cy="428625"/>
          </a:xfrm>
          <a:prstGeom prst="rect">
            <a:avLst/>
          </a:prstGeom>
          <a:noFill/>
        </p:spPr>
        <p:txBody>
          <a:bodyPr wrap="none" lIns="0" rIns="0" tIns="0" bIns="0" anchor="t">
            <a:spAutoFit/>
          </a:bodyPr>
          <a:lstStyle/>
          <a:p>
            <a:pPr algn="ctr"/>
            <a:r>
              <a:rPr b="1" sz="2700" i="0" u="none">
                <a:solidFill>
                  <a:srgbClr val="1C1917"/>
                </a:solidFill>
                <a:latin typeface="Merriweather"/>
              </a:rPr>
              <a:t>Ý Nghĩa Lịch Sử Của Sự Ra Đời Đảng</a:t>
            </a:r>
          </a:p>
        </p:txBody>
      </p:sp>
      <p:sp>
        <p:nvSpPr>
          <p:cNvPr id="7" name="TextBox 6"/>
          <p:cNvSpPr txBox="1"/>
          <p:nvPr/>
        </p:nvSpPr>
        <p:spPr>
          <a:xfrm>
            <a:off x="-381000" y="4929187"/>
            <a:ext cx="12954000" cy="323850"/>
          </a:xfrm>
          <a:prstGeom prst="rect">
            <a:avLst/>
          </a:prstGeom>
          <a:noFill/>
        </p:spPr>
        <p:txBody>
          <a:bodyPr wrap="none" lIns="0" rIns="0" tIns="0" bIns="0" anchor="t">
            <a:spAutoFit/>
          </a:bodyPr>
          <a:lstStyle/>
          <a:p>
            <a:pPr algn="ctr"/>
            <a:r>
              <a:rPr b="1" sz="2100" i="0" u="none">
                <a:solidFill>
                  <a:srgbClr val="B91C1C"/>
                </a:solidFill>
                <a:latin typeface="Inter"/>
              </a:rPr>
              <a:t>Đảng là nhân tố hàng đầu quyết định thắng lợi.</a:t>
            </a:r>
          </a:p>
        </p:txBody>
      </p:sp>
      <p:sp>
        <p:nvSpPr>
          <p:cNvPr id="8" name="TextBox 7"/>
          <p:cNvSpPr txBox="1"/>
          <p:nvPr/>
        </p:nvSpPr>
        <p:spPr>
          <a:xfrm>
            <a:off x="1358354" y="2805112"/>
            <a:ext cx="5386275" cy="247650"/>
          </a:xfrm>
          <a:prstGeom prst="rect">
            <a:avLst/>
          </a:prstGeom>
          <a:noFill/>
        </p:spPr>
        <p:txBody>
          <a:bodyPr wrap="none" lIns="0" rIns="0" tIns="0" bIns="0" anchor="t">
            <a:spAutoFit/>
          </a:bodyPr>
          <a:lstStyle/>
          <a:p>
            <a:pPr algn="l"/>
            <a:r>
              <a:rPr b="1" sz="1650" i="0" u="none">
                <a:solidFill>
                  <a:srgbClr val="1C1917"/>
                </a:solidFill>
                <a:latin typeface="Inter"/>
              </a:rPr>
              <a:t>1. Chấm dứt khủng hoảng đường lối.</a:t>
            </a:r>
          </a:p>
        </p:txBody>
      </p:sp>
      <p:sp>
        <p:nvSpPr>
          <p:cNvPr id="9" name="TextBox 8"/>
          <p:cNvSpPr txBox="1"/>
          <p:nvPr/>
        </p:nvSpPr>
        <p:spPr>
          <a:xfrm>
            <a:off x="6524625" y="2805112"/>
            <a:ext cx="5386275" cy="247650"/>
          </a:xfrm>
          <a:prstGeom prst="rect">
            <a:avLst/>
          </a:prstGeom>
          <a:noFill/>
        </p:spPr>
        <p:txBody>
          <a:bodyPr wrap="none" lIns="0" rIns="0" tIns="0" bIns="0" anchor="t">
            <a:spAutoFit/>
          </a:bodyPr>
          <a:lstStyle/>
          <a:p>
            <a:pPr algn="l"/>
            <a:r>
              <a:rPr b="1" sz="1650" i="0" u="none">
                <a:solidFill>
                  <a:srgbClr val="1C1917"/>
                </a:solidFill>
                <a:latin typeface="Inter"/>
              </a:rPr>
              <a:t>2. Phản ánh đúng quy luật khách quan.</a:t>
            </a:r>
          </a:p>
        </p:txBody>
      </p:sp>
      <p:sp>
        <p:nvSpPr>
          <p:cNvPr id="10" name="TextBox 9"/>
          <p:cNvSpPr txBox="1"/>
          <p:nvPr/>
        </p:nvSpPr>
        <p:spPr>
          <a:xfrm>
            <a:off x="1358354" y="3910012"/>
            <a:ext cx="5386275" cy="247650"/>
          </a:xfrm>
          <a:prstGeom prst="rect">
            <a:avLst/>
          </a:prstGeom>
          <a:noFill/>
        </p:spPr>
        <p:txBody>
          <a:bodyPr wrap="none" lIns="0" rIns="0" tIns="0" bIns="0" anchor="t">
            <a:spAutoFit/>
          </a:bodyPr>
          <a:lstStyle/>
          <a:p>
            <a:pPr algn="l"/>
            <a:r>
              <a:rPr b="1" sz="1650" i="0" u="none">
                <a:solidFill>
                  <a:srgbClr val="1C1917"/>
                </a:solidFill>
                <a:latin typeface="Inter"/>
              </a:rPr>
              <a:t>3. Khẳng định con đường vô sản.</a:t>
            </a:r>
          </a:p>
        </p:txBody>
      </p:sp>
      <p:sp>
        <p:nvSpPr>
          <p:cNvPr id="11" name="TextBox 10"/>
          <p:cNvSpPr txBox="1"/>
          <p:nvPr/>
        </p:nvSpPr>
        <p:spPr>
          <a:xfrm>
            <a:off x="6524625" y="3910012"/>
            <a:ext cx="5386275" cy="247650"/>
          </a:xfrm>
          <a:prstGeom prst="rect">
            <a:avLst/>
          </a:prstGeom>
          <a:noFill/>
        </p:spPr>
        <p:txBody>
          <a:bodyPr wrap="none" lIns="0" rIns="0" tIns="0" bIns="0" anchor="t">
            <a:spAutoFit/>
          </a:bodyPr>
          <a:lstStyle/>
          <a:p>
            <a:pPr algn="l"/>
            <a:r>
              <a:rPr b="1" sz="1650" i="0" u="none">
                <a:solidFill>
                  <a:srgbClr val="1C1917"/>
                </a:solidFill>
                <a:latin typeface="Inter"/>
              </a:rPr>
              <a:t>4. Là bộ phận của cách mạng thế giới.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DFDFC"/>
        </a:solidFill>
        <a:effectLst/>
      </p:bgPr>
    </p:bg>
    <p:spTree>
      <p:nvGrpSpPr>
        <p:cNvPr id="1" name=""/>
        <p:cNvGrpSpPr/>
        <p:nvPr/>
      </p:nvGrpSpPr>
      <p:grpSpPr/>
      <p:sp>
        <p:nvSpPr>
          <p:cNvPr id="2" name="Rounded Rectangle 1"/>
          <p:cNvSpPr/>
          <p:nvPr/>
        </p:nvSpPr>
        <p:spPr>
          <a:xfrm>
            <a:off x="609600" y="5514975"/>
            <a:ext cx="10972800" cy="733425"/>
          </a:xfrm>
          <a:prstGeom prst="roundRect">
            <a:avLst>
              <a:gd name="adj" fmla="val 10389"/>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1685925"/>
            <a:ext cx="3505200" cy="3524250"/>
          </a:xfrm>
          <a:prstGeom prst="roundRect">
            <a:avLst>
              <a:gd name="adj" fmla="val 2173"/>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343400" y="1685925"/>
            <a:ext cx="3505200" cy="3524250"/>
          </a:xfrm>
          <a:prstGeom prst="roundRect">
            <a:avLst>
              <a:gd name="adj" fmla="val 2173"/>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077200" y="1685925"/>
            <a:ext cx="3505200" cy="3524250"/>
          </a:xfrm>
          <a:prstGeom prst="roundRect">
            <a:avLst>
              <a:gd name="adj" fmla="val 2173"/>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9600" y="609600"/>
            <a:ext cx="11582400" cy="190500"/>
          </a:xfrm>
          <a:prstGeom prst="rect">
            <a:avLst/>
          </a:prstGeom>
          <a:noFill/>
        </p:spPr>
        <p:txBody>
          <a:bodyPr wrap="none" lIns="0" rIns="0" tIns="0" bIns="0" anchor="t">
            <a:spAutoFit/>
          </a:bodyPr>
          <a:lstStyle/>
          <a:p>
            <a:pPr algn="l"/>
            <a:r>
              <a:rPr b="1" sz="1200" i="0" u="none">
                <a:solidFill>
                  <a:srgbClr val="B91C1C"/>
                </a:solidFill>
                <a:latin typeface="Inter"/>
              </a:rPr>
              <a:t>TRẢ LỜI CÂU HỎI MỞ BÀI</a:t>
            </a:r>
          </a:p>
        </p:txBody>
      </p:sp>
      <p:sp>
        <p:nvSpPr>
          <p:cNvPr id="7" name="TextBox 6"/>
          <p:cNvSpPr txBox="1"/>
          <p:nvPr/>
        </p:nvSpPr>
        <p:spPr>
          <a:xfrm>
            <a:off x="609600" y="876300"/>
            <a:ext cx="11582400" cy="428625"/>
          </a:xfrm>
          <a:prstGeom prst="rect">
            <a:avLst/>
          </a:prstGeom>
          <a:noFill/>
        </p:spPr>
        <p:txBody>
          <a:bodyPr wrap="none" lIns="0" rIns="0" tIns="0" bIns="0" anchor="t">
            <a:spAutoFit/>
          </a:bodyPr>
          <a:lstStyle/>
          <a:p>
            <a:pPr algn="l"/>
            <a:r>
              <a:rPr b="1" sz="2700" i="0" u="none">
                <a:solidFill>
                  <a:srgbClr val="1C1917"/>
                </a:solidFill>
                <a:latin typeface="Merriweather"/>
              </a:rPr>
              <a:t>Vì sao cần 10 năm chuẩn bị (1920 - 1930)?</a:t>
            </a:r>
          </a:p>
        </p:txBody>
      </p:sp>
      <p:sp>
        <p:nvSpPr>
          <p:cNvPr id="8" name="TextBox 7"/>
          <p:cNvSpPr txBox="1"/>
          <p:nvPr/>
        </p:nvSpPr>
        <p:spPr>
          <a:xfrm>
            <a:off x="-238125" y="5743575"/>
            <a:ext cx="12668250" cy="276225"/>
          </a:xfrm>
          <a:prstGeom prst="rect">
            <a:avLst/>
          </a:prstGeom>
          <a:noFill/>
        </p:spPr>
        <p:txBody>
          <a:bodyPr wrap="none" lIns="0" rIns="0" tIns="0" bIns="0" anchor="t">
            <a:spAutoFit/>
          </a:bodyPr>
          <a:lstStyle/>
          <a:p>
            <a:pPr algn="ctr"/>
            <a:r>
              <a:rPr b="1" sz="1800" i="0" u="none">
                <a:solidFill>
                  <a:srgbClr val="B91C1C"/>
                </a:solidFill>
                <a:latin typeface="Inter"/>
              </a:rPr>
              <a:t>Kết luận: 10 năm là quy luật tự nhiên để hội tụ đủ 3 yếu tố, không phải "độ trễ".</a:t>
            </a:r>
          </a:p>
        </p:txBody>
      </p:sp>
      <p:sp>
        <p:nvSpPr>
          <p:cNvPr id="9" name="TextBox 8"/>
          <p:cNvSpPr txBox="1"/>
          <p:nvPr/>
        </p:nvSpPr>
        <p:spPr>
          <a:xfrm>
            <a:off x="923925" y="2000250"/>
            <a:ext cx="3775471" cy="276225"/>
          </a:xfrm>
          <a:prstGeom prst="rect">
            <a:avLst/>
          </a:prstGeom>
          <a:noFill/>
        </p:spPr>
        <p:txBody>
          <a:bodyPr wrap="none" lIns="0" rIns="0" tIns="0" bIns="0" anchor="t">
            <a:spAutoFit/>
          </a:bodyPr>
          <a:lstStyle/>
          <a:p>
            <a:pPr algn="l"/>
            <a:r>
              <a:rPr b="1" sz="1800" i="0" u="none">
                <a:solidFill>
                  <a:srgbClr val="1C1917"/>
                </a:solidFill>
                <a:latin typeface="Inter"/>
              </a:rPr>
              <a:t>Năm 1920</a:t>
            </a:r>
          </a:p>
        </p:txBody>
      </p:sp>
      <p:sp>
        <p:nvSpPr>
          <p:cNvPr id="10" name="TextBox 9"/>
          <p:cNvSpPr txBox="1"/>
          <p:nvPr/>
        </p:nvSpPr>
        <p:spPr>
          <a:xfrm>
            <a:off x="923925" y="2428875"/>
            <a:ext cx="2971800" cy="600075"/>
          </a:xfrm>
          <a:prstGeom prst="rect">
            <a:avLst/>
          </a:prstGeom>
          <a:noFill/>
        </p:spPr>
        <p:txBody>
          <a:bodyPr wrap="square" lIns="0" rIns="0" tIns="0" bIns="0" anchor="t">
            <a:spAutoFit/>
          </a:bodyPr>
          <a:lstStyle/>
          <a:p>
            <a:pPr algn="l"/>
            <a:r>
              <a:rPr b="0" sz="1350" i="0" u="none">
                <a:solidFill>
                  <a:srgbClr val="57534E"/>
                </a:solidFill>
                <a:latin typeface="Inter"/>
              </a:rPr>
              <a:t>Mới giải quyết được </a:t>
            </a:r>
            <a:r>
              <a:rPr b="1" sz="1350" i="0" u="none">
                <a:solidFill>
                  <a:srgbClr val="57534E"/>
                </a:solidFill>
                <a:latin typeface="Inter"/>
              </a:rPr>
              <a:t>tư tưởng</a:t>
            </a:r>
            <a:r>
              <a:rPr b="0" sz="1350" i="0" u="none">
                <a:solidFill>
                  <a:srgbClr val="57534E"/>
                </a:solidFill>
                <a:latin typeface="Inter"/>
              </a:rPr>
              <a:t>. Còn thiếu đường lối, tổ chức, cán bộ thực tiễn.</a:t>
            </a:r>
          </a:p>
        </p:txBody>
      </p:sp>
      <p:sp>
        <p:nvSpPr>
          <p:cNvPr id="11" name="TextBox 10"/>
          <p:cNvSpPr txBox="1"/>
          <p:nvPr/>
        </p:nvSpPr>
        <p:spPr>
          <a:xfrm>
            <a:off x="4657725" y="2000250"/>
            <a:ext cx="3775471" cy="276225"/>
          </a:xfrm>
          <a:prstGeom prst="rect">
            <a:avLst/>
          </a:prstGeom>
          <a:noFill/>
        </p:spPr>
        <p:txBody>
          <a:bodyPr wrap="none" lIns="0" rIns="0" tIns="0" bIns="0" anchor="t">
            <a:spAutoFit/>
          </a:bodyPr>
          <a:lstStyle/>
          <a:p>
            <a:pPr algn="l"/>
            <a:r>
              <a:rPr b="1" sz="1800" i="0" u="none">
                <a:solidFill>
                  <a:srgbClr val="1C1917"/>
                </a:solidFill>
                <a:latin typeface="Inter"/>
              </a:rPr>
              <a:t>Thời gian chín muồi</a:t>
            </a:r>
          </a:p>
        </p:txBody>
      </p:sp>
      <p:sp>
        <p:nvSpPr>
          <p:cNvPr id="12" name="TextBox 11"/>
          <p:cNvSpPr txBox="1"/>
          <p:nvPr/>
        </p:nvSpPr>
        <p:spPr>
          <a:xfrm>
            <a:off x="4657725" y="2428875"/>
            <a:ext cx="2971800" cy="600075"/>
          </a:xfrm>
          <a:prstGeom prst="rect">
            <a:avLst/>
          </a:prstGeom>
          <a:noFill/>
        </p:spPr>
        <p:txBody>
          <a:bodyPr wrap="square" lIns="0" rIns="0" tIns="0" bIns="0" anchor="t">
            <a:spAutoFit/>
          </a:bodyPr>
          <a:lstStyle/>
          <a:p>
            <a:pPr algn="l"/>
            <a:r>
              <a:rPr b="0" sz="1350" i="0" u="none">
                <a:solidFill>
                  <a:srgbClr val="57534E"/>
                </a:solidFill>
                <a:latin typeface="Inter"/>
              </a:rPr>
              <a:t>Cần thời gian cho công nhân chuyển sang tự giác, và PT yêu nước tìm hướng mới.</a:t>
            </a:r>
          </a:p>
        </p:txBody>
      </p:sp>
      <p:sp>
        <p:nvSpPr>
          <p:cNvPr id="13" name="TextBox 12"/>
          <p:cNvSpPr txBox="1"/>
          <p:nvPr/>
        </p:nvSpPr>
        <p:spPr>
          <a:xfrm>
            <a:off x="8391525" y="2000250"/>
            <a:ext cx="3775471" cy="276225"/>
          </a:xfrm>
          <a:prstGeom prst="rect">
            <a:avLst/>
          </a:prstGeom>
          <a:noFill/>
        </p:spPr>
        <p:txBody>
          <a:bodyPr wrap="none" lIns="0" rIns="0" tIns="0" bIns="0" anchor="t">
            <a:spAutoFit/>
          </a:bodyPr>
          <a:lstStyle/>
          <a:p>
            <a:pPr algn="l"/>
            <a:r>
              <a:rPr b="1" sz="1800" i="0" u="none">
                <a:solidFill>
                  <a:srgbClr val="1C1917"/>
                </a:solidFill>
                <a:latin typeface="Inter"/>
              </a:rPr>
              <a:t>Năm 1929</a:t>
            </a:r>
          </a:p>
        </p:txBody>
      </p:sp>
      <p:sp>
        <p:nvSpPr>
          <p:cNvPr id="14" name="TextBox 13"/>
          <p:cNvSpPr txBox="1"/>
          <p:nvPr/>
        </p:nvSpPr>
        <p:spPr>
          <a:xfrm>
            <a:off x="8391525" y="2428875"/>
            <a:ext cx="2971800" cy="600075"/>
          </a:xfrm>
          <a:prstGeom prst="rect">
            <a:avLst/>
          </a:prstGeom>
          <a:noFill/>
        </p:spPr>
        <p:txBody>
          <a:bodyPr wrap="square" lIns="0" rIns="0" tIns="0" bIns="0" anchor="t">
            <a:spAutoFit/>
          </a:bodyPr>
          <a:lstStyle/>
          <a:p>
            <a:pPr algn="l"/>
            <a:r>
              <a:rPr b="0" sz="1350" i="0" u="none">
                <a:solidFill>
                  <a:srgbClr val="57534E"/>
                </a:solidFill>
                <a:latin typeface="Inter"/>
              </a:rPr>
              <a:t>Phong trào lên cao, tổ chức cũ không đủ sức, 3 ĐCS phân tán cần hợp nhất.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1609725"/>
            <a:ext cx="10972800" cy="4638675"/>
          </a:xfrm>
          <a:prstGeom prst="roundRect">
            <a:avLst>
              <a:gd name="adj" fmla="val 1642"/>
            </a:avLst>
          </a:prstGeom>
          <a:no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 name="Table 2"/>
          <p:cNvGraphicFramePr>
            <a:graphicFrameLocks noGrp="1"/>
          </p:cNvGraphicFramePr>
          <p:nvPr/>
        </p:nvGraphicFramePr>
        <p:xfrm>
          <a:off x="619125" y="1619250"/>
          <a:ext cx="10944224" cy="4124325"/>
        </p:xfrm>
        <a:graphic>
          <a:graphicData uri="http://schemas.openxmlformats.org/drawingml/2006/table">
            <a:tbl>
              <a:tblPr firstRow="0" bandRow="0">
                <a:lnL>
                  <a:noFill/>
                </a:lnL>
                <a:lnR>
                  <a:noFill/>
                </a:lnR>
                <a:lnT>
                  <a:noFill/>
                </a:lnT>
                <a:lnB>
                  <a:noFill/>
                </a:lnB>
                <a:lnV>
                  <a:noFill/>
                </a:lnV>
                <a:lnH>
                  <a:noFill/>
                </a:lnH>
              </a:tblPr>
              <a:tblGrid>
                <a:gridCol w="3573065"/>
                <a:gridCol w="4573637"/>
                <a:gridCol w="2797522"/>
              </a:tblGrid>
              <a:tr h="515540">
                <a:tc>
                  <a:txBody>
                    <a:bodyPr/>
                    <a:lstStyle/>
                    <a:p>
                      <a:pPr algn="l"/>
                      <a:r>
                        <a:rPr b="1" sz="1350" i="0" u="none">
                          <a:solidFill>
                            <a:srgbClr val="1C1917"/>
                          </a:solidFill>
                          <a:latin typeface="Inter"/>
                        </a:rPr>
                        <a:t>Thời gian</a:t>
                      </a:r>
                    </a:p>
                  </a:txBody>
                  <a:tcPr anchor="ctr" marL="63500" marR="63500" marT="25400" marB="25400">
                    <a:lnL>
                      <a:noFill/>
                    </a:lnL>
                    <a:lnR>
                      <a:noFill/>
                    </a:lnR>
                    <a:lnT>
                      <a:noFill/>
                    </a:lnT>
                    <a:lnB>
                      <a:noFill/>
                    </a:lnB>
                    <a:solidFill>
                      <a:srgbClr val="F5F5F4"/>
                    </a:solidFill>
                  </a:tcPr>
                </a:tc>
                <a:tc>
                  <a:txBody>
                    <a:bodyPr/>
                    <a:lstStyle/>
                    <a:p>
                      <a:pPr algn="l"/>
                      <a:r>
                        <a:rPr b="1" sz="1350" i="0" u="none">
                          <a:solidFill>
                            <a:srgbClr val="1C1917"/>
                          </a:solidFill>
                          <a:latin typeface="Inter"/>
                        </a:rPr>
                        <a:t>Đảng Cộng sản</a:t>
                      </a:r>
                    </a:p>
                  </a:txBody>
                  <a:tcPr anchor="ctr" marL="63500" marR="63500" marT="25400" marB="25400">
                    <a:lnL>
                      <a:noFill/>
                    </a:lnL>
                    <a:lnR>
                      <a:noFill/>
                    </a:lnR>
                    <a:lnT>
                      <a:noFill/>
                    </a:lnT>
                    <a:lnB>
                      <a:noFill/>
                    </a:lnB>
                    <a:solidFill>
                      <a:srgbClr val="F5F5F4"/>
                    </a:solidFill>
                  </a:tcPr>
                </a:tc>
                <a:tc>
                  <a:txBody>
                    <a:bodyPr/>
                    <a:lstStyle/>
                    <a:p>
                      <a:pPr algn="l"/>
                      <a:r>
                        <a:rPr b="1" sz="1350" i="0" u="none">
                          <a:solidFill>
                            <a:srgbClr val="1C1917"/>
                          </a:solidFill>
                          <a:latin typeface="Inter"/>
                        </a:rPr>
                        <a:t>Khu vực</a:t>
                      </a:r>
                    </a:p>
                  </a:txBody>
                  <a:tcPr anchor="ctr" marL="63500" marR="63500" marT="25400" marB="25400">
                    <a:lnL>
                      <a:noFill/>
                    </a:lnL>
                    <a:lnR>
                      <a:noFill/>
                    </a:lnR>
                    <a:lnT>
                      <a:noFill/>
                    </a:lnT>
                    <a:lnB>
                      <a:noFill/>
                    </a:lnB>
                    <a:solidFill>
                      <a:srgbClr val="F5F5F4"/>
                    </a:solidFill>
                  </a:tcPr>
                </a:tc>
              </a:tr>
              <a:tr h="515540">
                <a:tc>
                  <a:txBody>
                    <a:bodyPr/>
                    <a:lstStyle/>
                    <a:p>
                      <a:pPr algn="l"/>
                      <a:r>
                        <a:rPr b="0" sz="1350" i="0" u="none">
                          <a:solidFill>
                            <a:srgbClr val="57534E"/>
                          </a:solidFill>
                          <a:latin typeface="Inter"/>
                        </a:rPr>
                        <a:t>12/1918–1/1919</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57534E"/>
                          </a:solidFill>
                          <a:latin typeface="Inter"/>
                        </a:rPr>
                        <a:t>Đức</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57534E"/>
                          </a:solidFill>
                          <a:latin typeface="Inter"/>
                        </a:rPr>
                        <a:t>Châu Âu</a:t>
                      </a:r>
                    </a:p>
                  </a:txBody>
                  <a:tcPr anchor="ctr" marL="63500" marR="63500" marT="25400" marB="25400">
                    <a:lnL>
                      <a:noFill/>
                    </a:lnL>
                    <a:lnR>
                      <a:noFill/>
                    </a:lnR>
                    <a:lnT>
                      <a:noFill/>
                    </a:lnT>
                    <a:lnB>
                      <a:noFill/>
                    </a:lnB>
                    <a:solidFill>
                      <a:srgbClr val="FFFFFF"/>
                    </a:solidFill>
                  </a:tcPr>
                </a:tc>
              </a:tr>
              <a:tr h="515540">
                <a:tc>
                  <a:txBody>
                    <a:bodyPr/>
                    <a:lstStyle/>
                    <a:p>
                      <a:pPr algn="l"/>
                      <a:r>
                        <a:rPr b="0" sz="1350" i="0" u="none">
                          <a:solidFill>
                            <a:srgbClr val="57534E"/>
                          </a:solidFill>
                          <a:latin typeface="Inter"/>
                        </a:rPr>
                        <a:t>1919</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57534E"/>
                          </a:solidFill>
                          <a:latin typeface="Inter"/>
                        </a:rPr>
                        <a:t>Mỹ</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57534E"/>
                          </a:solidFill>
                          <a:latin typeface="Inter"/>
                        </a:rPr>
                        <a:t>Bắc Mỹ</a:t>
                      </a:r>
                    </a:p>
                  </a:txBody>
                  <a:tcPr anchor="ctr" marL="63500" marR="63500" marT="25400" marB="25400">
                    <a:lnL>
                      <a:noFill/>
                    </a:lnL>
                    <a:lnR>
                      <a:noFill/>
                    </a:lnR>
                    <a:lnT>
                      <a:noFill/>
                    </a:lnT>
                    <a:lnB>
                      <a:noFill/>
                    </a:lnB>
                    <a:solidFill>
                      <a:srgbClr val="FFFFFF"/>
                    </a:solidFill>
                  </a:tcPr>
                </a:tc>
              </a:tr>
              <a:tr h="515540">
                <a:tc>
                  <a:txBody>
                    <a:bodyPr/>
                    <a:lstStyle/>
                    <a:p>
                      <a:pPr algn="l"/>
                      <a:r>
                        <a:rPr b="0" sz="1350" i="0" u="none">
                          <a:solidFill>
                            <a:srgbClr val="57534E"/>
                          </a:solidFill>
                          <a:latin typeface="Inter"/>
                        </a:rPr>
                        <a:t>5/1920</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57534E"/>
                          </a:solidFill>
                          <a:latin typeface="Inter"/>
                        </a:rPr>
                        <a:t>Inđônêxia</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57534E"/>
                          </a:solidFill>
                          <a:latin typeface="Inter"/>
                        </a:rPr>
                        <a:t>Châu Á TBD</a:t>
                      </a:r>
                    </a:p>
                  </a:txBody>
                  <a:tcPr anchor="ctr" marL="63500" marR="63500" marT="25400" marB="25400">
                    <a:lnL>
                      <a:noFill/>
                    </a:lnL>
                    <a:lnR>
                      <a:noFill/>
                    </a:lnR>
                    <a:lnT>
                      <a:noFill/>
                    </a:lnT>
                    <a:lnB>
                      <a:noFill/>
                    </a:lnB>
                    <a:solidFill>
                      <a:srgbClr val="FFFFFF"/>
                    </a:solidFill>
                  </a:tcPr>
                </a:tc>
              </a:tr>
              <a:tr h="515540">
                <a:tc>
                  <a:txBody>
                    <a:bodyPr/>
                    <a:lstStyle/>
                    <a:p>
                      <a:pPr algn="l"/>
                      <a:r>
                        <a:rPr b="0" sz="1350" i="0" u="none">
                          <a:solidFill>
                            <a:srgbClr val="57534E"/>
                          </a:solidFill>
                          <a:latin typeface="Inter"/>
                        </a:rPr>
                        <a:t>7/1920 &amp; 10/1920</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57534E"/>
                          </a:solidFill>
                          <a:latin typeface="Inter"/>
                        </a:rPr>
                        <a:t>Anh, Úc</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57534E"/>
                          </a:solidFill>
                          <a:latin typeface="Inter"/>
                        </a:rPr>
                        <a:t>Âu / Á TBD</a:t>
                      </a:r>
                    </a:p>
                  </a:txBody>
                  <a:tcPr anchor="ctr" marL="63500" marR="63500" marT="25400" marB="25400">
                    <a:lnL>
                      <a:noFill/>
                    </a:lnL>
                    <a:lnR>
                      <a:noFill/>
                    </a:lnR>
                    <a:lnT>
                      <a:noFill/>
                    </a:lnT>
                    <a:lnB>
                      <a:noFill/>
                    </a:lnB>
                    <a:solidFill>
                      <a:srgbClr val="FFFFFF"/>
                    </a:solidFill>
                  </a:tcPr>
                </a:tc>
              </a:tr>
              <a:tr h="515540">
                <a:tc>
                  <a:txBody>
                    <a:bodyPr/>
                    <a:lstStyle/>
                    <a:p>
                      <a:pPr algn="l"/>
                      <a:r>
                        <a:rPr b="0" sz="1350" i="0" u="none">
                          <a:solidFill>
                            <a:srgbClr val="57534E"/>
                          </a:solidFill>
                          <a:latin typeface="Inter"/>
                        </a:rPr>
                        <a:t>12/1920</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57534E"/>
                          </a:solidFill>
                          <a:latin typeface="Inter"/>
                        </a:rPr>
                        <a:t>Pháp (Đại hội Tours)</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57534E"/>
                          </a:solidFill>
                          <a:latin typeface="Inter"/>
                        </a:rPr>
                        <a:t>Châu Âu</a:t>
                      </a:r>
                    </a:p>
                  </a:txBody>
                  <a:tcPr anchor="ctr" marL="63500" marR="63500" marT="25400" marB="25400">
                    <a:lnL>
                      <a:noFill/>
                    </a:lnL>
                    <a:lnR>
                      <a:noFill/>
                    </a:lnR>
                    <a:lnT>
                      <a:noFill/>
                    </a:lnT>
                    <a:lnB>
                      <a:noFill/>
                    </a:lnB>
                    <a:solidFill>
                      <a:srgbClr val="FFFFFF"/>
                    </a:solidFill>
                  </a:tcPr>
                </a:tc>
              </a:tr>
              <a:tr h="515540">
                <a:tc>
                  <a:txBody>
                    <a:bodyPr/>
                    <a:lstStyle/>
                    <a:p>
                      <a:pPr algn="l"/>
                      <a:r>
                        <a:rPr b="0" sz="1350" i="0" u="none">
                          <a:solidFill>
                            <a:srgbClr val="57534E"/>
                          </a:solidFill>
                          <a:latin typeface="Inter"/>
                        </a:rPr>
                        <a:t>7/1921 &amp; 7/1922</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57534E"/>
                          </a:solidFill>
                          <a:latin typeface="Inter"/>
                        </a:rPr>
                        <a:t>Trung Quốc, Nhật Bản</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57534E"/>
                          </a:solidFill>
                          <a:latin typeface="Inter"/>
                        </a:rPr>
                        <a:t>Châu Á TBD</a:t>
                      </a:r>
                    </a:p>
                  </a:txBody>
                  <a:tcPr anchor="ctr" marL="63500" marR="63500" marT="25400" marB="25400">
                    <a:lnL>
                      <a:noFill/>
                    </a:lnL>
                    <a:lnR>
                      <a:noFill/>
                    </a:lnR>
                    <a:lnT>
                      <a:noFill/>
                    </a:lnT>
                    <a:lnB>
                      <a:noFill/>
                    </a:lnB>
                    <a:solidFill>
                      <a:srgbClr val="FFFFFF"/>
                    </a:solidFill>
                  </a:tcPr>
                </a:tc>
              </a:tr>
              <a:tr h="515545">
                <a:tc>
                  <a:txBody>
                    <a:bodyPr/>
                    <a:lstStyle/>
                    <a:p>
                      <a:pPr algn="l"/>
                      <a:r>
                        <a:rPr b="1" sz="1350" i="0" u="none">
                          <a:solidFill>
                            <a:srgbClr val="B91C1C"/>
                          </a:solidFill>
                          <a:latin typeface="Inter"/>
                        </a:rPr>
                        <a:t>2/1930</a:t>
                      </a:r>
                    </a:p>
                  </a:txBody>
                  <a:tcPr anchor="ctr" marL="63500" marR="63500" marT="25400" marB="25400">
                    <a:lnL>
                      <a:noFill/>
                    </a:lnL>
                    <a:lnR>
                      <a:noFill/>
                    </a:lnR>
                    <a:lnT>
                      <a:noFill/>
                    </a:lnT>
                    <a:lnB>
                      <a:noFill/>
                    </a:lnB>
                    <a:solidFill>
                      <a:srgbClr val="FEE2E2"/>
                    </a:solidFill>
                  </a:tcPr>
                </a:tc>
                <a:tc>
                  <a:txBody>
                    <a:bodyPr/>
                    <a:lstStyle/>
                    <a:p>
                      <a:pPr algn="l"/>
                      <a:r>
                        <a:rPr b="1" sz="1350" i="0" u="none">
                          <a:solidFill>
                            <a:srgbClr val="B91C1C"/>
                          </a:solidFill>
                          <a:latin typeface="Inter"/>
                        </a:rPr>
                        <a:t>Việt Nam</a:t>
                      </a:r>
                    </a:p>
                  </a:txBody>
                  <a:tcPr anchor="ctr" marL="63500" marR="63500" marT="25400" marB="25400">
                    <a:lnL>
                      <a:noFill/>
                    </a:lnL>
                    <a:lnR>
                      <a:noFill/>
                    </a:lnR>
                    <a:lnT>
                      <a:noFill/>
                    </a:lnT>
                    <a:lnB>
                      <a:noFill/>
                    </a:lnB>
                    <a:solidFill>
                      <a:srgbClr val="FEE2E2"/>
                    </a:solidFill>
                  </a:tcPr>
                </a:tc>
                <a:tc>
                  <a:txBody>
                    <a:bodyPr/>
                    <a:lstStyle/>
                    <a:p>
                      <a:pPr algn="l"/>
                      <a:r>
                        <a:rPr b="1" sz="1350" i="0" u="none">
                          <a:solidFill>
                            <a:srgbClr val="B91C1C"/>
                          </a:solidFill>
                          <a:latin typeface="Inter"/>
                        </a:rPr>
                        <a:t>Châu Á TBD</a:t>
                      </a:r>
                    </a:p>
                  </a:txBody>
                  <a:tcPr anchor="ctr" marL="63500" marR="63500" marT="25400" marB="25400">
                    <a:lnL>
                      <a:noFill/>
                    </a:lnL>
                    <a:lnR>
                      <a:noFill/>
                    </a:lnR>
                    <a:lnT>
                      <a:noFill/>
                    </a:lnT>
                    <a:lnB>
                      <a:noFill/>
                    </a:lnB>
                    <a:solidFill>
                      <a:srgbClr val="FEE2E2"/>
                    </a:solidFill>
                  </a:tcPr>
                </a:tc>
              </a:tr>
            </a:tbl>
          </a:graphicData>
        </a:graphic>
      </p:graphicFrame>
      <p:sp>
        <p:nvSpPr>
          <p:cNvPr id="4" name="TextBox 3"/>
          <p:cNvSpPr txBox="1"/>
          <p:nvPr/>
        </p:nvSpPr>
        <p:spPr>
          <a:xfrm>
            <a:off x="609600" y="609600"/>
            <a:ext cx="11582400" cy="190500"/>
          </a:xfrm>
          <a:prstGeom prst="rect">
            <a:avLst/>
          </a:prstGeom>
          <a:noFill/>
        </p:spPr>
        <p:txBody>
          <a:bodyPr wrap="none" lIns="0" rIns="0" tIns="0" bIns="0" anchor="t">
            <a:spAutoFit/>
          </a:bodyPr>
          <a:lstStyle/>
          <a:p>
            <a:pPr algn="l"/>
            <a:r>
              <a:rPr b="1" sz="1200" i="0" u="none">
                <a:solidFill>
                  <a:srgbClr val="B91C1C"/>
                </a:solidFill>
                <a:latin typeface="Inter"/>
              </a:rPr>
              <a:t>PHẦN 2: SO SÁNH QUỐC TẾ</a:t>
            </a:r>
          </a:p>
        </p:txBody>
      </p:sp>
      <p:sp>
        <p:nvSpPr>
          <p:cNvPr id="5" name="TextBox 4"/>
          <p:cNvSpPr txBox="1"/>
          <p:nvPr/>
        </p:nvSpPr>
        <p:spPr>
          <a:xfrm>
            <a:off x="609600" y="876300"/>
            <a:ext cx="11582400" cy="428625"/>
          </a:xfrm>
          <a:prstGeom prst="rect">
            <a:avLst/>
          </a:prstGeom>
          <a:noFill/>
        </p:spPr>
        <p:txBody>
          <a:bodyPr wrap="none" lIns="0" rIns="0" tIns="0" bIns="0" anchor="t">
            <a:spAutoFit/>
          </a:bodyPr>
          <a:lstStyle/>
          <a:p>
            <a:pPr algn="l"/>
            <a:r>
              <a:rPr b="1" sz="2700" i="0" u="none">
                <a:solidFill>
                  <a:srgbClr val="1C1917"/>
                </a:solidFill>
                <a:latin typeface="Merriweather"/>
              </a:rPr>
              <a:t>Làn Sóng Thành Lập Đảng (1918 - 1930)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286500" y="1419225"/>
            <a:ext cx="5295900" cy="4829175"/>
          </a:xfrm>
          <a:prstGeom prst="roundRect">
            <a:avLst>
              <a:gd name="adj" fmla="val 1577"/>
            </a:avLst>
          </a:prstGeom>
          <a:solidFill>
            <a:srgbClr val="E7E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86500" y="5753100"/>
            <a:ext cx="5295900" cy="495300"/>
          </a:xfrm>
          <a:prstGeom prst="rect">
            <a:avLst/>
          </a:prstGeom>
          <a:solidFill>
            <a:srgbClr val="454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6286500" y="1419225"/>
            <a:ext cx="5295900" cy="4829175"/>
          </a:xfrm>
          <a:prstGeom prst="rect">
            <a:avLst/>
          </a:prstGeom>
        </p:spPr>
      </p:pic>
      <p:sp>
        <p:nvSpPr>
          <p:cNvPr id="5" name="TextBox 4"/>
          <p:cNvSpPr txBox="1"/>
          <p:nvPr/>
        </p:nvSpPr>
        <p:spPr>
          <a:xfrm>
            <a:off x="609600" y="609600"/>
            <a:ext cx="11582400" cy="428625"/>
          </a:xfrm>
          <a:prstGeom prst="rect">
            <a:avLst/>
          </a:prstGeom>
          <a:noFill/>
        </p:spPr>
        <p:txBody>
          <a:bodyPr wrap="none" lIns="0" rIns="0" tIns="0" bIns="0" anchor="t">
            <a:spAutoFit/>
          </a:bodyPr>
          <a:lstStyle/>
          <a:p>
            <a:pPr algn="l"/>
            <a:r>
              <a:rPr b="1" sz="2700" i="0" u="none">
                <a:solidFill>
                  <a:srgbClr val="1C1917"/>
                </a:solidFill>
                <a:latin typeface="Merriweather"/>
              </a:rPr>
              <a:t>Khái Quát Hình Thành Tại Châu Âu</a:t>
            </a:r>
          </a:p>
        </p:txBody>
      </p:sp>
      <p:sp>
        <p:nvSpPr>
          <p:cNvPr id="6" name="TextBox 5"/>
          <p:cNvSpPr txBox="1"/>
          <p:nvPr/>
        </p:nvSpPr>
        <p:spPr>
          <a:xfrm>
            <a:off x="5776912" y="5905500"/>
            <a:ext cx="6315075" cy="190500"/>
          </a:xfrm>
          <a:prstGeom prst="rect">
            <a:avLst/>
          </a:prstGeom>
          <a:noFill/>
        </p:spPr>
        <p:txBody>
          <a:bodyPr wrap="square" lIns="0" rIns="0" tIns="0" bIns="0" anchor="t">
            <a:spAutoFit/>
          </a:bodyPr>
          <a:lstStyle/>
          <a:p>
            <a:pPr algn="ctr"/>
            <a:r>
              <a:rPr b="0" sz="1200" i="0" u="none">
                <a:solidFill>
                  <a:srgbClr val="FFFFFF"/>
                </a:solidFill>
                <a:latin typeface="Inter"/>
              </a:rPr>
              <a:t>Đại hội Tours thành lập ĐCS Pháp (12/1920)</a:t>
            </a:r>
          </a:p>
        </p:txBody>
      </p:sp>
      <p:sp>
        <p:nvSpPr>
          <p:cNvPr id="7" name="TextBox 6"/>
          <p:cNvSpPr txBox="1"/>
          <p:nvPr/>
        </p:nvSpPr>
        <p:spPr>
          <a:xfrm>
            <a:off x="723900" y="2700516"/>
            <a:ext cx="114300" cy="381000"/>
          </a:xfrm>
          <a:prstGeom prst="rect">
            <a:avLst/>
          </a:prstGeom>
          <a:noFill/>
        </p:spPr>
        <p:txBody>
          <a:bodyPr wrap="none" lIns="0" rIns="0" tIns="0" bIns="0" anchor="t">
            <a:spAutoFit/>
          </a:bodyPr>
          <a:lstStyle/>
          <a:p>
            <a:pPr algn="l"/>
            <a:r>
              <a:rPr b="0" sz="1650" i="0" u="none">
                <a:solidFill>
                  <a:srgbClr val="1C1917"/>
                </a:solidFill>
                <a:latin typeface="Inter"/>
              </a:rPr>
              <a:t>•</a:t>
            </a:r>
          </a:p>
        </p:txBody>
      </p:sp>
      <p:sp>
        <p:nvSpPr>
          <p:cNvPr id="8" name="TextBox 7"/>
          <p:cNvSpPr txBox="1"/>
          <p:nvPr/>
        </p:nvSpPr>
        <p:spPr>
          <a:xfrm>
            <a:off x="838200" y="2702421"/>
            <a:ext cx="6334125" cy="377130"/>
          </a:xfrm>
          <a:prstGeom prst="rect">
            <a:avLst/>
          </a:prstGeom>
          <a:noFill/>
        </p:spPr>
        <p:txBody>
          <a:bodyPr wrap="none" lIns="114300" rIns="0" tIns="0" bIns="0" anchor="t">
            <a:spAutoFit/>
          </a:bodyPr>
          <a:lstStyle/>
          <a:p>
            <a:pPr algn="l">
              <a:lnSpc>
                <a:spcPts val="2970"/>
              </a:lnSpc>
            </a:pPr>
            <a:r>
              <a:rPr b="0" sz="1650" i="0" u="none">
                <a:solidFill>
                  <a:srgbClr val="1C1917"/>
                </a:solidFill>
                <a:latin typeface="Inter"/>
              </a:rPr>
              <a:t>Giai đoạn công nghiệp hóa, CNTB phát triển.</a:t>
            </a:r>
          </a:p>
        </p:txBody>
      </p:sp>
      <p:sp>
        <p:nvSpPr>
          <p:cNvPr id="9" name="TextBox 8"/>
          <p:cNvSpPr txBox="1"/>
          <p:nvPr/>
        </p:nvSpPr>
        <p:spPr>
          <a:xfrm>
            <a:off x="723900" y="3077646"/>
            <a:ext cx="114300" cy="381000"/>
          </a:xfrm>
          <a:prstGeom prst="rect">
            <a:avLst/>
          </a:prstGeom>
          <a:noFill/>
        </p:spPr>
        <p:txBody>
          <a:bodyPr wrap="none" lIns="0" rIns="0" tIns="0" bIns="0" anchor="t">
            <a:spAutoFit/>
          </a:bodyPr>
          <a:lstStyle/>
          <a:p>
            <a:pPr algn="l"/>
            <a:r>
              <a:rPr b="0" sz="1650" i="0" u="none">
                <a:solidFill>
                  <a:srgbClr val="1C1917"/>
                </a:solidFill>
                <a:latin typeface="Inter"/>
              </a:rPr>
              <a:t>•</a:t>
            </a:r>
          </a:p>
        </p:txBody>
      </p:sp>
      <p:sp>
        <p:nvSpPr>
          <p:cNvPr id="10" name="TextBox 9"/>
          <p:cNvSpPr txBox="1"/>
          <p:nvPr/>
        </p:nvSpPr>
        <p:spPr>
          <a:xfrm>
            <a:off x="838200" y="3079551"/>
            <a:ext cx="5162550" cy="754260"/>
          </a:xfrm>
          <a:prstGeom prst="rect">
            <a:avLst/>
          </a:prstGeom>
          <a:noFill/>
        </p:spPr>
        <p:txBody>
          <a:bodyPr wrap="square" lIns="114300" rIns="0" tIns="0" bIns="0" anchor="t">
            <a:spAutoFit/>
          </a:bodyPr>
          <a:lstStyle/>
          <a:p>
            <a:pPr algn="l">
              <a:lnSpc>
                <a:spcPts val="2970"/>
              </a:lnSpc>
            </a:pPr>
            <a:r>
              <a:rPr b="0" sz="1650" i="0" u="none">
                <a:solidFill>
                  <a:srgbClr val="1C1917"/>
                </a:solidFill>
                <a:latin typeface="Inter"/>
              </a:rPr>
              <a:t>Thế chiến I làm mâu thuẫn </a:t>
            </a:r>
            <a:r>
              <a:rPr b="1" sz="1650" i="0" u="none">
                <a:solidFill>
                  <a:srgbClr val="1C1917"/>
                </a:solidFill>
                <a:latin typeface="Inter"/>
              </a:rPr>
              <a:t>vô sản – tư sản</a:t>
            </a:r>
            <a:r>
              <a:rPr b="0" sz="1650" i="0" u="none">
                <a:solidFill>
                  <a:srgbClr val="1C1917"/>
                </a:solidFill>
                <a:latin typeface="Inter"/>
              </a:rPr>
              <a:t> cực kỳ sâu sắc.</a:t>
            </a:r>
          </a:p>
        </p:txBody>
      </p:sp>
      <p:sp>
        <p:nvSpPr>
          <p:cNvPr id="11" name="TextBox 10"/>
          <p:cNvSpPr txBox="1"/>
          <p:nvPr/>
        </p:nvSpPr>
        <p:spPr>
          <a:xfrm>
            <a:off x="723900" y="3831907"/>
            <a:ext cx="114300" cy="381000"/>
          </a:xfrm>
          <a:prstGeom prst="rect">
            <a:avLst/>
          </a:prstGeom>
          <a:noFill/>
        </p:spPr>
        <p:txBody>
          <a:bodyPr wrap="none" lIns="0" rIns="0" tIns="0" bIns="0" anchor="t">
            <a:spAutoFit/>
          </a:bodyPr>
          <a:lstStyle/>
          <a:p>
            <a:pPr algn="l"/>
            <a:r>
              <a:rPr b="0" sz="1650" i="0" u="none">
                <a:solidFill>
                  <a:srgbClr val="1C1917"/>
                </a:solidFill>
                <a:latin typeface="Inter"/>
              </a:rPr>
              <a:t>•</a:t>
            </a:r>
          </a:p>
        </p:txBody>
      </p:sp>
      <p:sp>
        <p:nvSpPr>
          <p:cNvPr id="12" name="TextBox 11"/>
          <p:cNvSpPr txBox="1"/>
          <p:nvPr/>
        </p:nvSpPr>
        <p:spPr>
          <a:xfrm>
            <a:off x="838200" y="3833812"/>
            <a:ext cx="5162550" cy="754260"/>
          </a:xfrm>
          <a:prstGeom prst="rect">
            <a:avLst/>
          </a:prstGeom>
          <a:noFill/>
        </p:spPr>
        <p:txBody>
          <a:bodyPr wrap="square" lIns="114300" rIns="0" tIns="0" bIns="0" anchor="t">
            <a:spAutoFit/>
          </a:bodyPr>
          <a:lstStyle/>
          <a:p>
            <a:pPr algn="l">
              <a:lnSpc>
                <a:spcPts val="2970"/>
              </a:lnSpc>
            </a:pPr>
            <a:r>
              <a:rPr b="0" sz="1650" i="0" u="none">
                <a:solidFill>
                  <a:srgbClr val="1C1917"/>
                </a:solidFill>
                <a:latin typeface="Inter"/>
              </a:rPr>
              <a:t>Tác động của Cách mạng Tháng Mười (1917) &amp; Quốc tế Cộng sản (1919).</a:t>
            </a:r>
          </a:p>
        </p:txBody>
      </p:sp>
      <p:sp>
        <p:nvSpPr>
          <p:cNvPr id="13" name="TextBox 12"/>
          <p:cNvSpPr txBox="1"/>
          <p:nvPr/>
        </p:nvSpPr>
        <p:spPr>
          <a:xfrm>
            <a:off x="723900" y="4586168"/>
            <a:ext cx="114300" cy="381000"/>
          </a:xfrm>
          <a:prstGeom prst="rect">
            <a:avLst/>
          </a:prstGeom>
          <a:noFill/>
        </p:spPr>
        <p:txBody>
          <a:bodyPr wrap="none" lIns="0" rIns="0" tIns="0" bIns="0" anchor="t">
            <a:spAutoFit/>
          </a:bodyPr>
          <a:lstStyle/>
          <a:p>
            <a:pPr algn="l"/>
            <a:r>
              <a:rPr b="0" sz="1650" i="0" u="none">
                <a:solidFill>
                  <a:srgbClr val="1C1917"/>
                </a:solidFill>
                <a:latin typeface="Inter"/>
              </a:rPr>
              <a:t>•</a:t>
            </a:r>
          </a:p>
        </p:txBody>
      </p:sp>
      <p:sp>
        <p:nvSpPr>
          <p:cNvPr id="14" name="TextBox 13"/>
          <p:cNvSpPr txBox="1"/>
          <p:nvPr/>
        </p:nvSpPr>
        <p:spPr>
          <a:xfrm>
            <a:off x="838200" y="4588073"/>
            <a:ext cx="6334125" cy="377130"/>
          </a:xfrm>
          <a:prstGeom prst="rect">
            <a:avLst/>
          </a:prstGeom>
          <a:noFill/>
        </p:spPr>
        <p:txBody>
          <a:bodyPr wrap="none" lIns="114300" rIns="0" tIns="0" bIns="0" anchor="t">
            <a:spAutoFit/>
          </a:bodyPr>
          <a:lstStyle/>
          <a:p>
            <a:pPr algn="l">
              <a:lnSpc>
                <a:spcPts val="2970"/>
              </a:lnSpc>
            </a:pPr>
            <a:r>
              <a:rPr b="0" sz="1650" i="0" u="none">
                <a:solidFill>
                  <a:srgbClr val="1C1917"/>
                </a:solidFill>
                <a:latin typeface="Inter"/>
              </a:rPr>
              <a:t>Sự truyền bá sâu rộng Chủ nghĩa Mác-Lênin.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286500" y="1419225"/>
            <a:ext cx="5295900" cy="4829175"/>
          </a:xfrm>
          <a:prstGeom prst="roundRect">
            <a:avLst>
              <a:gd name="adj" fmla="val 1577"/>
            </a:avLst>
          </a:prstGeom>
          <a:solidFill>
            <a:srgbClr val="E7E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86500" y="5753100"/>
            <a:ext cx="5295900" cy="495300"/>
          </a:xfrm>
          <a:prstGeom prst="rect">
            <a:avLst/>
          </a:prstGeom>
          <a:solidFill>
            <a:srgbClr val="4545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6286500" y="1419225"/>
            <a:ext cx="5295900" cy="4829175"/>
          </a:xfrm>
          <a:prstGeom prst="rect">
            <a:avLst/>
          </a:prstGeom>
        </p:spPr>
      </p:pic>
      <p:graphicFrame>
        <p:nvGraphicFramePr>
          <p:cNvPr id="5" name="Table 4"/>
          <p:cNvGraphicFramePr>
            <a:graphicFrameLocks noGrp="1"/>
          </p:cNvGraphicFramePr>
          <p:nvPr/>
        </p:nvGraphicFramePr>
        <p:xfrm>
          <a:off x="609600" y="2105025"/>
          <a:ext cx="5286374" cy="2581275"/>
        </p:xfrm>
        <a:graphic>
          <a:graphicData uri="http://schemas.openxmlformats.org/drawingml/2006/table">
            <a:tbl>
              <a:tblPr firstRow="0" bandRow="0">
                <a:lnL>
                  <a:noFill/>
                </a:lnL>
                <a:lnR>
                  <a:noFill/>
                </a:lnR>
                <a:lnT>
                  <a:noFill/>
                </a:lnT>
                <a:lnB>
                  <a:noFill/>
                </a:lnB>
                <a:lnV>
                  <a:noFill/>
                </a:lnV>
                <a:lnH>
                  <a:noFill/>
                </a:lnH>
              </a:tblPr>
              <a:tblGrid>
                <a:gridCol w="1309389"/>
                <a:gridCol w="3976985"/>
              </a:tblGrid>
              <a:tr h="516255">
                <a:tc>
                  <a:txBody>
                    <a:bodyPr/>
                    <a:lstStyle/>
                    <a:p>
                      <a:pPr algn="l"/>
                      <a:r>
                        <a:rPr b="1" sz="1350" i="0" u="none">
                          <a:solidFill>
                            <a:srgbClr val="1C1917"/>
                          </a:solidFill>
                          <a:latin typeface="Inter"/>
                        </a:rPr>
                        <a:t>Nước</a:t>
                      </a:r>
                    </a:p>
                  </a:txBody>
                  <a:tcPr anchor="ctr" marL="63500" marR="63500" marT="25400" marB="25400">
                    <a:lnL>
                      <a:noFill/>
                    </a:lnL>
                    <a:lnR>
                      <a:noFill/>
                    </a:lnR>
                    <a:lnT>
                      <a:noFill/>
                    </a:lnT>
                    <a:lnB>
                      <a:noFill/>
                    </a:lnB>
                    <a:solidFill>
                      <a:srgbClr val="F5F5F4"/>
                    </a:solidFill>
                  </a:tcPr>
                </a:tc>
                <a:tc>
                  <a:txBody>
                    <a:bodyPr/>
                    <a:lstStyle/>
                    <a:p>
                      <a:pPr algn="l"/>
                      <a:r>
                        <a:rPr b="1" sz="1350" i="0" u="none">
                          <a:solidFill>
                            <a:srgbClr val="1C1917"/>
                          </a:solidFill>
                          <a:latin typeface="Inter"/>
                        </a:rPr>
                        <a:t>Xuất phát tiền thân</a:t>
                      </a:r>
                    </a:p>
                  </a:txBody>
                  <a:tcPr anchor="ctr" marL="63500" marR="63500" marT="25400" marB="25400">
                    <a:lnL>
                      <a:noFill/>
                    </a:lnL>
                    <a:lnR>
                      <a:noFill/>
                    </a:lnR>
                    <a:lnT>
                      <a:noFill/>
                    </a:lnT>
                    <a:lnB>
                      <a:noFill/>
                    </a:lnB>
                    <a:solidFill>
                      <a:srgbClr val="F5F5F4"/>
                    </a:solidFill>
                  </a:tcPr>
                </a:tc>
              </a:tr>
              <a:tr h="516255">
                <a:tc>
                  <a:txBody>
                    <a:bodyPr/>
                    <a:lstStyle/>
                    <a:p>
                      <a:pPr algn="l"/>
                      <a:r>
                        <a:rPr b="0" sz="1350" i="0" u="none">
                          <a:solidFill>
                            <a:srgbClr val="57534E"/>
                          </a:solidFill>
                          <a:latin typeface="Inter"/>
                        </a:rPr>
                        <a:t>Trung Quốc</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57534E"/>
                          </a:solidFill>
                          <a:latin typeface="Inter"/>
                        </a:rPr>
                        <a:t>Trí thức cấp tiến sau PT Ngũ Tứ.</a:t>
                      </a:r>
                    </a:p>
                  </a:txBody>
                  <a:tcPr anchor="ctr" marL="63500" marR="63500" marT="25400" marB="25400">
                    <a:lnL>
                      <a:noFill/>
                    </a:lnL>
                    <a:lnR>
                      <a:noFill/>
                    </a:lnR>
                    <a:lnT>
                      <a:noFill/>
                    </a:lnT>
                    <a:lnB>
                      <a:noFill/>
                    </a:lnB>
                    <a:solidFill>
                      <a:srgbClr val="FFFFFF"/>
                    </a:solidFill>
                  </a:tcPr>
                </a:tc>
              </a:tr>
              <a:tr h="516255">
                <a:tc>
                  <a:txBody>
                    <a:bodyPr/>
                    <a:lstStyle/>
                    <a:p>
                      <a:pPr algn="l"/>
                      <a:r>
                        <a:rPr b="0" sz="1350" i="0" u="none">
                          <a:solidFill>
                            <a:srgbClr val="57534E"/>
                          </a:solidFill>
                          <a:latin typeface="Inter"/>
                        </a:rPr>
                        <a:t>Inđônêxia</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57534E"/>
                          </a:solidFill>
                          <a:latin typeface="Inter"/>
                        </a:rPr>
                        <a:t>Nhóm ISDV, trong Sarekat Islam.</a:t>
                      </a:r>
                    </a:p>
                  </a:txBody>
                  <a:tcPr anchor="ctr" marL="63500" marR="63500" marT="25400" marB="25400">
                    <a:lnL>
                      <a:noFill/>
                    </a:lnL>
                    <a:lnR>
                      <a:noFill/>
                    </a:lnR>
                    <a:lnT>
                      <a:noFill/>
                    </a:lnT>
                    <a:lnB>
                      <a:noFill/>
                    </a:lnB>
                    <a:solidFill>
                      <a:srgbClr val="FFFFFF"/>
                    </a:solidFill>
                  </a:tcPr>
                </a:tc>
              </a:tr>
              <a:tr h="516255">
                <a:tc>
                  <a:txBody>
                    <a:bodyPr/>
                    <a:lstStyle/>
                    <a:p>
                      <a:pPr algn="l"/>
                      <a:r>
                        <a:rPr b="0" sz="1350" i="0" u="none">
                          <a:solidFill>
                            <a:srgbClr val="57534E"/>
                          </a:solidFill>
                          <a:latin typeface="Inter"/>
                        </a:rPr>
                        <a:t>Nhật Bản</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57534E"/>
                          </a:solidFill>
                          <a:latin typeface="Inter"/>
                        </a:rPr>
                        <a:t>Các nhóm xã hội chủ nghĩa (Nước đế quốc).</a:t>
                      </a:r>
                    </a:p>
                  </a:txBody>
                  <a:tcPr anchor="ctr" marL="63500" marR="63500" marT="25400" marB="25400">
                    <a:lnL>
                      <a:noFill/>
                    </a:lnL>
                    <a:lnR>
                      <a:noFill/>
                    </a:lnR>
                    <a:lnT>
                      <a:noFill/>
                    </a:lnT>
                    <a:lnB>
                      <a:noFill/>
                    </a:lnB>
                    <a:solidFill>
                      <a:srgbClr val="FFFFFF"/>
                    </a:solidFill>
                  </a:tcPr>
                </a:tc>
              </a:tr>
              <a:tr h="516255">
                <a:tc>
                  <a:txBody>
                    <a:bodyPr/>
                    <a:lstStyle/>
                    <a:p>
                      <a:pPr algn="l"/>
                      <a:r>
                        <a:rPr b="0" sz="1350" i="0" u="none">
                          <a:solidFill>
                            <a:srgbClr val="57534E"/>
                          </a:solidFill>
                          <a:latin typeface="Inter"/>
                        </a:rPr>
                        <a:t>Úc</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57534E"/>
                          </a:solidFill>
                          <a:latin typeface="Inter"/>
                        </a:rPr>
                        <a:t>Thành viên tổ chức XHCN sẵn có.</a:t>
                      </a:r>
                    </a:p>
                  </a:txBody>
                  <a:tcPr anchor="ctr" marL="63500" marR="63500" marT="25400" marB="25400">
                    <a:lnL>
                      <a:noFill/>
                    </a:lnL>
                    <a:lnR>
                      <a:noFill/>
                    </a:lnR>
                    <a:lnT>
                      <a:noFill/>
                    </a:lnT>
                    <a:lnB>
                      <a:noFill/>
                    </a:lnB>
                    <a:solidFill>
                      <a:srgbClr val="FFFFFF"/>
                    </a:solidFill>
                  </a:tcPr>
                </a:tc>
              </a:tr>
            </a:tbl>
          </a:graphicData>
        </a:graphic>
      </p:graphicFrame>
      <p:sp>
        <p:nvSpPr>
          <p:cNvPr id="6" name="TextBox 5"/>
          <p:cNvSpPr txBox="1"/>
          <p:nvPr/>
        </p:nvSpPr>
        <p:spPr>
          <a:xfrm>
            <a:off x="609600" y="609600"/>
            <a:ext cx="11582400" cy="428625"/>
          </a:xfrm>
          <a:prstGeom prst="rect">
            <a:avLst/>
          </a:prstGeom>
          <a:noFill/>
        </p:spPr>
        <p:txBody>
          <a:bodyPr wrap="none" lIns="0" rIns="0" tIns="0" bIns="0" anchor="t">
            <a:spAutoFit/>
          </a:bodyPr>
          <a:lstStyle/>
          <a:p>
            <a:pPr algn="l"/>
            <a:r>
              <a:rPr b="1" sz="2700" i="0" u="none">
                <a:solidFill>
                  <a:srgbClr val="1C1917"/>
                </a:solidFill>
                <a:latin typeface="Merriweather"/>
              </a:rPr>
              <a:t>Hình Thành Tại Châu Á - Thái Bình Dương</a:t>
            </a:r>
          </a:p>
        </p:txBody>
      </p:sp>
      <p:sp>
        <p:nvSpPr>
          <p:cNvPr id="7" name="TextBox 6"/>
          <p:cNvSpPr txBox="1"/>
          <p:nvPr/>
        </p:nvSpPr>
        <p:spPr>
          <a:xfrm>
            <a:off x="609600" y="1419225"/>
            <a:ext cx="5391150" cy="457200"/>
          </a:xfrm>
          <a:prstGeom prst="rect">
            <a:avLst/>
          </a:prstGeom>
          <a:noFill/>
        </p:spPr>
        <p:txBody>
          <a:bodyPr wrap="square" lIns="0" rIns="0" tIns="0" bIns="0" anchor="t">
            <a:spAutoFit/>
          </a:bodyPr>
          <a:lstStyle/>
          <a:p>
            <a:pPr algn="l"/>
            <a:r>
              <a:rPr b="0" sz="1500" i="0" u="none">
                <a:solidFill>
                  <a:srgbClr val="1C1917"/>
                </a:solidFill>
                <a:latin typeface="Inter"/>
              </a:rPr>
              <a:t>Phong trào giải phóng dân tộc rộng khắp. Quốc tế Cộng sản định hướng vấn đề thuộc địa.</a:t>
            </a:r>
          </a:p>
        </p:txBody>
      </p:sp>
      <p:sp>
        <p:nvSpPr>
          <p:cNvPr id="8" name="TextBox 7"/>
          <p:cNvSpPr txBox="1"/>
          <p:nvPr/>
        </p:nvSpPr>
        <p:spPr>
          <a:xfrm>
            <a:off x="5776912" y="5905500"/>
            <a:ext cx="6315075" cy="190500"/>
          </a:xfrm>
          <a:prstGeom prst="rect">
            <a:avLst/>
          </a:prstGeom>
          <a:noFill/>
        </p:spPr>
        <p:txBody>
          <a:bodyPr wrap="square" lIns="0" rIns="0" tIns="0" bIns="0" anchor="t">
            <a:spAutoFit/>
          </a:bodyPr>
          <a:lstStyle/>
          <a:p>
            <a:pPr algn="ctr"/>
            <a:r>
              <a:rPr b="0" sz="1200" i="0" u="none">
                <a:solidFill>
                  <a:srgbClr val="FFFFFF"/>
                </a:solidFill>
                <a:latin typeface="Inter"/>
              </a:rPr>
              <a:t>ĐCS Trung Quốc thành lập (1921)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1266825"/>
            <a:ext cx="10972800" cy="4981575"/>
          </a:xfrm>
          <a:prstGeom prst="roundRect">
            <a:avLst>
              <a:gd name="adj" fmla="val 1529"/>
            </a:avLst>
          </a:prstGeom>
          <a:no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3" name="Table 2"/>
          <p:cNvGraphicFramePr>
            <a:graphicFrameLocks noGrp="1"/>
          </p:cNvGraphicFramePr>
          <p:nvPr/>
        </p:nvGraphicFramePr>
        <p:xfrm>
          <a:off x="619125" y="1276350"/>
          <a:ext cx="10944224" cy="3390900"/>
        </p:xfrm>
        <a:graphic>
          <a:graphicData uri="http://schemas.openxmlformats.org/drawingml/2006/table">
            <a:tbl>
              <a:tblPr firstRow="0" bandRow="0">
                <a:lnL>
                  <a:noFill/>
                </a:lnL>
                <a:lnR>
                  <a:noFill/>
                </a:lnR>
                <a:lnT>
                  <a:noFill/>
                </a:lnT>
                <a:lnB>
                  <a:noFill/>
                </a:lnB>
                <a:lnV>
                  <a:noFill/>
                </a:lnV>
                <a:lnH>
                  <a:noFill/>
                </a:lnH>
              </a:tblPr>
              <a:tblGrid>
                <a:gridCol w="2188815"/>
                <a:gridCol w="2736056"/>
                <a:gridCol w="2736056"/>
                <a:gridCol w="3283297"/>
              </a:tblGrid>
              <a:tr h="678180">
                <a:tc>
                  <a:txBody>
                    <a:bodyPr/>
                    <a:lstStyle/>
                    <a:p>
                      <a:pPr algn="l"/>
                      <a:r>
                        <a:rPr b="1" sz="1350" i="0" u="none">
                          <a:solidFill>
                            <a:srgbClr val="1C1917"/>
                          </a:solidFill>
                          <a:latin typeface="Inter"/>
                        </a:rPr>
                        <a:t>Tiêu chí</a:t>
                      </a:r>
                    </a:p>
                  </a:txBody>
                  <a:tcPr anchor="ctr" marL="63500" marR="63500" marT="25400" marB="25400">
                    <a:lnL>
                      <a:noFill/>
                    </a:lnL>
                    <a:lnR>
                      <a:noFill/>
                    </a:lnR>
                    <a:lnT>
                      <a:noFill/>
                    </a:lnT>
                    <a:lnB>
                      <a:noFill/>
                    </a:lnB>
                    <a:solidFill>
                      <a:srgbClr val="F5F5F4"/>
                    </a:solidFill>
                  </a:tcPr>
                </a:tc>
                <a:tc>
                  <a:txBody>
                    <a:bodyPr/>
                    <a:lstStyle/>
                    <a:p>
                      <a:pPr algn="l"/>
                      <a:r>
                        <a:rPr b="1" sz="1350" i="0" u="none">
                          <a:solidFill>
                            <a:srgbClr val="B91C1C"/>
                          </a:solidFill>
                          <a:latin typeface="Inter"/>
                        </a:rPr>
                        <a:t>Việt Nam</a:t>
                      </a:r>
                    </a:p>
                  </a:txBody>
                  <a:tcPr anchor="ctr" marL="63500" marR="63500" marT="25400" marB="25400">
                    <a:lnL>
                      <a:noFill/>
                    </a:lnL>
                    <a:lnR>
                      <a:noFill/>
                    </a:lnR>
                    <a:lnT>
                      <a:noFill/>
                    </a:lnT>
                    <a:lnB>
                      <a:noFill/>
                    </a:lnB>
                    <a:solidFill>
                      <a:srgbClr val="FEE2E2"/>
                    </a:solidFill>
                  </a:tcPr>
                </a:tc>
                <a:tc>
                  <a:txBody>
                    <a:bodyPr/>
                    <a:lstStyle/>
                    <a:p>
                      <a:pPr algn="l"/>
                      <a:r>
                        <a:rPr b="1" sz="1350" i="0" u="none">
                          <a:solidFill>
                            <a:srgbClr val="1C1917"/>
                          </a:solidFill>
                          <a:latin typeface="Inter"/>
                        </a:rPr>
                        <a:t>Pháp, Đức (Chính quốc)</a:t>
                      </a:r>
                    </a:p>
                  </a:txBody>
                  <a:tcPr anchor="ctr" marL="63500" marR="63500" marT="25400" marB="25400">
                    <a:lnL>
                      <a:noFill/>
                    </a:lnL>
                    <a:lnR>
                      <a:noFill/>
                    </a:lnR>
                    <a:lnT>
                      <a:noFill/>
                    </a:lnT>
                    <a:lnB>
                      <a:noFill/>
                    </a:lnB>
                    <a:solidFill>
                      <a:srgbClr val="F5F5F4"/>
                    </a:solidFill>
                  </a:tcPr>
                </a:tc>
                <a:tc>
                  <a:txBody>
                    <a:bodyPr/>
                    <a:lstStyle/>
                    <a:p>
                      <a:pPr algn="l"/>
                      <a:r>
                        <a:rPr b="1" sz="1350" i="0" u="none">
                          <a:solidFill>
                            <a:srgbClr val="1C1917"/>
                          </a:solidFill>
                          <a:latin typeface="Inter"/>
                        </a:rPr>
                        <a:t>TQ, Inđô, Nhật, Úc</a:t>
                      </a:r>
                    </a:p>
                  </a:txBody>
                  <a:tcPr anchor="ctr" marL="63500" marR="63500" marT="25400" marB="25400">
                    <a:lnL>
                      <a:noFill/>
                    </a:lnL>
                    <a:lnR>
                      <a:noFill/>
                    </a:lnR>
                    <a:lnT>
                      <a:noFill/>
                    </a:lnT>
                    <a:lnB>
                      <a:noFill/>
                    </a:lnB>
                    <a:solidFill>
                      <a:srgbClr val="F5F5F4"/>
                    </a:solidFill>
                  </a:tcPr>
                </a:tc>
              </a:tr>
              <a:tr h="678180">
                <a:tc>
                  <a:txBody>
                    <a:bodyPr/>
                    <a:lstStyle/>
                    <a:p>
                      <a:pPr algn="l"/>
                      <a:r>
                        <a:rPr b="1" sz="1350" i="0" u="none">
                          <a:solidFill>
                            <a:srgbClr val="57534E"/>
                          </a:solidFill>
                          <a:latin typeface="Inter"/>
                        </a:rPr>
                        <a:t>Bối cảnh</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57534E"/>
                          </a:solidFill>
                          <a:latin typeface="Inter"/>
                        </a:rPr>
                        <a:t>Thuộc địa nửa phong kiến. Mâu thuẫn </a:t>
                      </a:r>
                      <a:r>
                        <a:rPr b="1" sz="1350" i="0" u="none">
                          <a:solidFill>
                            <a:srgbClr val="57534E"/>
                          </a:solidFill>
                          <a:latin typeface="Inter"/>
                        </a:rPr>
                        <a:t>Dân tộc</a:t>
                      </a:r>
                      <a:r>
                        <a:rPr b="0" sz="1350" i="0" u="none">
                          <a:solidFill>
                            <a:srgbClr val="57534E"/>
                          </a:solidFill>
                          <a:latin typeface="Inter"/>
                        </a:rPr>
                        <a:t>.</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57534E"/>
                          </a:solidFill>
                          <a:latin typeface="Inter"/>
                        </a:rPr>
                        <a:t>Chính quốc tư bản. Mâu thuẫn </a:t>
                      </a:r>
                      <a:r>
                        <a:rPr b="1" sz="1350" i="0" u="none">
                          <a:solidFill>
                            <a:srgbClr val="57534E"/>
                          </a:solidFill>
                          <a:latin typeface="Inter"/>
                        </a:rPr>
                        <a:t>Giai cấp</a:t>
                      </a:r>
                      <a:r>
                        <a:rPr b="0" sz="1350" i="0" u="none">
                          <a:solidFill>
                            <a:srgbClr val="57534E"/>
                          </a:solidFill>
                          <a:latin typeface="Inter"/>
                        </a:rPr>
                        <a:t>.</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57534E"/>
                          </a:solidFill>
                          <a:latin typeface="Inter"/>
                        </a:rPr>
                        <a:t>Thuộc địa (TQ, Inđô) / Đế quốc (Nhật, Úc).</a:t>
                      </a:r>
                    </a:p>
                  </a:txBody>
                  <a:tcPr anchor="ctr" marL="63500" marR="63500" marT="25400" marB="25400">
                    <a:lnL>
                      <a:noFill/>
                    </a:lnL>
                    <a:lnR>
                      <a:noFill/>
                    </a:lnR>
                    <a:lnT>
                      <a:noFill/>
                    </a:lnT>
                    <a:lnB>
                      <a:noFill/>
                    </a:lnB>
                    <a:solidFill>
                      <a:srgbClr val="FFFFFF"/>
                    </a:solidFill>
                  </a:tcPr>
                </a:tc>
              </a:tr>
              <a:tr h="678180">
                <a:tc>
                  <a:txBody>
                    <a:bodyPr/>
                    <a:lstStyle/>
                    <a:p>
                      <a:pPr algn="l"/>
                      <a:r>
                        <a:rPr b="1" sz="1350" i="0" u="none">
                          <a:solidFill>
                            <a:srgbClr val="57534E"/>
                          </a:solidFill>
                          <a:latin typeface="Inter"/>
                        </a:rPr>
                        <a:t>Tiền thân</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57534E"/>
                          </a:solidFill>
                          <a:latin typeface="Inter"/>
                        </a:rPr>
                        <a:t>Hội VNCMTN → 3 tổ chức → Hợp nhất.</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57534E"/>
                          </a:solidFill>
                          <a:latin typeface="Inter"/>
                        </a:rPr>
                        <a:t>Phân liệt từ Đảng Xã hội có sẵn.</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57534E"/>
                          </a:solidFill>
                          <a:latin typeface="Inter"/>
                        </a:rPr>
                        <a:t>Nhóm trí thức / Tổ chức XHCN có sẵn.</a:t>
                      </a:r>
                    </a:p>
                  </a:txBody>
                  <a:tcPr anchor="ctr" marL="63500" marR="63500" marT="25400" marB="25400">
                    <a:lnL>
                      <a:noFill/>
                    </a:lnL>
                    <a:lnR>
                      <a:noFill/>
                    </a:lnR>
                    <a:lnT>
                      <a:noFill/>
                    </a:lnT>
                    <a:lnB>
                      <a:noFill/>
                    </a:lnB>
                    <a:solidFill>
                      <a:srgbClr val="FFFFFF"/>
                    </a:solidFill>
                  </a:tcPr>
                </a:tc>
              </a:tr>
              <a:tr h="678180">
                <a:tc>
                  <a:txBody>
                    <a:bodyPr/>
                    <a:lstStyle/>
                    <a:p>
                      <a:pPr algn="l"/>
                      <a:r>
                        <a:rPr b="1" sz="1350" i="0" u="none">
                          <a:solidFill>
                            <a:srgbClr val="57534E"/>
                          </a:solidFill>
                          <a:latin typeface="Inter"/>
                        </a:rPr>
                        <a:t>Cơ sở XH</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57534E"/>
                          </a:solidFill>
                          <a:latin typeface="Inter"/>
                        </a:rPr>
                        <a:t>PT Công nhân + PT Yêu nước.</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57534E"/>
                          </a:solidFill>
                          <a:latin typeface="Inter"/>
                        </a:rPr>
                        <a:t>PT Công nhân, Đảng xã hội.</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57534E"/>
                          </a:solidFill>
                          <a:latin typeface="Inter"/>
                        </a:rPr>
                        <a:t>PT Công nhân non yếu / PT Công đoàn.</a:t>
                      </a:r>
                    </a:p>
                  </a:txBody>
                  <a:tcPr anchor="ctr" marL="63500" marR="63500" marT="25400" marB="25400">
                    <a:lnL>
                      <a:noFill/>
                    </a:lnL>
                    <a:lnR>
                      <a:noFill/>
                    </a:lnR>
                    <a:lnT>
                      <a:noFill/>
                    </a:lnT>
                    <a:lnB>
                      <a:noFill/>
                    </a:lnB>
                    <a:solidFill>
                      <a:srgbClr val="FFFFFF"/>
                    </a:solidFill>
                  </a:tcPr>
                </a:tc>
              </a:tr>
              <a:tr h="678180">
                <a:tc>
                  <a:txBody>
                    <a:bodyPr/>
                    <a:lstStyle/>
                    <a:p>
                      <a:pPr algn="l"/>
                      <a:r>
                        <a:rPr b="1" sz="1350" i="0" u="none">
                          <a:solidFill>
                            <a:srgbClr val="57534E"/>
                          </a:solidFill>
                          <a:latin typeface="Inter"/>
                        </a:rPr>
                        <a:t>Nhiệm vụ</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57534E"/>
                          </a:solidFill>
                          <a:latin typeface="Inter"/>
                        </a:rPr>
                        <a:t>Chống đế quốc hàng đầu, gắn với giải phóng giai cấp.</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57534E"/>
                          </a:solidFill>
                          <a:latin typeface="Inter"/>
                        </a:rPr>
                        <a:t>Đấu tranh giai cấp.</a:t>
                      </a:r>
                    </a:p>
                  </a:txBody>
                  <a:tcPr anchor="ctr" marL="63500" marR="63500" marT="25400" marB="25400">
                    <a:lnL>
                      <a:noFill/>
                    </a:lnL>
                    <a:lnR>
                      <a:noFill/>
                    </a:lnR>
                    <a:lnT>
                      <a:noFill/>
                    </a:lnT>
                    <a:lnB>
                      <a:noFill/>
                    </a:lnB>
                    <a:solidFill>
                      <a:srgbClr val="FFFFFF"/>
                    </a:solidFill>
                  </a:tcPr>
                </a:tc>
                <a:tc>
                  <a:txBody>
                    <a:bodyPr/>
                    <a:lstStyle/>
                    <a:p>
                      <a:pPr algn="l"/>
                      <a:r>
                        <a:rPr b="0" sz="1350" i="0" u="none">
                          <a:solidFill>
                            <a:srgbClr val="57534E"/>
                          </a:solidFill>
                          <a:latin typeface="Inter"/>
                        </a:rPr>
                        <a:t>Giải phóng dân tộc (TQ) / Đấu tranh giai cấp (Nhật).</a:t>
                      </a:r>
                    </a:p>
                  </a:txBody>
                  <a:tcPr anchor="ctr" marL="63500" marR="63500" marT="25400" marB="25400">
                    <a:lnL>
                      <a:noFill/>
                    </a:lnL>
                    <a:lnR>
                      <a:noFill/>
                    </a:lnR>
                    <a:lnT>
                      <a:noFill/>
                    </a:lnT>
                    <a:lnB>
                      <a:noFill/>
                    </a:lnB>
                    <a:solidFill>
                      <a:srgbClr val="FFFFFF"/>
                    </a:solidFill>
                  </a:tcPr>
                </a:tc>
              </a:tr>
            </a:tbl>
          </a:graphicData>
        </a:graphic>
      </p:graphicFrame>
      <p:sp>
        <p:nvSpPr>
          <p:cNvPr id="4" name="TextBox 3"/>
          <p:cNvSpPr txBox="1"/>
          <p:nvPr/>
        </p:nvSpPr>
        <p:spPr>
          <a:xfrm>
            <a:off x="609600" y="609600"/>
            <a:ext cx="11582400" cy="428625"/>
          </a:xfrm>
          <a:prstGeom prst="rect">
            <a:avLst/>
          </a:prstGeom>
          <a:noFill/>
        </p:spPr>
        <p:txBody>
          <a:bodyPr wrap="none" lIns="0" rIns="0" tIns="0" bIns="0" anchor="t">
            <a:spAutoFit/>
          </a:bodyPr>
          <a:lstStyle/>
          <a:p>
            <a:pPr algn="l"/>
            <a:r>
              <a:rPr b="1" sz="2700" i="0" u="none">
                <a:solidFill>
                  <a:srgbClr val="1C1917"/>
                </a:solidFill>
                <a:latin typeface="Merriweather"/>
              </a:rPr>
              <a:t>Bảng So Sánh Toàn Diện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1419225"/>
            <a:ext cx="5334000" cy="48291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248400" y="1419225"/>
            <a:ext cx="5334000" cy="48291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1419225"/>
            <a:ext cx="5334000" cy="3810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248400" y="1419225"/>
            <a:ext cx="5334000" cy="3810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9600" y="609600"/>
            <a:ext cx="11582400" cy="428625"/>
          </a:xfrm>
          <a:prstGeom prst="rect">
            <a:avLst/>
          </a:prstGeom>
          <a:noFill/>
        </p:spPr>
        <p:txBody>
          <a:bodyPr wrap="none" lIns="0" rIns="0" tIns="0" bIns="0" anchor="t">
            <a:spAutoFit/>
          </a:bodyPr>
          <a:lstStyle/>
          <a:p>
            <a:pPr algn="l"/>
            <a:r>
              <a:rPr b="1" sz="2700" i="0" u="none">
                <a:solidFill>
                  <a:srgbClr val="1C1917"/>
                </a:solidFill>
                <a:latin typeface="Merriweather"/>
              </a:rPr>
              <a:t>Nhận Xét Chung</a:t>
            </a:r>
          </a:p>
        </p:txBody>
      </p:sp>
      <p:sp>
        <p:nvSpPr>
          <p:cNvPr id="7" name="TextBox 6"/>
          <p:cNvSpPr txBox="1"/>
          <p:nvPr/>
        </p:nvSpPr>
        <p:spPr>
          <a:xfrm>
            <a:off x="609600" y="1685925"/>
            <a:ext cx="7000875" cy="276225"/>
          </a:xfrm>
          <a:prstGeom prst="rect">
            <a:avLst/>
          </a:prstGeom>
          <a:noFill/>
        </p:spPr>
        <p:txBody>
          <a:bodyPr wrap="none" lIns="0" rIns="0" tIns="0" bIns="0" anchor="t">
            <a:spAutoFit/>
          </a:bodyPr>
          <a:lstStyle/>
          <a:p>
            <a:pPr algn="l"/>
            <a:r>
              <a:rPr b="1" sz="1800" i="0" u="none">
                <a:solidFill>
                  <a:srgbClr val="1C1917"/>
                </a:solidFill>
                <a:latin typeface="Inter"/>
              </a:rPr>
              <a:t>Điểm giống nhau</a:t>
            </a:r>
          </a:p>
        </p:txBody>
      </p:sp>
      <p:sp>
        <p:nvSpPr>
          <p:cNvPr id="8" name="TextBox 7"/>
          <p:cNvSpPr txBox="1"/>
          <p:nvPr/>
        </p:nvSpPr>
        <p:spPr>
          <a:xfrm>
            <a:off x="6248400" y="1685925"/>
            <a:ext cx="5943600" cy="276225"/>
          </a:xfrm>
          <a:prstGeom prst="rect">
            <a:avLst/>
          </a:prstGeom>
          <a:noFill/>
        </p:spPr>
        <p:txBody>
          <a:bodyPr wrap="none" lIns="0" rIns="0" tIns="0" bIns="0" anchor="t">
            <a:spAutoFit/>
          </a:bodyPr>
          <a:lstStyle/>
          <a:p>
            <a:pPr algn="l"/>
            <a:r>
              <a:rPr b="1" sz="1800" i="0" u="none">
                <a:solidFill>
                  <a:srgbClr val="1C1917"/>
                </a:solidFill>
                <a:latin typeface="Inter"/>
              </a:rPr>
              <a:t>Điểm khác biệt cốt lõi</a:t>
            </a:r>
          </a:p>
        </p:txBody>
      </p:sp>
      <p:sp>
        <p:nvSpPr>
          <p:cNvPr id="9" name="TextBox 8"/>
          <p:cNvSpPr txBox="1"/>
          <p:nvPr/>
        </p:nvSpPr>
        <p:spPr>
          <a:xfrm>
            <a:off x="6248400" y="2114550"/>
            <a:ext cx="5943600" cy="228600"/>
          </a:xfrm>
          <a:prstGeom prst="rect">
            <a:avLst/>
          </a:prstGeom>
          <a:noFill/>
        </p:spPr>
        <p:txBody>
          <a:bodyPr wrap="none" lIns="0" rIns="0" tIns="0" bIns="0" anchor="t">
            <a:spAutoFit/>
          </a:bodyPr>
          <a:lstStyle/>
          <a:p>
            <a:pPr algn="l"/>
            <a:r>
              <a:rPr b="1" sz="1500" i="0" u="none">
                <a:solidFill>
                  <a:srgbClr val="57534E"/>
                </a:solidFill>
                <a:latin typeface="Inter"/>
              </a:rPr>
              <a:t>Mâu thuẫn chủ yếu:</a:t>
            </a:r>
            <a:r>
              <a:rPr b="0" sz="1500" i="0" u="none">
                <a:solidFill>
                  <a:srgbClr val="57534E"/>
                </a:solidFill>
                <a:latin typeface="Inter"/>
              </a:rPr>
              <a:t> Giai cấp (Âu) vs Dân tộc (VN).</a:t>
            </a:r>
          </a:p>
        </p:txBody>
      </p:sp>
      <p:sp>
        <p:nvSpPr>
          <p:cNvPr id="10" name="TextBox 9"/>
          <p:cNvSpPr txBox="1"/>
          <p:nvPr/>
        </p:nvSpPr>
        <p:spPr>
          <a:xfrm>
            <a:off x="6248400" y="2457450"/>
            <a:ext cx="5943600" cy="228600"/>
          </a:xfrm>
          <a:prstGeom prst="rect">
            <a:avLst/>
          </a:prstGeom>
          <a:noFill/>
        </p:spPr>
        <p:txBody>
          <a:bodyPr wrap="none" lIns="0" rIns="0" tIns="0" bIns="0" anchor="t">
            <a:spAutoFit/>
          </a:bodyPr>
          <a:lstStyle/>
          <a:p>
            <a:pPr algn="l"/>
            <a:r>
              <a:rPr b="1" sz="1500" i="0" u="none">
                <a:solidFill>
                  <a:srgbClr val="57534E"/>
                </a:solidFill>
                <a:latin typeface="Inter"/>
              </a:rPr>
              <a:t>Tiền thân:</a:t>
            </a:r>
            <a:r>
              <a:rPr b="0" sz="1500" i="0" u="none">
                <a:solidFill>
                  <a:srgbClr val="57534E"/>
                </a:solidFill>
                <a:latin typeface="Inter"/>
              </a:rPr>
              <a:t> Đảng Xã hội (Âu) vs Tổ chức yêu nước (VN).</a:t>
            </a:r>
          </a:p>
        </p:txBody>
      </p:sp>
      <p:sp>
        <p:nvSpPr>
          <p:cNvPr id="11" name="TextBox 10"/>
          <p:cNvSpPr txBox="1"/>
          <p:nvPr/>
        </p:nvSpPr>
        <p:spPr>
          <a:xfrm>
            <a:off x="6248400" y="2800350"/>
            <a:ext cx="5943600" cy="228600"/>
          </a:xfrm>
          <a:prstGeom prst="rect">
            <a:avLst/>
          </a:prstGeom>
          <a:noFill/>
        </p:spPr>
        <p:txBody>
          <a:bodyPr wrap="none" lIns="0" rIns="0" tIns="0" bIns="0" anchor="t">
            <a:spAutoFit/>
          </a:bodyPr>
          <a:lstStyle/>
          <a:p>
            <a:pPr algn="l"/>
            <a:r>
              <a:rPr b="1" sz="1500" i="0" u="none">
                <a:solidFill>
                  <a:srgbClr val="B91C1C"/>
                </a:solidFill>
                <a:latin typeface="Inter"/>
              </a:rPr>
              <a:t>Yếu tố PT Yêu nước: Không có (Âu) vs Bắt buộc (VN).</a:t>
            </a:r>
          </a:p>
        </p:txBody>
      </p:sp>
      <p:sp>
        <p:nvSpPr>
          <p:cNvPr id="12" name="TextBox 11"/>
          <p:cNvSpPr txBox="1"/>
          <p:nvPr/>
        </p:nvSpPr>
        <p:spPr>
          <a:xfrm>
            <a:off x="733425" y="2114550"/>
            <a:ext cx="104775" cy="304800"/>
          </a:xfrm>
          <a:prstGeom prst="rect">
            <a:avLst/>
          </a:prstGeom>
          <a:noFill/>
        </p:spPr>
        <p:txBody>
          <a:bodyPr wrap="none" lIns="0" rIns="0" tIns="0" bIns="0" anchor="t">
            <a:spAutoFit/>
          </a:bodyPr>
          <a:lstStyle/>
          <a:p>
            <a:pPr algn="l"/>
            <a:r>
              <a:rPr b="0" sz="1500" i="0" u="none">
                <a:solidFill>
                  <a:srgbClr val="57534E"/>
                </a:solidFill>
                <a:latin typeface="Inter"/>
              </a:rPr>
              <a:t>•</a:t>
            </a:r>
          </a:p>
        </p:txBody>
      </p:sp>
      <p:sp>
        <p:nvSpPr>
          <p:cNvPr id="13" name="TextBox 12"/>
          <p:cNvSpPr txBox="1"/>
          <p:nvPr/>
        </p:nvSpPr>
        <p:spPr>
          <a:xfrm>
            <a:off x="838200" y="2114550"/>
            <a:ext cx="6381750" cy="304800"/>
          </a:xfrm>
          <a:prstGeom prst="rect">
            <a:avLst/>
          </a:prstGeom>
          <a:noFill/>
        </p:spPr>
        <p:txBody>
          <a:bodyPr wrap="none" lIns="104775" rIns="0" tIns="0" bIns="0" anchor="t">
            <a:spAutoFit/>
          </a:bodyPr>
          <a:lstStyle/>
          <a:p>
            <a:pPr algn="l">
              <a:lnSpc>
                <a:spcPts val="2400"/>
              </a:lnSpc>
            </a:pPr>
            <a:r>
              <a:rPr b="0" sz="1500" i="0" u="none">
                <a:solidFill>
                  <a:srgbClr val="57534E"/>
                </a:solidFill>
                <a:latin typeface="Inter"/>
              </a:rPr>
              <a:t>Nền tảng Mác-Lênin.</a:t>
            </a:r>
          </a:p>
        </p:txBody>
      </p:sp>
      <p:sp>
        <p:nvSpPr>
          <p:cNvPr id="14" name="TextBox 13"/>
          <p:cNvSpPr txBox="1"/>
          <p:nvPr/>
        </p:nvSpPr>
        <p:spPr>
          <a:xfrm>
            <a:off x="733425" y="2419350"/>
            <a:ext cx="104775" cy="304800"/>
          </a:xfrm>
          <a:prstGeom prst="rect">
            <a:avLst/>
          </a:prstGeom>
          <a:noFill/>
        </p:spPr>
        <p:txBody>
          <a:bodyPr wrap="none" lIns="0" rIns="0" tIns="0" bIns="0" anchor="t">
            <a:spAutoFit/>
          </a:bodyPr>
          <a:lstStyle/>
          <a:p>
            <a:pPr algn="l"/>
            <a:r>
              <a:rPr b="0" sz="1500" i="0" u="none">
                <a:solidFill>
                  <a:srgbClr val="57534E"/>
                </a:solidFill>
                <a:latin typeface="Inter"/>
              </a:rPr>
              <a:t>•</a:t>
            </a:r>
          </a:p>
        </p:txBody>
      </p:sp>
      <p:sp>
        <p:nvSpPr>
          <p:cNvPr id="15" name="TextBox 14"/>
          <p:cNvSpPr txBox="1"/>
          <p:nvPr/>
        </p:nvSpPr>
        <p:spPr>
          <a:xfrm>
            <a:off x="838200" y="2419350"/>
            <a:ext cx="6381750" cy="304800"/>
          </a:xfrm>
          <a:prstGeom prst="rect">
            <a:avLst/>
          </a:prstGeom>
          <a:noFill/>
        </p:spPr>
        <p:txBody>
          <a:bodyPr wrap="none" lIns="104775" rIns="0" tIns="0" bIns="0" anchor="t">
            <a:spAutoFit/>
          </a:bodyPr>
          <a:lstStyle/>
          <a:p>
            <a:pPr algn="l">
              <a:lnSpc>
                <a:spcPts val="2400"/>
              </a:lnSpc>
            </a:pPr>
            <a:r>
              <a:rPr b="0" sz="1500" i="0" u="none">
                <a:solidFill>
                  <a:srgbClr val="57534E"/>
                </a:solidFill>
                <a:latin typeface="Inter"/>
              </a:rPr>
              <a:t>Tác động Cách mạng Tháng Mười.</a:t>
            </a:r>
          </a:p>
        </p:txBody>
      </p:sp>
      <p:sp>
        <p:nvSpPr>
          <p:cNvPr id="16" name="TextBox 15"/>
          <p:cNvSpPr txBox="1"/>
          <p:nvPr/>
        </p:nvSpPr>
        <p:spPr>
          <a:xfrm>
            <a:off x="733425" y="2724150"/>
            <a:ext cx="104775" cy="304800"/>
          </a:xfrm>
          <a:prstGeom prst="rect">
            <a:avLst/>
          </a:prstGeom>
          <a:noFill/>
        </p:spPr>
        <p:txBody>
          <a:bodyPr wrap="none" lIns="0" rIns="0" tIns="0" bIns="0" anchor="t">
            <a:spAutoFit/>
          </a:bodyPr>
          <a:lstStyle/>
          <a:p>
            <a:pPr algn="l"/>
            <a:r>
              <a:rPr b="0" sz="1500" i="0" u="none">
                <a:solidFill>
                  <a:srgbClr val="57534E"/>
                </a:solidFill>
                <a:latin typeface="Inter"/>
              </a:rPr>
              <a:t>•</a:t>
            </a:r>
          </a:p>
        </p:txBody>
      </p:sp>
      <p:sp>
        <p:nvSpPr>
          <p:cNvPr id="17" name="TextBox 16"/>
          <p:cNvSpPr txBox="1"/>
          <p:nvPr/>
        </p:nvSpPr>
        <p:spPr>
          <a:xfrm>
            <a:off x="838200" y="2724150"/>
            <a:ext cx="5200650" cy="609600"/>
          </a:xfrm>
          <a:prstGeom prst="rect">
            <a:avLst/>
          </a:prstGeom>
          <a:noFill/>
        </p:spPr>
        <p:txBody>
          <a:bodyPr wrap="square" lIns="104775" rIns="0" tIns="0" bIns="0" anchor="t">
            <a:spAutoFit/>
          </a:bodyPr>
          <a:lstStyle/>
          <a:p>
            <a:pPr algn="l">
              <a:lnSpc>
                <a:spcPts val="2400"/>
              </a:lnSpc>
            </a:pPr>
            <a:r>
              <a:rPr b="0" sz="1500" i="0" u="none">
                <a:solidFill>
                  <a:srgbClr val="57534E"/>
                </a:solidFill>
                <a:latin typeface="Inter"/>
              </a:rPr>
              <a:t>Sản phẩm của CNXH khoa học + PT Công nhân (Quy luật Lênin).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2728912"/>
            <a:ext cx="10972800" cy="1066800"/>
          </a:xfrm>
          <a:prstGeom prst="rect">
            <a:avLst/>
          </a:prstGeom>
          <a:solidFill>
            <a:srgbClr val="F5F5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2728912"/>
            <a:ext cx="57150" cy="10668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1995487"/>
            <a:ext cx="11582400" cy="428625"/>
          </a:xfrm>
          <a:prstGeom prst="rect">
            <a:avLst/>
          </a:prstGeom>
          <a:noFill/>
        </p:spPr>
        <p:txBody>
          <a:bodyPr wrap="none" lIns="0" rIns="0" tIns="0" bIns="0" anchor="t">
            <a:spAutoFit/>
          </a:bodyPr>
          <a:lstStyle/>
          <a:p>
            <a:pPr algn="l"/>
            <a:r>
              <a:rPr b="1" sz="2700" i="0" u="none">
                <a:solidFill>
                  <a:srgbClr val="1C1917"/>
                </a:solidFill>
                <a:latin typeface="Merriweather"/>
              </a:rPr>
              <a:t>Đặc Thù &amp; Sự Sáng Tạo Của Cách Mạng Việt Nam</a:t>
            </a:r>
          </a:p>
        </p:txBody>
      </p:sp>
      <p:sp>
        <p:nvSpPr>
          <p:cNvPr id="5" name="TextBox 4"/>
          <p:cNvSpPr txBox="1"/>
          <p:nvPr/>
        </p:nvSpPr>
        <p:spPr>
          <a:xfrm>
            <a:off x="895350" y="2957512"/>
            <a:ext cx="10553700" cy="609600"/>
          </a:xfrm>
          <a:prstGeom prst="rect">
            <a:avLst/>
          </a:prstGeom>
          <a:noFill/>
        </p:spPr>
        <p:txBody>
          <a:bodyPr wrap="square" lIns="0" rIns="0" tIns="0" bIns="0" anchor="t">
            <a:spAutoFit/>
          </a:bodyPr>
          <a:lstStyle/>
          <a:p>
            <a:pPr algn="l">
              <a:lnSpc>
                <a:spcPts val="2400"/>
              </a:lnSpc>
            </a:pPr>
            <a:r>
              <a:rPr b="0" sz="1500" i="1" u="none">
                <a:solidFill>
                  <a:srgbClr val="1C1917"/>
                </a:solidFill>
                <a:latin typeface="Merriweather"/>
              </a:rPr>
              <a:t>"Sự kết hợp chủ nghĩa xã hội với phong trào công nhân đem lại cơ sở vững vàng... Nhưng ở mỗi nước, sự kết hợp ấy diễn ra theo con đường riêng biệt, phụ thuộc điều kiện địa phương." (V.I.Lênin)</a:t>
            </a:r>
          </a:p>
        </p:txBody>
      </p:sp>
      <p:sp>
        <p:nvSpPr>
          <p:cNvPr id="6" name="TextBox 5"/>
          <p:cNvSpPr txBox="1"/>
          <p:nvPr/>
        </p:nvSpPr>
        <p:spPr>
          <a:xfrm>
            <a:off x="609600" y="4100512"/>
            <a:ext cx="7000875" cy="247650"/>
          </a:xfrm>
          <a:prstGeom prst="rect">
            <a:avLst/>
          </a:prstGeom>
          <a:noFill/>
        </p:spPr>
        <p:txBody>
          <a:bodyPr wrap="none" lIns="0" rIns="0" tIns="0" bIns="0" anchor="t">
            <a:spAutoFit/>
          </a:bodyPr>
          <a:lstStyle/>
          <a:p>
            <a:pPr algn="l"/>
            <a:r>
              <a:rPr b="1" sz="1650" i="0" u="none">
                <a:solidFill>
                  <a:srgbClr val="B91C1C"/>
                </a:solidFill>
                <a:latin typeface="Inter"/>
              </a:rPr>
              <a:t>Giá trị trường tồn</a:t>
            </a:r>
          </a:p>
        </p:txBody>
      </p:sp>
      <p:sp>
        <p:nvSpPr>
          <p:cNvPr id="7" name="TextBox 6"/>
          <p:cNvSpPr txBox="1"/>
          <p:nvPr/>
        </p:nvSpPr>
        <p:spPr>
          <a:xfrm>
            <a:off x="609600" y="4462462"/>
            <a:ext cx="5429250" cy="400050"/>
          </a:xfrm>
          <a:prstGeom prst="rect">
            <a:avLst/>
          </a:prstGeom>
          <a:noFill/>
        </p:spPr>
        <p:txBody>
          <a:bodyPr wrap="square" lIns="0" rIns="0" tIns="0" bIns="0" anchor="t">
            <a:spAutoFit/>
          </a:bodyPr>
          <a:lstStyle/>
          <a:p>
            <a:pPr algn="l"/>
            <a:r>
              <a:rPr b="0" sz="1350" i="0" u="none">
                <a:solidFill>
                  <a:srgbClr val="57534E"/>
                </a:solidFill>
                <a:latin typeface="Inter"/>
              </a:rPr>
              <a:t>Chủ nghĩa yêu nước là tinh hoa văn hóa, có trước phong trào công nhân hàng nghìn năm.</a:t>
            </a:r>
          </a:p>
        </p:txBody>
      </p:sp>
      <p:sp>
        <p:nvSpPr>
          <p:cNvPr id="8" name="TextBox 7"/>
          <p:cNvSpPr txBox="1"/>
          <p:nvPr/>
        </p:nvSpPr>
        <p:spPr>
          <a:xfrm>
            <a:off x="6248400" y="4100512"/>
            <a:ext cx="5943600" cy="247650"/>
          </a:xfrm>
          <a:prstGeom prst="rect">
            <a:avLst/>
          </a:prstGeom>
          <a:noFill/>
        </p:spPr>
        <p:txBody>
          <a:bodyPr wrap="none" lIns="0" rIns="0" tIns="0" bIns="0" anchor="t">
            <a:spAutoFit/>
          </a:bodyPr>
          <a:lstStyle/>
          <a:p>
            <a:pPr algn="l"/>
            <a:r>
              <a:rPr b="1" sz="1650" i="0" u="none">
                <a:solidFill>
                  <a:srgbClr val="B91C1C"/>
                </a:solidFill>
                <a:latin typeface="Inter"/>
              </a:rPr>
              <a:t>Mẫu số chung</a:t>
            </a:r>
          </a:p>
        </p:txBody>
      </p:sp>
      <p:sp>
        <p:nvSpPr>
          <p:cNvPr id="9" name="TextBox 8"/>
          <p:cNvSpPr txBox="1"/>
          <p:nvPr/>
        </p:nvSpPr>
        <p:spPr>
          <a:xfrm>
            <a:off x="6248400" y="4462462"/>
            <a:ext cx="5429250" cy="400050"/>
          </a:xfrm>
          <a:prstGeom prst="rect">
            <a:avLst/>
          </a:prstGeom>
          <a:noFill/>
        </p:spPr>
        <p:txBody>
          <a:bodyPr wrap="square" lIns="0" rIns="0" tIns="0" bIns="0" anchor="t">
            <a:spAutoFit/>
          </a:bodyPr>
          <a:lstStyle/>
          <a:p>
            <a:pPr algn="l"/>
            <a:r>
              <a:rPr b="0" sz="1350" i="0" u="none">
                <a:solidFill>
                  <a:srgbClr val="57534E"/>
                </a:solidFill>
                <a:latin typeface="Inter"/>
              </a:rPr>
              <a:t>Yêu cầu giải phóng dân tộc kết nối PT Yêu nước với PT Công nhân ngay lập tức, không bài xích.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C1917"/>
        </a:solidFill>
        <a:effectLst/>
      </p:bgPr>
    </p:bg>
    <p:spTree>
      <p:nvGrpSpPr>
        <p:cNvPr id="1" name=""/>
        <p:cNvGrpSpPr/>
        <p:nvPr/>
      </p:nvGrpSpPr>
      <p:grpSpPr/>
      <p:sp>
        <p:nvSpPr>
          <p:cNvPr id="2" name="Rectangle 1"/>
          <p:cNvSpPr/>
          <p:nvPr/>
        </p:nvSpPr>
        <p:spPr>
          <a:xfrm>
            <a:off x="5715000" y="4968180"/>
            <a:ext cx="762000" cy="3810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758332" y="1851719"/>
            <a:ext cx="2675334" cy="571500"/>
          </a:xfrm>
          <a:prstGeom prst="rect">
            <a:avLst/>
          </a:prstGeom>
          <a:noFill/>
        </p:spPr>
        <p:txBody>
          <a:bodyPr wrap="none" lIns="0" rIns="0" tIns="0" bIns="0" anchor="t">
            <a:spAutoFit/>
          </a:bodyPr>
          <a:lstStyle/>
          <a:p>
            <a:pPr algn="ctr"/>
            <a:r>
              <a:rPr b="1" sz="3600" i="0" u="none">
                <a:solidFill>
                  <a:srgbClr val="FBBF24"/>
                </a:solidFill>
                <a:latin typeface="Merriweather"/>
              </a:rPr>
              <a:t>Kết Luận</a:t>
            </a:r>
          </a:p>
        </p:txBody>
      </p:sp>
      <p:sp>
        <p:nvSpPr>
          <p:cNvPr id="4" name="TextBox 3"/>
          <p:cNvSpPr txBox="1"/>
          <p:nvPr/>
        </p:nvSpPr>
        <p:spPr>
          <a:xfrm>
            <a:off x="738187" y="2804219"/>
            <a:ext cx="10715625" cy="1706760"/>
          </a:xfrm>
          <a:prstGeom prst="rect">
            <a:avLst/>
          </a:prstGeom>
          <a:noFill/>
        </p:spPr>
        <p:txBody>
          <a:bodyPr wrap="square" lIns="0" rIns="0" tIns="0" bIns="0" anchor="t">
            <a:spAutoFit/>
          </a:bodyPr>
          <a:lstStyle/>
          <a:p>
            <a:pPr algn="ctr">
              <a:lnSpc>
                <a:spcPts val="3359"/>
              </a:lnSpc>
            </a:pPr>
            <a:r>
              <a:rPr b="0" sz="2100" i="1" u="none">
                <a:solidFill>
                  <a:srgbClr val="FAFAF9"/>
                </a:solidFill>
                <a:latin typeface="Merriweather"/>
              </a:rPr>
              <a:t>"Quy luật hình thành Đảng Cộng sản Việt Nam là sự vận dụng sáng tạo chủ nghĩa Mác - Lênin vào hoàn cảnh Việt Nam, ghi một mốc son phát triển chủ nghĩa Mác - Lênin, một cống hiến xuất sắc vào kho tàng lý luận xây dựng Đảng kiểu mới."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71500" y="847725"/>
            <a:ext cx="11049000" cy="771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71500" y="1619250"/>
            <a:ext cx="11049000" cy="771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71500" y="2390775"/>
            <a:ext cx="11049000" cy="771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1500" y="3162300"/>
            <a:ext cx="11049000" cy="771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71500" y="3933825"/>
            <a:ext cx="11049000" cy="771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71500" y="1609725"/>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1500" y="1609725"/>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1500" y="2381250"/>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71500" y="2381250"/>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71500" y="3152775"/>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71500" y="3152775"/>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71500" y="3924300"/>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71500" y="3924300"/>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71500" y="4695825"/>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71500" y="4695825"/>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mage.png"/>
          <p:cNvPicPr>
            <a:picLocks noChangeAspect="1"/>
          </p:cNvPicPr>
          <p:nvPr/>
        </p:nvPicPr>
        <p:blipFill>
          <a:blip r:embed="rId2"/>
          <a:stretch>
            <a:fillRect/>
          </a:stretch>
        </p:blipFill>
        <p:spPr>
          <a:xfrm>
            <a:off x="571500" y="990600"/>
            <a:ext cx="857250" cy="476250"/>
          </a:xfrm>
          <a:prstGeom prst="rect">
            <a:avLst/>
          </a:prstGeom>
        </p:spPr>
      </p:pic>
      <p:pic>
        <p:nvPicPr>
          <p:cNvPr id="18" name="Picture 17" descr="image.png"/>
          <p:cNvPicPr>
            <a:picLocks noChangeAspect="1"/>
          </p:cNvPicPr>
          <p:nvPr/>
        </p:nvPicPr>
        <p:blipFill>
          <a:blip r:embed="rId3"/>
          <a:stretch>
            <a:fillRect/>
          </a:stretch>
        </p:blipFill>
        <p:spPr>
          <a:xfrm>
            <a:off x="571500" y="1762125"/>
            <a:ext cx="857250" cy="476250"/>
          </a:xfrm>
          <a:prstGeom prst="rect">
            <a:avLst/>
          </a:prstGeom>
        </p:spPr>
      </p:pic>
      <p:pic>
        <p:nvPicPr>
          <p:cNvPr id="19" name="Picture 18" descr="image.png"/>
          <p:cNvPicPr>
            <a:picLocks noChangeAspect="1"/>
          </p:cNvPicPr>
          <p:nvPr/>
        </p:nvPicPr>
        <p:blipFill>
          <a:blip r:embed="rId4"/>
          <a:stretch>
            <a:fillRect/>
          </a:stretch>
        </p:blipFill>
        <p:spPr>
          <a:xfrm>
            <a:off x="571500" y="2533650"/>
            <a:ext cx="857250" cy="476250"/>
          </a:xfrm>
          <a:prstGeom prst="rect">
            <a:avLst/>
          </a:prstGeom>
        </p:spPr>
      </p:pic>
      <p:pic>
        <p:nvPicPr>
          <p:cNvPr id="20" name="Picture 19" descr="image.png"/>
          <p:cNvPicPr>
            <a:picLocks noChangeAspect="1"/>
          </p:cNvPicPr>
          <p:nvPr/>
        </p:nvPicPr>
        <p:blipFill>
          <a:blip r:embed="rId5"/>
          <a:stretch>
            <a:fillRect/>
          </a:stretch>
        </p:blipFill>
        <p:spPr>
          <a:xfrm>
            <a:off x="571500" y="3305175"/>
            <a:ext cx="857250" cy="476250"/>
          </a:xfrm>
          <a:prstGeom prst="rect">
            <a:avLst/>
          </a:prstGeom>
        </p:spPr>
      </p:pic>
      <p:pic>
        <p:nvPicPr>
          <p:cNvPr id="21" name="Picture 20" descr="image.png"/>
          <p:cNvPicPr>
            <a:picLocks noChangeAspect="1"/>
          </p:cNvPicPr>
          <p:nvPr/>
        </p:nvPicPr>
        <p:blipFill>
          <a:blip r:embed="rId6"/>
          <a:stretch>
            <a:fillRect/>
          </a:stretch>
        </p:blipFill>
        <p:spPr>
          <a:xfrm>
            <a:off x="571500" y="4076700"/>
            <a:ext cx="857250" cy="476250"/>
          </a:xfrm>
          <a:prstGeom prst="rect">
            <a:avLst/>
          </a:prstGeom>
        </p:spPr>
      </p:pic>
      <p:pic>
        <p:nvPicPr>
          <p:cNvPr id="22" name="Picture 21" descr="image.png"/>
          <p:cNvPicPr>
            <a:picLocks noChangeAspect="1"/>
          </p:cNvPicPr>
          <p:nvPr/>
        </p:nvPicPr>
        <p:blipFill>
          <a:blip r:embed="rId7"/>
          <a:stretch>
            <a:fillRect/>
          </a:stretch>
        </p:blipFill>
        <p:spPr>
          <a:xfrm>
            <a:off x="571500" y="4848225"/>
            <a:ext cx="857250" cy="476250"/>
          </a:xfrm>
          <a:prstGeom prst="rect">
            <a:avLst/>
          </a:prstGeom>
        </p:spPr>
      </p:pic>
      <p:sp>
        <p:nvSpPr>
          <p:cNvPr id="23" name="TextBox 22"/>
          <p:cNvSpPr txBox="1"/>
          <p:nvPr/>
        </p:nvSpPr>
        <p:spPr>
          <a:xfrm>
            <a:off x="571500" y="571500"/>
            <a:ext cx="2175271" cy="276225"/>
          </a:xfrm>
          <a:prstGeom prst="rect">
            <a:avLst/>
          </a:prstGeom>
          <a:noFill/>
        </p:spPr>
        <p:txBody>
          <a:bodyPr wrap="none" lIns="0" rIns="0" tIns="0" bIns="0" anchor="t">
            <a:spAutoFit/>
          </a:bodyPr>
          <a:lstStyle/>
          <a:p>
            <a:pPr algn="l"/>
            <a:r>
              <a:rPr b="1" sz="1800" i="0" u="none">
                <a:solidFill>
                  <a:srgbClr val="000000"/>
                </a:solidFill>
                <a:latin typeface="Inter"/>
              </a:rPr>
              <a:t>Image Sources</a:t>
            </a:r>
          </a:p>
        </p:txBody>
      </p:sp>
      <p:sp>
        <p:nvSpPr>
          <p:cNvPr id="24" name="TextBox 23"/>
          <p:cNvSpPr txBox="1"/>
          <p:nvPr/>
        </p:nvSpPr>
        <p:spPr>
          <a:xfrm>
            <a:off x="1666875" y="1033462"/>
            <a:ext cx="6560343" cy="152400"/>
          </a:xfrm>
          <a:prstGeom prst="rect">
            <a:avLst/>
          </a:prstGeom>
          <a:noFill/>
        </p:spPr>
        <p:txBody>
          <a:bodyPr wrap="none" lIns="0" rIns="0" tIns="0" bIns="0" anchor="t">
            <a:spAutoFit/>
          </a:bodyPr>
          <a:lstStyle/>
          <a:p>
            <a:pPr algn="l"/>
            <a:r>
              <a:rPr b="0" sz="975" i="0" u="none">
                <a:solidFill>
                  <a:srgbClr val="000000"/>
                </a:solidFill>
                <a:latin typeface="Inter"/>
              </a:rPr>
              <a:t>https://media.baovanhoa.vn/zoom/1000/uploaded/dovandong/2025_12_25/naq_ZIWB.jpg</a:t>
            </a:r>
          </a:p>
        </p:txBody>
      </p:sp>
      <p:sp>
        <p:nvSpPr>
          <p:cNvPr id="25" name="TextBox 24"/>
          <p:cNvSpPr txBox="1"/>
          <p:nvPr/>
        </p:nvSpPr>
        <p:spPr>
          <a:xfrm>
            <a:off x="1666875" y="1233487"/>
            <a:ext cx="2024062" cy="190500"/>
          </a:xfrm>
          <a:prstGeom prst="rect">
            <a:avLst/>
          </a:prstGeom>
          <a:noFill/>
        </p:spPr>
        <p:txBody>
          <a:bodyPr wrap="none" lIns="0" rIns="0" tIns="0" bIns="0" anchor="t">
            <a:spAutoFit/>
          </a:bodyPr>
          <a:lstStyle/>
          <a:p>
            <a:pPr algn="l"/>
            <a:r>
              <a:rPr b="0" sz="1200" i="0" u="none">
                <a:solidFill>
                  <a:srgbClr val="000000"/>
                </a:solidFill>
                <a:latin typeface="Inter"/>
              </a:rPr>
              <a:t>Source: </a:t>
            </a:r>
            <a:r>
              <a:rPr b="0" sz="1200" i="0" u="none">
                <a:solidFill>
                  <a:srgbClr val="4F46E5"/>
                </a:solidFill>
                <a:latin typeface="Inter"/>
              </a:rPr>
              <a:t>baovanhoa.vn</a:t>
            </a:r>
          </a:p>
        </p:txBody>
      </p:sp>
      <p:sp>
        <p:nvSpPr>
          <p:cNvPr id="26" name="TextBox 25"/>
          <p:cNvSpPr txBox="1"/>
          <p:nvPr/>
        </p:nvSpPr>
        <p:spPr>
          <a:xfrm>
            <a:off x="1666875" y="1804987"/>
            <a:ext cx="5464968" cy="152400"/>
          </a:xfrm>
          <a:prstGeom prst="rect">
            <a:avLst/>
          </a:prstGeom>
          <a:noFill/>
        </p:spPr>
        <p:txBody>
          <a:bodyPr wrap="none" lIns="0" rIns="0" tIns="0" bIns="0" anchor="t">
            <a:spAutoFit/>
          </a:bodyPr>
          <a:lstStyle/>
          <a:p>
            <a:pPr algn="l"/>
            <a:r>
              <a:rPr b="0" sz="975" i="0" u="none">
                <a:solidFill>
                  <a:srgbClr val="000000"/>
                </a:solidFill>
                <a:latin typeface="Inter"/>
              </a:rPr>
              <a:t>https://cdcsnd1.bocongan.gov.vn/Uploads/2022/11/13/7.11NewFolder/2.jpg</a:t>
            </a:r>
          </a:p>
        </p:txBody>
      </p:sp>
      <p:sp>
        <p:nvSpPr>
          <p:cNvPr id="27" name="TextBox 26"/>
          <p:cNvSpPr txBox="1"/>
          <p:nvPr/>
        </p:nvSpPr>
        <p:spPr>
          <a:xfrm>
            <a:off x="1666875" y="2005012"/>
            <a:ext cx="3119437" cy="190500"/>
          </a:xfrm>
          <a:prstGeom prst="rect">
            <a:avLst/>
          </a:prstGeom>
          <a:noFill/>
        </p:spPr>
        <p:txBody>
          <a:bodyPr wrap="none" lIns="0" rIns="0" tIns="0" bIns="0" anchor="t">
            <a:spAutoFit/>
          </a:bodyPr>
          <a:lstStyle/>
          <a:p>
            <a:pPr algn="l"/>
            <a:r>
              <a:rPr b="0" sz="1200" i="0" u="none">
                <a:solidFill>
                  <a:srgbClr val="000000"/>
                </a:solidFill>
                <a:latin typeface="Inter"/>
              </a:rPr>
              <a:t>Source: </a:t>
            </a:r>
            <a:r>
              <a:rPr b="0" sz="1200" i="0" u="none">
                <a:solidFill>
                  <a:srgbClr val="4F46E5"/>
                </a:solidFill>
                <a:latin typeface="Inter"/>
              </a:rPr>
              <a:t>cdcsnd1.bocongan.gov.vn</a:t>
            </a:r>
          </a:p>
        </p:txBody>
      </p:sp>
      <p:sp>
        <p:nvSpPr>
          <p:cNvPr id="28" name="TextBox 27"/>
          <p:cNvSpPr txBox="1"/>
          <p:nvPr/>
        </p:nvSpPr>
        <p:spPr>
          <a:xfrm>
            <a:off x="1666875" y="2576512"/>
            <a:ext cx="6774656" cy="152400"/>
          </a:xfrm>
          <a:prstGeom prst="rect">
            <a:avLst/>
          </a:prstGeom>
          <a:noFill/>
        </p:spPr>
        <p:txBody>
          <a:bodyPr wrap="none" lIns="0" rIns="0" tIns="0" bIns="0" anchor="t">
            <a:spAutoFit/>
          </a:bodyPr>
          <a:lstStyle/>
          <a:p>
            <a:pPr algn="l"/>
            <a:r>
              <a:rPr b="0" sz="975" i="0" u="none">
                <a:solidFill>
                  <a:srgbClr val="000000"/>
                </a:solidFill>
                <a:latin typeface="Inter"/>
              </a:rPr>
              <a:t>https://cdn3.olm.vn/upload/img_teacher/0813/img_teacher_2023-08-13_64d8533bd74ac.jpg</a:t>
            </a:r>
          </a:p>
        </p:txBody>
      </p:sp>
      <p:sp>
        <p:nvSpPr>
          <p:cNvPr id="29" name="TextBox 28"/>
          <p:cNvSpPr txBox="1"/>
          <p:nvPr/>
        </p:nvSpPr>
        <p:spPr>
          <a:xfrm>
            <a:off x="1666875" y="2776537"/>
            <a:ext cx="1371600" cy="190500"/>
          </a:xfrm>
          <a:prstGeom prst="rect">
            <a:avLst/>
          </a:prstGeom>
          <a:noFill/>
        </p:spPr>
        <p:txBody>
          <a:bodyPr wrap="none" lIns="0" rIns="0" tIns="0" bIns="0" anchor="t">
            <a:spAutoFit/>
          </a:bodyPr>
          <a:lstStyle/>
          <a:p>
            <a:pPr algn="l"/>
            <a:r>
              <a:rPr b="0" sz="1200" i="0" u="none">
                <a:solidFill>
                  <a:srgbClr val="000000"/>
                </a:solidFill>
                <a:latin typeface="Inter"/>
              </a:rPr>
              <a:t>Source: </a:t>
            </a:r>
            <a:r>
              <a:rPr b="0" sz="1200" i="0" u="none">
                <a:solidFill>
                  <a:srgbClr val="4F46E5"/>
                </a:solidFill>
                <a:latin typeface="Inter"/>
              </a:rPr>
              <a:t>olm.vn</a:t>
            </a:r>
          </a:p>
        </p:txBody>
      </p:sp>
      <p:sp>
        <p:nvSpPr>
          <p:cNvPr id="30" name="TextBox 29"/>
          <p:cNvSpPr txBox="1"/>
          <p:nvPr/>
        </p:nvSpPr>
        <p:spPr>
          <a:xfrm>
            <a:off x="1666875" y="3348037"/>
            <a:ext cx="10525125" cy="152400"/>
          </a:xfrm>
          <a:prstGeom prst="rect">
            <a:avLst/>
          </a:prstGeom>
          <a:noFill/>
        </p:spPr>
        <p:txBody>
          <a:bodyPr wrap="none" lIns="0" rIns="0" tIns="0" bIns="0" anchor="t">
            <a:spAutoFit/>
          </a:bodyPr>
          <a:lstStyle/>
          <a:p>
            <a:pPr algn="l"/>
            <a:r>
              <a:rPr b="0" sz="975" i="0" u="none">
                <a:solidFill>
                  <a:srgbClr val="000000"/>
                </a:solidFill>
                <a:latin typeface="Inter"/>
              </a:rPr>
              <a:t>https://dsvh.gov.vn/ckfinder/userfiles/images/Thong%20tin%20ds/B%E1%BA%A3o%20v%E1%BA%ADt%20QG/Cuon%20Duong%20Kach%20Menh.jpg</a:t>
            </a:r>
          </a:p>
        </p:txBody>
      </p:sp>
      <p:sp>
        <p:nvSpPr>
          <p:cNvPr id="31" name="TextBox 30"/>
          <p:cNvSpPr txBox="1"/>
          <p:nvPr/>
        </p:nvSpPr>
        <p:spPr>
          <a:xfrm>
            <a:off x="1666875" y="3548062"/>
            <a:ext cx="1845468" cy="190500"/>
          </a:xfrm>
          <a:prstGeom prst="rect">
            <a:avLst/>
          </a:prstGeom>
          <a:noFill/>
        </p:spPr>
        <p:txBody>
          <a:bodyPr wrap="none" lIns="0" rIns="0" tIns="0" bIns="0" anchor="t">
            <a:spAutoFit/>
          </a:bodyPr>
          <a:lstStyle/>
          <a:p>
            <a:pPr algn="l"/>
            <a:r>
              <a:rPr b="0" sz="1200" i="0" u="none">
                <a:solidFill>
                  <a:srgbClr val="000000"/>
                </a:solidFill>
                <a:latin typeface="Inter"/>
              </a:rPr>
              <a:t>Source: </a:t>
            </a:r>
            <a:r>
              <a:rPr b="0" sz="1200" i="0" u="none">
                <a:solidFill>
                  <a:srgbClr val="4F46E5"/>
                </a:solidFill>
                <a:latin typeface="Inter"/>
              </a:rPr>
              <a:t>dsvh.gov.vn</a:t>
            </a:r>
          </a:p>
        </p:txBody>
      </p:sp>
      <p:sp>
        <p:nvSpPr>
          <p:cNvPr id="32" name="TextBox 31"/>
          <p:cNvSpPr txBox="1"/>
          <p:nvPr/>
        </p:nvSpPr>
        <p:spPr>
          <a:xfrm>
            <a:off x="1666875" y="4119562"/>
            <a:ext cx="7262812" cy="152400"/>
          </a:xfrm>
          <a:prstGeom prst="rect">
            <a:avLst/>
          </a:prstGeom>
          <a:noFill/>
        </p:spPr>
        <p:txBody>
          <a:bodyPr wrap="none" lIns="0" rIns="0" tIns="0" bIns="0" anchor="t">
            <a:spAutoFit/>
          </a:bodyPr>
          <a:lstStyle/>
          <a:p>
            <a:pPr algn="l"/>
            <a:r>
              <a:rPr b="0" sz="975" i="0" u="none">
                <a:solidFill>
                  <a:srgbClr val="000000"/>
                </a:solidFill>
                <a:latin typeface="Inter"/>
              </a:rPr>
              <a:t>https://tttctt.1cdn.vn/thumbs/720x480/2020/06/22/bac_ho_va_to_bao_le_paria1200580_1862019.jpg</a:t>
            </a:r>
          </a:p>
        </p:txBody>
      </p:sp>
      <p:sp>
        <p:nvSpPr>
          <p:cNvPr id="33" name="TextBox 32"/>
          <p:cNvSpPr txBox="1"/>
          <p:nvPr/>
        </p:nvSpPr>
        <p:spPr>
          <a:xfrm>
            <a:off x="1666875" y="4319587"/>
            <a:ext cx="3000375" cy="190500"/>
          </a:xfrm>
          <a:prstGeom prst="rect">
            <a:avLst/>
          </a:prstGeom>
          <a:noFill/>
        </p:spPr>
        <p:txBody>
          <a:bodyPr wrap="none" lIns="0" rIns="0" tIns="0" bIns="0" anchor="t">
            <a:spAutoFit/>
          </a:bodyPr>
          <a:lstStyle/>
          <a:p>
            <a:pPr algn="l"/>
            <a:r>
              <a:rPr b="0" sz="1200" i="0" u="none">
                <a:solidFill>
                  <a:srgbClr val="000000"/>
                </a:solidFill>
                <a:latin typeface="Inter"/>
              </a:rPr>
              <a:t>Source: </a:t>
            </a:r>
            <a:r>
              <a:rPr b="0" sz="1200" i="0" u="none">
                <a:solidFill>
                  <a:srgbClr val="4F46E5"/>
                </a:solidFill>
                <a:latin typeface="Inter"/>
              </a:rPr>
              <a:t>thitruongtaichinhtiente.vn</a:t>
            </a:r>
          </a:p>
        </p:txBody>
      </p:sp>
      <p:sp>
        <p:nvSpPr>
          <p:cNvPr id="34" name="TextBox 33"/>
          <p:cNvSpPr txBox="1"/>
          <p:nvPr/>
        </p:nvSpPr>
        <p:spPr>
          <a:xfrm>
            <a:off x="1666875" y="4891087"/>
            <a:ext cx="8715375" cy="152400"/>
          </a:xfrm>
          <a:prstGeom prst="rect">
            <a:avLst/>
          </a:prstGeom>
          <a:noFill/>
        </p:spPr>
        <p:txBody>
          <a:bodyPr wrap="none" lIns="0" rIns="0" tIns="0" bIns="0" anchor="t">
            <a:spAutoFit/>
          </a:bodyPr>
          <a:lstStyle/>
          <a:p>
            <a:pPr algn="l"/>
            <a:r>
              <a:rPr b="0" sz="975" i="0" u="none">
                <a:solidFill>
                  <a:srgbClr val="000000"/>
                </a:solidFill>
                <a:latin typeface="Inter"/>
              </a:rPr>
              <a:t>https://imgnvsk.vnanet.vn/MediaUpload/Org/2023/07/10/cau-3-hoi-nghi-thanh-lap-dang-10-16-20-13510-8-54-22.jpg</a:t>
            </a:r>
          </a:p>
        </p:txBody>
      </p:sp>
      <p:sp>
        <p:nvSpPr>
          <p:cNvPr id="35" name="TextBox 34"/>
          <p:cNvSpPr txBox="1"/>
          <p:nvPr/>
        </p:nvSpPr>
        <p:spPr>
          <a:xfrm>
            <a:off x="1666875" y="5091112"/>
            <a:ext cx="2095500" cy="190500"/>
          </a:xfrm>
          <a:prstGeom prst="rect">
            <a:avLst/>
          </a:prstGeom>
          <a:noFill/>
        </p:spPr>
        <p:txBody>
          <a:bodyPr wrap="none" lIns="0" rIns="0" tIns="0" bIns="0" anchor="t">
            <a:spAutoFit/>
          </a:bodyPr>
          <a:lstStyle/>
          <a:p>
            <a:pPr algn="l"/>
            <a:r>
              <a:rPr b="0" sz="1200" i="0" u="none">
                <a:solidFill>
                  <a:srgbClr val="000000"/>
                </a:solidFill>
                <a:latin typeface="Inter"/>
              </a:rPr>
              <a:t>Source: </a:t>
            </a:r>
            <a:r>
              <a:rPr b="0" sz="1200" i="0" u="none">
                <a:solidFill>
                  <a:srgbClr val="4F46E5"/>
                </a:solidFill>
                <a:latin typeface="Inter"/>
              </a:rPr>
              <a:t>nvsk.vnanet.vn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571500" y="990600"/>
            <a:ext cx="857250" cy="476250"/>
          </a:xfrm>
          <a:prstGeom prst="rect">
            <a:avLst/>
          </a:prstGeom>
        </p:spPr>
      </p:pic>
      <p:sp>
        <p:nvSpPr>
          <p:cNvPr id="3" name="TextBox 2"/>
          <p:cNvSpPr txBox="1"/>
          <p:nvPr/>
        </p:nvSpPr>
        <p:spPr>
          <a:xfrm>
            <a:off x="571500" y="571500"/>
            <a:ext cx="2175271" cy="276225"/>
          </a:xfrm>
          <a:prstGeom prst="rect">
            <a:avLst/>
          </a:prstGeom>
          <a:noFill/>
        </p:spPr>
        <p:txBody>
          <a:bodyPr wrap="none" lIns="0" rIns="0" tIns="0" bIns="0" anchor="t">
            <a:spAutoFit/>
          </a:bodyPr>
          <a:lstStyle/>
          <a:p>
            <a:pPr algn="l"/>
            <a:r>
              <a:rPr b="1" sz="1800" i="0" u="none">
                <a:solidFill>
                  <a:srgbClr val="000000"/>
                </a:solidFill>
                <a:latin typeface="Inter"/>
              </a:rPr>
              <a:t>Image Sources</a:t>
            </a:r>
          </a:p>
        </p:txBody>
      </p:sp>
      <p:sp>
        <p:nvSpPr>
          <p:cNvPr id="4" name="TextBox 3"/>
          <p:cNvSpPr txBox="1"/>
          <p:nvPr/>
        </p:nvSpPr>
        <p:spPr>
          <a:xfrm>
            <a:off x="1666875" y="1033462"/>
            <a:ext cx="7881937" cy="152400"/>
          </a:xfrm>
          <a:prstGeom prst="rect">
            <a:avLst/>
          </a:prstGeom>
          <a:noFill/>
        </p:spPr>
        <p:txBody>
          <a:bodyPr wrap="none" lIns="0" rIns="0" tIns="0" bIns="0" anchor="t">
            <a:spAutoFit/>
          </a:bodyPr>
          <a:lstStyle/>
          <a:p>
            <a:pPr algn="l"/>
            <a:r>
              <a:rPr b="0" sz="975" i="0" u="none">
                <a:solidFill>
                  <a:srgbClr val="000000"/>
                </a:solidFill>
                <a:latin typeface="Inter"/>
              </a:rPr>
              <a:t>http://khoahocchinhtri.hcma.vn/Content/UploadFiles/EditorFiles/images/2024/Quy3/426092024043157.jpg</a:t>
            </a:r>
          </a:p>
        </p:txBody>
      </p:sp>
      <p:sp>
        <p:nvSpPr>
          <p:cNvPr id="5" name="TextBox 4"/>
          <p:cNvSpPr txBox="1"/>
          <p:nvPr/>
        </p:nvSpPr>
        <p:spPr>
          <a:xfrm>
            <a:off x="1666875" y="1233487"/>
            <a:ext cx="3000375" cy="190500"/>
          </a:xfrm>
          <a:prstGeom prst="rect">
            <a:avLst/>
          </a:prstGeom>
          <a:noFill/>
        </p:spPr>
        <p:txBody>
          <a:bodyPr wrap="none" lIns="0" rIns="0" tIns="0" bIns="0" anchor="t">
            <a:spAutoFit/>
          </a:bodyPr>
          <a:lstStyle/>
          <a:p>
            <a:pPr algn="l"/>
            <a:r>
              <a:rPr b="0" sz="1200" i="0" u="none">
                <a:solidFill>
                  <a:srgbClr val="000000"/>
                </a:solidFill>
                <a:latin typeface="Inter"/>
              </a:rPr>
              <a:t>Source: </a:t>
            </a:r>
            <a:r>
              <a:rPr b="0" sz="1200" i="0" u="none">
                <a:solidFill>
                  <a:srgbClr val="4F46E5"/>
                </a:solidFill>
                <a:latin typeface="Inter"/>
              </a:rPr>
              <a:t>khoahocchinhtri.hcma.vn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